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3327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Zasady planowania i programowania fizjoterapii pacjentów z chorobami układu oddechowego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4AAAB9"/>
                </a:solidFill>
              </a:rPr>
              <a:t>Jednostka chorobowa: mukowiscydoza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Przedmiot: kliniczne podstawy fizjoterapii w pulmonologii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Autor: Ernest Kurdziel  |  Numer albumu: 72714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1/30  |  Ernest Kurdziel, nr albumu 72714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wprowadzenie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Cel i zakres prezentacji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przedstawienie mukowiscydozy jako choroby układu oddechowego wymagającej stałej fizjoterapii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omówienie badania fizjoterapeutycznego pacjenta: od wywiadu po testy funkcjonalne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dobór technik oczyszczania dróg oddechowych, treningu i edukacji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zaproponowanie planu terapii oraz kryteriów monitorowania efektów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oparcie zaleceń na literaturze z PubMed / Google Scholar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2/30  |  Ernest Kurdziel, nr albumu 72714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choroba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Mukowiscydoza: definicja i istota problemu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502920"/>
          </a:xfrm>
          <a:prstGeom prst="round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Czym jest CF?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75688"/>
            <a:ext cx="5257800" cy="4343400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choroba genetyczna związana z mutacjami genu CFTR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zaburzenie transportu jonów chlorkowych i wody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gęsta, lepka wydzielina w drogach oddechowych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przewlekłe zakażenia, stan zapalny i postępujące uszkodzenie płuc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502920"/>
          </a:xfrm>
          <a:prstGeom prst="roundRect">
            <a:avLst/>
          </a:prstGeom>
          <a:solidFill>
            <a:srgbClr val="E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Znaczenie dla fizjoterapii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75688"/>
            <a:ext cx="5257800" cy="4343400"/>
          </a:xfrm>
          <a:prstGeom prst="roundRect">
            <a:avLst/>
          </a:prstGeom>
          <a:solidFill>
            <a:srgbClr val="FFF4EB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utrudniony transport śluzowo-rzęskowy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nawracające zaostrzenia oskrzelowo-płucne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spadek tolerancji wysiłku i duszność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codzienna terapia jest częścią leczenia podtrzymującego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3/30  |  Ernest Kurdziel, nr albumu 72714  |  Flume et al., 2009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choroba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Patofizjologia zmian w układzie oddechowym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828800" cy="640080"/>
          </a:xfrm>
          <a:prstGeom prst="roundRect">
            <a:avLst/>
          </a:prstGeom>
          <a:solidFill>
            <a:srgbClr val="E1EFF2"/>
          </a:solidFill>
          <a:ln>
            <a:solidFill>
              <a:srgbClr val="007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500" b="1">
                <a:solidFill>
                  <a:srgbClr val="163153"/>
                </a:solidFill>
              </a:rPr>
              <a:t>mutacja CFTR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554480"/>
            <a:ext cx="2194560" cy="731520"/>
          </a:xfrm>
          <a:prstGeom prst="roundRect">
            <a:avLst/>
          </a:prstGeom>
          <a:solidFill>
            <a:srgbClr val="EEF7F9"/>
          </a:solidFill>
          <a:ln>
            <a:solidFill>
              <a:srgbClr val="4A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300" b="1">
                <a:solidFill>
                  <a:srgbClr val="163153"/>
                </a:solidFill>
              </a:rPr>
              <a:t>odwodnienie
powierzchni dróg oddechowych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554480"/>
            <a:ext cx="1828800" cy="640080"/>
          </a:xfrm>
          <a:prstGeom prst="roundRect">
            <a:avLst/>
          </a:prstGeom>
          <a:solidFill>
            <a:srgbClr val="E1EFF2"/>
          </a:solidFill>
          <a:ln>
            <a:solidFill>
              <a:srgbClr val="007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500" b="1">
                <a:solidFill>
                  <a:srgbClr val="163153"/>
                </a:solidFill>
              </a:rPr>
              <a:t>zaleganie
wydzieliny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554480"/>
            <a:ext cx="1828800" cy="640080"/>
          </a:xfrm>
          <a:prstGeom prst="roundRect">
            <a:avLst/>
          </a:prstGeom>
          <a:solidFill>
            <a:srgbClr val="FFF4EB"/>
          </a:solidFill>
          <a:ln>
            <a:solidFill>
              <a:srgbClr val="E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500" b="1">
                <a:solidFill>
                  <a:srgbClr val="163153"/>
                </a:solidFill>
              </a:rPr>
              <a:t>infekcja +
stan zapalny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1508760"/>
            <a:ext cx="1600200" cy="822960"/>
          </a:xfrm>
          <a:prstGeom prst="roundRect">
            <a:avLst/>
          </a:prstGeom>
          <a:solidFill>
            <a:srgbClr val="FFF4EB"/>
          </a:solidFill>
          <a:ln>
            <a:solidFill>
              <a:srgbClr val="E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200" b="1">
                <a:solidFill>
                  <a:srgbClr val="163153"/>
                </a:solidFill>
              </a:rPr>
              <a:t>obturacja,
rozstrzenie, spadek FEV1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wydzielina tworzy środowisko sprzyjające kolonizacji bakteryjnej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obturacja nasila nierównomierną wentylację i pracę oddychania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przewlekły stan zapalny prowadzi do przebudowy oskrzeli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fizjoterapia celuje w transport wydzieliny, wentylację, tolerancję wysiłku i samodzielność pacjenta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4/30  |  Ernest Kurdziel, nr albumu 72714  |  Flume et al., 2009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choroba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Obraz kliniczny istotny dla fizjoterapeuty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502920"/>
          </a:xfrm>
          <a:prstGeom prst="round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Objawy oddechowe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75688"/>
            <a:ext cx="5257800" cy="4343400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przewlekły kaszel, często produktywny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nawracające infekcje i zaostrzenia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świsty, duszność, pogorszenie tolerancji wysiłku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krwioplucie lub ból w klatce piersiowej jako sygnały alarmowe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502920"/>
          </a:xfrm>
          <a:prstGeom prst="roundRect">
            <a:avLst/>
          </a:prstGeom>
          <a:solidFill>
            <a:srgbClr val="E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Objawy ogólnoustrojowe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75688"/>
            <a:ext cx="5257800" cy="4343400"/>
          </a:xfrm>
          <a:prstGeom prst="roundRect">
            <a:avLst/>
          </a:prstGeom>
          <a:solidFill>
            <a:srgbClr val="FFF4EB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niedożywienie lub trudności w utrzymaniu masy ciała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niewydolność zewnątrzwydzielnicza trzustki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cukrzyca związana z CF, osteopenia, zmęczenie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obciążenie psychiczne i wysoki ciężar codziennego leczenia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5/30  |  Ernest Kurdziel, nr albumu 72714  |  Castellani et al., 2018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cele terapii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Nadrzędne cele fizjoterapii w mukowiscydozie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2971800" cy="960120"/>
          </a:xfrm>
          <a:prstGeom prst="roundRect">
            <a:avLst/>
          </a:prstGeom>
          <a:solidFill>
            <a:srgbClr val="F5FAFB"/>
          </a:solidFill>
          <a:ln>
            <a:solidFill>
              <a:srgbClr val="007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500" b="1">
                <a:solidFill>
                  <a:srgbClr val="163153"/>
                </a:solidFill>
              </a:rPr>
              <a:t>utrzymanie drożności dróg oddechowych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17320"/>
            <a:ext cx="2971800" cy="960120"/>
          </a:xfrm>
          <a:prstGeom prst="roundRect">
            <a:avLst/>
          </a:prstGeom>
          <a:solidFill>
            <a:srgbClr val="F5FAFB"/>
          </a:solidFill>
          <a:ln>
            <a:solidFill>
              <a:srgbClr val="4A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500" b="1">
                <a:solidFill>
                  <a:srgbClr val="163153"/>
                </a:solidFill>
              </a:rPr>
              <a:t>zmniejszenie zalegania wydzieliny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417320"/>
            <a:ext cx="2971800" cy="960120"/>
          </a:xfrm>
          <a:prstGeom prst="roundRect">
            <a:avLst/>
          </a:prstGeom>
          <a:solidFill>
            <a:srgbClr val="F5FAFB"/>
          </a:solidFill>
          <a:ln>
            <a:solidFill>
              <a:srgbClr val="529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500" b="1">
                <a:solidFill>
                  <a:srgbClr val="163153"/>
                </a:solidFill>
              </a:rPr>
              <a:t>profilaktyka zaostrzeń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2971800" cy="960120"/>
          </a:xfrm>
          <a:prstGeom prst="roundRect">
            <a:avLst/>
          </a:prstGeom>
          <a:solidFill>
            <a:srgbClr val="F5FAFB"/>
          </a:solidFill>
          <a:ln>
            <a:solidFill>
              <a:srgbClr val="E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500" b="1">
                <a:solidFill>
                  <a:srgbClr val="163153"/>
                </a:solidFill>
              </a:rPr>
              <a:t>poprawa wydolności i siły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880360"/>
            <a:ext cx="2971800" cy="960120"/>
          </a:xfrm>
          <a:prstGeom prst="roundRect">
            <a:avLst/>
          </a:prstGeom>
          <a:solidFill>
            <a:srgbClr val="F5FAFB"/>
          </a:solidFill>
          <a:ln>
            <a:solidFill>
              <a:srgbClr val="75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500" b="1">
                <a:solidFill>
                  <a:srgbClr val="163153"/>
                </a:solidFill>
              </a:rPr>
              <a:t>utrzymanie ruchomości klatki piersiowej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880360"/>
            <a:ext cx="2971800" cy="960120"/>
          </a:xfrm>
          <a:prstGeom prst="roundRect">
            <a:avLst/>
          </a:prstGeom>
          <a:solidFill>
            <a:srgbClr val="F5FAFB"/>
          </a:solidFill>
          <a:ln>
            <a:solidFill>
              <a:srgbClr val="2F7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500" b="1">
                <a:solidFill>
                  <a:srgbClr val="163153"/>
                </a:solidFill>
              </a:rPr>
              <a:t>samodzielność i adherencja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6634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62D34"/>
                </a:solidFill>
              </a:defRPr>
            </a:pPr>
            <a:r>
              <a:t>Cele powinny być mierzalne, uzgodnione z pacjentem i modyfikowane przy zmianie stanu klinicznego.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6/30  |  Ernest Kurdziel, nr albumu 72714  |  McIlwaine et al., 2019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planowanie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Zasady planowania programu terapii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078992"/>
            <a:ext cx="1920240" cy="585216"/>
          </a:xfrm>
          <a:prstGeom prst="roundRect">
            <a:avLst/>
          </a:prstGeom>
          <a:solidFill>
            <a:srgbClr val="F5FAFB"/>
          </a:solidFill>
          <a:ln>
            <a:solidFill>
              <a:srgbClr val="007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200" b="1">
                <a:solidFill>
                  <a:srgbClr val="163153"/>
                </a:solidFill>
              </a:rPr>
              <a:t>badanie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72300" y="2416302"/>
            <a:ext cx="1920240" cy="585216"/>
          </a:xfrm>
          <a:prstGeom prst="roundRect">
            <a:avLst/>
          </a:prstGeom>
          <a:solidFill>
            <a:srgbClr val="F5FAFB"/>
          </a:solidFill>
          <a:ln>
            <a:solidFill>
              <a:srgbClr val="4A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200" b="1">
                <a:solidFill>
                  <a:srgbClr val="163153"/>
                </a:solidFill>
              </a:rPr>
              <a:t>cele SMART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4679442"/>
            <a:ext cx="1920240" cy="585216"/>
          </a:xfrm>
          <a:prstGeom prst="roundRect">
            <a:avLst/>
          </a:prstGeom>
          <a:solidFill>
            <a:srgbClr val="F5FAFB"/>
          </a:solidFill>
          <a:ln>
            <a:solidFill>
              <a:srgbClr val="529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200" b="1">
                <a:solidFill>
                  <a:srgbClr val="163153"/>
                </a:solidFill>
              </a:rPr>
              <a:t>dobór technik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68496" y="4679442"/>
            <a:ext cx="1920240" cy="585216"/>
          </a:xfrm>
          <a:prstGeom prst="roundRect">
            <a:avLst/>
          </a:prstGeom>
          <a:solidFill>
            <a:srgbClr val="F5FAFB"/>
          </a:solidFill>
          <a:ln>
            <a:solidFill>
              <a:srgbClr val="E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200" b="1">
                <a:solidFill>
                  <a:srgbClr val="163153"/>
                </a:solidFill>
              </a:rPr>
              <a:t>edukacja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8980" y="2416302"/>
            <a:ext cx="1920240" cy="585216"/>
          </a:xfrm>
          <a:prstGeom prst="roundRect">
            <a:avLst/>
          </a:prstGeom>
          <a:solidFill>
            <a:srgbClr val="F5FAFB"/>
          </a:solidFill>
          <a:ln>
            <a:solidFill>
              <a:srgbClr val="75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200" b="1">
                <a:solidFill>
                  <a:srgbClr val="163153"/>
                </a:solidFill>
              </a:rPr>
              <a:t>kontrola efektów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999232"/>
            <a:ext cx="1920240" cy="859536"/>
          </a:xfrm>
          <a:prstGeom prst="roundRect">
            <a:avLst/>
          </a:prstGeom>
          <a:solidFill>
            <a:srgbClr val="E1EFF2"/>
          </a:solidFill>
          <a:ln>
            <a:solidFill>
              <a:srgbClr val="007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200" b="1">
                <a:solidFill>
                  <a:srgbClr val="163153"/>
                </a:solidFill>
              </a:rPr>
              <a:t>indywidualizacja
+ monitorowanie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0876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program nie jest stały: zmienia się z wiekiem, zaostrzeniami, preferencjami i wynikami badań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dobór ACT uwzględnia skuteczność, bezpieczeństwo, czas, sprzęt i akceptację pacjenta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ćwiczenia są uzupełnieniem fizjoterapii oddechowej, a nie jedynym substytutem oczyszczania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najważniejszy wynik praktyczny: regularność możliwa do utrzymania w codziennym życiu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7/30  |  Ernest Kurdziel, nr albumu 72714  |  Flume et al., 2009; Williams et al., 2022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badanie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Badanie pacjenta: schemat całościowy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1. wywiad: objawy, zaostrzenia, leczenie, dotychczasowe ACT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2. badanie przedmiotowe: oddech, kaszel, wydzielina, postawa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3. ocena funkcji płuc: spirometria, saturacja, ewentualnie obrazowanie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4. ocena wydolności: CPET lub testy terenowe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5. ocena jakości życia, adherencji i barier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6. synteza ryzyka i priorytetów terapii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8/30  |  Ernest Kurdziel, nr albumu 72714  |  Hebestreit et al., 2015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badanie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Wywiad fizjoterapeutyczny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502920"/>
          </a:xfrm>
          <a:prstGeom prst="round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Pytania kluczowe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75688"/>
            <a:ext cx="5257800" cy="4343400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kaszel: częstość, produktywność, pora dnia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ilość, barwa i lepkość wydzieliny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duszność, tolerancja schodów, szkoły/pracy/sportu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zaostrzenia: liczba, hospitalizacje, antybiotyki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aktualne leki wziewne i kolejność terapii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502920"/>
          </a:xfrm>
          <a:prstGeom prst="roundRect">
            <a:avLst/>
          </a:prstGeom>
          <a:solidFill>
            <a:srgbClr val="E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Sygnały alarmowe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75688"/>
            <a:ext cx="5257800" cy="4343400"/>
          </a:xfrm>
          <a:prstGeom prst="roundRect">
            <a:avLst/>
          </a:prstGeom>
          <a:solidFill>
            <a:srgbClr val="FFF4EB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nagły spadek saturacji lub narastająca duszność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gorączka, ból opłucnowy, znaczne osłabienie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krwioplucie, podejrzenie odmy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spadek masy ciała lub odwodnienie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brak tolerancji dotychczasowej techniki 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9/30  |  Ernest Kurdziel, nr albumu 72714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badanie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Badanie przedmiotowe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62D34"/>
                </a:solidFill>
              </a:defRPr>
            </a:pPr>
            <a:r>
              <a:t>obserwacja toru oddechowego, częstości oddechów i pracy dodatkowych mięśni oddechowych</a:t>
            </a:r>
          </a:p>
          <a:p>
            <a:pPr>
              <a:spcAft>
                <a:spcPts val="700"/>
              </a:spcAft>
              <a:defRPr sz="1700">
                <a:solidFill>
                  <a:srgbClr val="262D34"/>
                </a:solidFill>
              </a:defRPr>
            </a:pPr>
            <a:r>
              <a:t>ocena kaszlu: efektywność, kontrola, technika huff/FET</a:t>
            </a:r>
          </a:p>
          <a:p>
            <a:pPr>
              <a:spcAft>
                <a:spcPts val="700"/>
              </a:spcAft>
              <a:defRPr sz="1700">
                <a:solidFill>
                  <a:srgbClr val="262D34"/>
                </a:solidFill>
              </a:defRPr>
            </a:pPr>
            <a:r>
              <a:t>osłuchiwanie: świsty, furczenia, trzeszczenia, asymetria szmeru oddechowego</a:t>
            </a:r>
          </a:p>
          <a:p>
            <a:pPr>
              <a:spcAft>
                <a:spcPts val="700"/>
              </a:spcAft>
              <a:defRPr sz="1700">
                <a:solidFill>
                  <a:srgbClr val="262D34"/>
                </a:solidFill>
              </a:defRPr>
            </a:pPr>
            <a:r>
              <a:t>ocena klatki piersiowej: ruchomość, kifoza piersiowa, ustawienie barków</a:t>
            </a:r>
          </a:p>
          <a:p>
            <a:pPr>
              <a:spcAft>
                <a:spcPts val="700"/>
              </a:spcAft>
              <a:defRPr sz="1700">
                <a:solidFill>
                  <a:srgbClr val="262D34"/>
                </a:solidFill>
              </a:defRPr>
            </a:pPr>
            <a:r>
              <a:t>pomiar SpO2 i tętna w spoczynku oraz po wysiłku</a:t>
            </a:r>
          </a:p>
          <a:p>
            <a:pPr>
              <a:spcAft>
                <a:spcPts val="700"/>
              </a:spcAft>
              <a:defRPr sz="1700">
                <a:solidFill>
                  <a:srgbClr val="262D34"/>
                </a:solidFill>
              </a:defRPr>
            </a:pPr>
            <a:r>
              <a:t>ocena zmęczenia, bólu, tolerancji pozycji drenażowych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10/30  |  Ernest Kurdziel, nr albumu 72714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badanie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Badania czynnościowe układu oddechowego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502920"/>
          </a:xfrm>
          <a:prstGeom prst="round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Spirometria i parametry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75688"/>
            <a:ext cx="5257800" cy="4343400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FEV1 % należnej: podstawowy marker obturacji i progresji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FVC, FEV1/FVC, przepływy wydechowe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trend jest ważniejszy niż pojedynczy pomiar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pomiar przed/po interwencji może pokazać odpowiedź na 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502920"/>
          </a:xfrm>
          <a:prstGeom prst="roundRect">
            <a:avLst/>
          </a:prstGeom>
          <a:solidFill>
            <a:srgbClr val="E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Uzupełnienie oceny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75688"/>
            <a:ext cx="5257800" cy="4343400"/>
          </a:xfrm>
          <a:prstGeom prst="roundRect">
            <a:avLst/>
          </a:prstGeom>
          <a:solidFill>
            <a:srgbClr val="FFF4EB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SpO2 w spoczynku, podczas ACT i wysiłku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badanie mikrobiologiczne plwociny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obrazowanie płuc według decyzji zespołu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kontrola objawów zaostrzenia i działań niepożądanych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11/30  |  Ernest Kurdziel, nr albumu 72714  |  Castellani et al., 2018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badanie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Ocena wydzieliny i efektywności kaszlu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ilość: subiektywna skala, objętość lub masa mokrej plwociny po sesji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jakość: lepkość, barwa, obecność krwi, zmiana zapachu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lokalizacja zalegania: osłuchowo, objawowo, według preferowanych pozycji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efektywność: czy huff/FET przesuwa wydzielinę bez nadmiernego skurczu oskrzeli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reakcja po sesji: duszność, zmęczenie, SpO2, uczucie oczyszczenia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12/30  |  Ernest Kurdziel, nr albumu 72714  |  McIlwaine et al., 2019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badanie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Ocena wydolności i aktywności fizycznej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502920"/>
          </a:xfrm>
          <a:prstGeom prst="round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Złoty standard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75688"/>
            <a:ext cx="5257800" cy="4343400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CPET: szczytowy pobór tlenu i maksymalna moc pracy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monitorowanie SpO2, tętna, objawów i wentylacji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u osób &gt;=10 lat preferowany protokół cykloergometru Godfreya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identyfikacja ograniczeń i bezpieczeństwa wysiłku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502920"/>
          </a:xfrm>
          <a:prstGeom prst="roundRect">
            <a:avLst/>
          </a:prstGeom>
          <a:solidFill>
            <a:srgbClr val="E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Gdy CPET niedostępny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75688"/>
            <a:ext cx="5257800" cy="4343400"/>
          </a:xfrm>
          <a:prstGeom prst="roundRect">
            <a:avLst/>
          </a:prstGeom>
          <a:solidFill>
            <a:srgbClr val="FFF4EB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test marszowy 6-minutowy lub shuttle test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skale duszności i zmęczenia, np. Borg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dzienniczek aktywności lub krokomierz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ocena preferencji: sport, zabawa, trening domowy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13/30  |  Ernest Kurdziel, nr albumu 72714  |  Hebestreit et al., 2015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badanie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Ocena jakości życia i obciążenia leczeniem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CFQ-R: kwestionariusz swoisty dla mukowiscydozy, obejmuje m.in. objawy oddechowe i obciążenie leczeniem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wywiad o adherencji: czas terapii, zapominanie, wstyd, koszty, trudność techniki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ocena funkcjonowania: sen, szkoła/praca, aktywność społeczna, lęk przed zaostrzeniem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wspólne decyzje zwiększają szansę, że pacjent realnie wykona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14/30  |  Ernest Kurdziel, nr albumu 72714  |  Gomez et al., 2018; Lannefors et al., 2022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badanie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Diagnoza fizjoterapeutyczna: przykładowa synteza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011680" cy="548640"/>
          </a:xfrm>
          <a:prstGeom prst="roundRect">
            <a:avLst/>
          </a:prstGeom>
          <a:solidFill>
            <a:srgbClr val="E1EFF2"/>
          </a:solidFill>
          <a:ln>
            <a:solidFill>
              <a:srgbClr val="007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500" b="1">
                <a:solidFill>
                  <a:srgbClr val="163153"/>
                </a:solidFill>
              </a:rPr>
              <a:t>problem główny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zaleganie gęstej wydzieliny z produktywnym kaszlem rano i po wysiłku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obniżona tolerancja wysiłku, szybka męczliwość i okresowe spadki SpO2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ograniczona ruchomość klatki piersiowej oraz tendencja do kifotyzacji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duże obciążenie czasowe leczenia i nieregularne wykonywanie 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5074920"/>
            <a:ext cx="9875520" cy="640080"/>
          </a:xfrm>
          <a:prstGeom prst="roundRect">
            <a:avLst/>
          </a:prstGeom>
          <a:solidFill>
            <a:srgbClr val="FFF4EB"/>
          </a:solidFill>
          <a:ln>
            <a:solidFill>
              <a:srgbClr val="E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500" b="1">
                <a:solidFill>
                  <a:srgbClr val="163153"/>
                </a:solidFill>
              </a:rPr>
              <a:t>wniosek: potrzebny program łączący oczyszczanie, trening, edukację i monitoring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15/30  |  Ernest Kurdziel, nr albumu 72714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plan terapii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Przykładowy pacjent do planu terapii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502920"/>
          </a:xfrm>
          <a:prstGeom prst="round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Założenia kliniczne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75688"/>
            <a:ext cx="5257800" cy="4343400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pacjent nastoletni lub młody dorosły w stabilnym okresie choroby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rozpoznana mukowiscydoza, kaszel produktywny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FEV1 łagodnie/umiarkowanie obniżone, bez ostrego krwioplucia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samodzielny, ale z problemem regularności terapii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502920"/>
          </a:xfrm>
          <a:prstGeom prst="roundRect">
            <a:avLst/>
          </a:prstGeom>
          <a:solidFill>
            <a:srgbClr val="E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Priorytety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75688"/>
            <a:ext cx="5257800" cy="4343400"/>
          </a:xfrm>
          <a:prstGeom prst="roundRect">
            <a:avLst/>
          </a:prstGeom>
          <a:solidFill>
            <a:srgbClr val="FFF4EB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codzienne oczyszczanie oskrzeli możliwe do wykonania w domu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zwiększenie tolerancji wysiłku i aktywności rekreacyjnej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nauka kontroli kaszlu i higieny sprzętu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wczesne rozpoznanie zaostrzenia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16/30  |  Ernest Kurdziel, nr albumu 72714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plan terapii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Algorytm planowania sesji fizjoterapii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063240" cy="1143000"/>
          </a:xfrm>
          <a:prstGeom prst="roundRect">
            <a:avLst/>
          </a:prstGeom>
          <a:solidFill>
            <a:srgbClr val="F5FAFB"/>
          </a:solidFill>
          <a:ln>
            <a:solidFill>
              <a:srgbClr val="007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400" b="1">
                <a:solidFill>
                  <a:srgbClr val="163153"/>
                </a:solidFill>
              </a:rPr>
              <a:t>1. inhalacja
jeśli zalecona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3063240" cy="1143000"/>
          </a:xfrm>
          <a:prstGeom prst="roundRect">
            <a:avLst/>
          </a:prstGeom>
          <a:solidFill>
            <a:srgbClr val="F5FAFB"/>
          </a:solidFill>
          <a:ln>
            <a:solidFill>
              <a:srgbClr val="4A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400" b="1">
                <a:solidFill>
                  <a:srgbClr val="163153"/>
                </a:solidFill>
              </a:rPr>
              <a:t>2. ACT
PEP / OPEP / ACBT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508760"/>
            <a:ext cx="3063240" cy="1143000"/>
          </a:xfrm>
          <a:prstGeom prst="roundRect">
            <a:avLst/>
          </a:prstGeom>
          <a:solidFill>
            <a:srgbClr val="F5FAFB"/>
          </a:solidFill>
          <a:ln>
            <a:solidFill>
              <a:srgbClr val="529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400" b="1">
                <a:solidFill>
                  <a:srgbClr val="163153"/>
                </a:solidFill>
              </a:rPr>
              <a:t>3. huff + kaszel
kontrolowany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474720"/>
            <a:ext cx="3063240" cy="1143000"/>
          </a:xfrm>
          <a:prstGeom prst="roundRect">
            <a:avLst/>
          </a:prstGeom>
          <a:solidFill>
            <a:srgbClr val="F5FAFB"/>
          </a:solidFill>
          <a:ln>
            <a:solidFill>
              <a:srgbClr val="E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400" b="1">
                <a:solidFill>
                  <a:srgbClr val="163153"/>
                </a:solidFill>
              </a:rPr>
              <a:t>4. ćwiczenia
oddechowe i mobilność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474720"/>
            <a:ext cx="3063240" cy="1143000"/>
          </a:xfrm>
          <a:prstGeom prst="roundRect">
            <a:avLst/>
          </a:prstGeom>
          <a:solidFill>
            <a:srgbClr val="F5FAFB"/>
          </a:solidFill>
          <a:ln>
            <a:solidFill>
              <a:srgbClr val="75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400" b="1">
                <a:solidFill>
                  <a:srgbClr val="163153"/>
                </a:solidFill>
              </a:rPr>
              <a:t>5. trening
wytrzymałościowy / siłowy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474720"/>
            <a:ext cx="3063240" cy="1143000"/>
          </a:xfrm>
          <a:prstGeom prst="roundRect">
            <a:avLst/>
          </a:prstGeom>
          <a:solidFill>
            <a:srgbClr val="F5FAFB"/>
          </a:solidFill>
          <a:ln>
            <a:solidFill>
              <a:srgbClr val="2F7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400" b="1">
                <a:solidFill>
                  <a:srgbClr val="163153"/>
                </a:solidFill>
              </a:rPr>
              <a:t>6. zapis efektów
objawy, plwocina, SpO2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Kolejność należy dopasować do zaleceń lekarskich, tolerancji wysiłku i pory dnia z największym zaleganiem wydzieliny.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17/30  |  Ernest Kurdziel, nr albumu 72714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interwencje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Techniki oczyszczania dróg oddechowych (ACT)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502920"/>
          </a:xfrm>
          <a:prstGeom prst="round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Techniki bez urządzeń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75688"/>
            <a:ext cx="5257800" cy="4343400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ACBT: kontrola oddechu, ćwiczenia rozszerzające, FET/huff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drenaż autogeniczny: kontrola objętości płuc i przepływu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pozycje ułatwiające wentylację i odpływ wydzieliny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kaszel kontrolowany z oszczędzaniem energii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502920"/>
          </a:xfrm>
          <a:prstGeom prst="roundRect">
            <a:avLst/>
          </a:prstGeom>
          <a:solidFill>
            <a:srgbClr val="E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Techniki z urządzeniami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75688"/>
            <a:ext cx="5257800" cy="4343400"/>
          </a:xfrm>
          <a:prstGeom prst="roundRect">
            <a:avLst/>
          </a:prstGeom>
          <a:solidFill>
            <a:srgbClr val="FFF4EB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PEP maska/ustnik: dodatnie ciśnienie wydechowe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oscylacyjny PEP: Flutter, Acapella, Aerobika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HFCWO: kamizelka oscylacyjna u wybranych pacjentów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dobór zależy od efektu, tolerancji i preferencji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18/30  |  Ernest Kurdziel, nr albumu 72714  |  Flume et al., 2009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interwencje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PEP i oscylacyjny PEP: praktyczne zasady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058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62D34"/>
                </a:solidFill>
              </a:defRPr>
            </a:pPr>
            <a:r>
              <a:t>cel: utrzymać drożność małych dróg oddechowych i przesuwać powietrze za czop śluzowy</a:t>
            </a:r>
          </a:p>
          <a:p>
            <a:pPr>
              <a:spcAft>
                <a:spcPts val="700"/>
              </a:spcAft>
              <a:defRPr sz="1700">
                <a:solidFill>
                  <a:srgbClr val="262D34"/>
                </a:solidFill>
              </a:defRPr>
            </a:pPr>
            <a:r>
              <a:t>typowy schemat: serie spokojnych wydechów przez opór, przerwy na huff i kaszel</a:t>
            </a:r>
          </a:p>
          <a:p>
            <a:pPr>
              <a:spcAft>
                <a:spcPts val="700"/>
              </a:spcAft>
              <a:defRPr sz="1700">
                <a:solidFill>
                  <a:srgbClr val="262D34"/>
                </a:solidFill>
              </a:defRPr>
            </a:pPr>
            <a:r>
              <a:t>monitorować: duszność, zawroty głowy, skurcz oskrzeli, SpO2, zmęczenie</a:t>
            </a:r>
          </a:p>
          <a:p>
            <a:pPr>
              <a:spcAft>
                <a:spcPts val="700"/>
              </a:spcAft>
              <a:defRPr sz="1700">
                <a:solidFill>
                  <a:srgbClr val="262D34"/>
                </a:solidFill>
              </a:defRPr>
            </a:pPr>
            <a:r>
              <a:t>PEP bywa preferowany przez pacjentów i w długich badaniach ograniczał zaostrzenia względem HFCWO</a:t>
            </a:r>
          </a:p>
          <a:p>
            <a:pPr>
              <a:spcAft>
                <a:spcPts val="700"/>
              </a:spcAft>
              <a:defRPr sz="1700">
                <a:solidFill>
                  <a:srgbClr val="262D34"/>
                </a:solidFill>
              </a:defRPr>
            </a:pPr>
            <a:r>
              <a:t>sprzęt wymaga instruktażu, kontroli oporu oraz regularnej dezynfekcji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19/30  |  Ernest Kurdziel, nr albumu 72714  |  McIlwaine et al., 2013; McIlwaine et al., 2019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interwencje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ACBT i drenaż autogeniczny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502920"/>
          </a:xfrm>
          <a:prstGeom prst="round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ACBT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75688"/>
            <a:ext cx="5257800" cy="4343400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kontrola oddechu zmniejsza skurcz oskrzeli i zmęczenie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głębsze wdechy z pauzą poprawiają wentylację obwodową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FET/huff przesuwa wydzielinę z mniejszym zapadaniem oskrzeli niż gwałtowny kaszel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łatwy do łączenia z pozycjami i inhalacją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502920"/>
          </a:xfrm>
          <a:prstGeom prst="roundRect">
            <a:avLst/>
          </a:prstGeom>
          <a:solidFill>
            <a:srgbClr val="E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Drenaż autogeniczny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75688"/>
            <a:ext cx="5257800" cy="4343400"/>
          </a:xfrm>
          <a:prstGeom prst="roundRect">
            <a:avLst/>
          </a:prstGeom>
          <a:solidFill>
            <a:srgbClr val="FFF4EB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oddychanie na niskich, średnich i wysokich objętościach płuc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wymaga większej świadomości oddechu i treningu techniki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przydatny u pacjentów, którzy chcą techniki dyskretnej i bez sprzętu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efekt oceniamy po wydzielinie, objawach i tolerancji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20/30  |  Ernest Kurdziel, nr albumu 72714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interwencje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Inhalacje, kolejność i higiena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62D34"/>
                </a:solidFill>
              </a:defRPr>
            </a:pPr>
            <a:r>
              <a:t>fizjoterapeuta powinien znać zalecony przez lekarza schemat leków wziewnych i mukolitycznych</a:t>
            </a:r>
          </a:p>
          <a:p>
            <a:pPr>
              <a:spcAft>
                <a:spcPts val="700"/>
              </a:spcAft>
              <a:defRPr sz="1700">
                <a:solidFill>
                  <a:srgbClr val="262D34"/>
                </a:solidFill>
              </a:defRPr>
            </a:pPr>
            <a:r>
              <a:t>często ACT planuje się po inhalacji ułatwiającej upłynnienie wydzieliny; bronchodilatator przed wysiłkiem, jeśli zalecony</a:t>
            </a:r>
          </a:p>
          <a:p>
            <a:pPr>
              <a:spcAft>
                <a:spcPts val="700"/>
              </a:spcAft>
              <a:defRPr sz="1700">
                <a:solidFill>
                  <a:srgbClr val="262D34"/>
                </a:solidFill>
              </a:defRPr>
            </a:pPr>
            <a:r>
              <a:t>nie mieszać dowolnie kolejności leków bez zaleceń zespołu prowadzącego</a:t>
            </a:r>
          </a:p>
          <a:p>
            <a:pPr>
              <a:spcAft>
                <a:spcPts val="700"/>
              </a:spcAft>
              <a:defRPr sz="1700">
                <a:solidFill>
                  <a:srgbClr val="262D34"/>
                </a:solidFill>
              </a:defRPr>
            </a:pPr>
            <a:r>
              <a:t>nebulizatory, maski PEP i ustniki: mycie, suszenie i dezynfekcja według instrukcji</a:t>
            </a:r>
          </a:p>
          <a:p>
            <a:pPr>
              <a:spcAft>
                <a:spcPts val="700"/>
              </a:spcAft>
              <a:defRPr sz="1700">
                <a:solidFill>
                  <a:srgbClr val="262D34"/>
                </a:solidFill>
              </a:defRPr>
            </a:pPr>
            <a:r>
              <a:t>kontrola zakażeń: własny sprzęt, wentylowane miejsce, unikanie kontaktu z innymi pacjentami CF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21/30  |  Ernest Kurdziel, nr albumu 72714  |  Castellani et al., 2018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interwencje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Trening fizyczny jako element terapii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502920"/>
          </a:xfrm>
          <a:prstGeom prst="round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Cele treningu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75688"/>
            <a:ext cx="5257800" cy="4343400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poprawa wydolności krążeniowo-oddechowej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wspomaganie oczyszczania wydzieliny przez wentylację i huff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wzrost siły mięśniowej i tolerancji codziennych aktywności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korzyści psychologiczne i społeczne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502920"/>
          </a:xfrm>
          <a:prstGeom prst="roundRect">
            <a:avLst/>
          </a:prstGeom>
          <a:solidFill>
            <a:srgbClr val="E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Dobór obciążeń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75688"/>
            <a:ext cx="5257800" cy="4343400"/>
          </a:xfrm>
          <a:prstGeom prst="roundRect">
            <a:avLst/>
          </a:prstGeom>
          <a:solidFill>
            <a:srgbClr val="FFF4EB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aerobowy: marsz, rower, pływanie, gry, interwały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siłowy: duże grupy mięśniowe, technika i oddech bez parcia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intensywność wg CPET/testów terenowych, SpO2 i skali Borga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nawodnienie i podaż energii muszą odpowiadać większemu wysiłkowi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22/30  |  Ernest Kurdziel, nr albumu 72714  |  Williams et al., 2022; Radtke et al., 2022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interwencje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Ćwiczenia oddechowe, posturalne i mobilizacyjne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mobilizacja odcinka piersiowego: wyprost, rotacje, otwieranie klatki piersiowej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rozciąganie mięśni piersiowych, zginaczy bioder i obręczy barkowej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ćwiczenia oddechowe z akcentem na dolnożebrowy tor oddechowy i kontrolę wydechu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trening mięśni posturalnych oraz stabilizacji łopatki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łączenie mobilizacji z fazą wdechu i huffem może zwiększać komfort oczyszczania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23/30  |  Ernest Kurdziel, nr albumu 72714  |  Malkoc et al., 2021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bezpieczeństwo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Modyfikacja terapii w zaostrzeniu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502920"/>
          </a:xfrm>
          <a:prstGeom prst="round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 zwykle zwiększamy?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75688"/>
            <a:ext cx="5257800" cy="4343400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częstość ACT, jeśli pacjent ma więcej wydzieliny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monitorowanie SpO2, tętna, duszności i zmęczenia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pozycje ułatwiające wentylację i odpoczynek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krótsze, częstsze sesje zamiast jednej długiej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502920"/>
          </a:xfrm>
          <a:prstGeom prst="roundRect">
            <a:avLst/>
          </a:prstGeom>
          <a:solidFill>
            <a:srgbClr val="E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Kiedy przerwać i skonsultować?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75688"/>
            <a:ext cx="5257800" cy="4343400"/>
          </a:xfrm>
          <a:prstGeom prst="roundRect">
            <a:avLst/>
          </a:prstGeom>
          <a:solidFill>
            <a:srgbClr val="FFF4EB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krwioplucie, podejrzenie odmy, ból w klatce piersiowej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istotna desaturacja lub narastająca duszność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gorączka z pogorszeniem stanu ogólnego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brak tolerancji dotychczasowego oporu/pozycji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24/30  |  Ernest Kurdziel, nr albumu 72714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edukacja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Edukacja pacjenta i rodziny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1498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pacjent rozumie: po co wykonuje ACT, kiedy ją zwiększyć i kiedy zgłosić się do lekarza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nauka huff, kaszlu kontrolowanego, ustawienia urządzenia i higieny sprzętu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plan dnia: terapia wpisana w realistyczne pory, np. rano i wieczorem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strategie adherencji: krótkie cele, dzienniczek, aplikacja, wsparcie rodziny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aktywność fizyczna jako styl życia, nie tylko zadanie rehabilitacyjne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25/30  |  Ernest Kurdziel, nr albumu 72714  |  Williams et al., 2022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monitorowanie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Monitorowanie efektów terapii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502920"/>
          </a:xfrm>
          <a:prstGeom prst="round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Wskaźniki krótkoterminowe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75688"/>
            <a:ext cx="5257800" cy="4343400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łatwiejsze odkrztuszanie i mniejsza duszność po sesji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stabilna SpO2 i tętno podczas ACT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mniej uczucia zalegania, poprawa osłuchowa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pacjent potrafi sam wykonać technikę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502920"/>
          </a:xfrm>
          <a:prstGeom prst="roundRect">
            <a:avLst/>
          </a:prstGeom>
          <a:solidFill>
            <a:srgbClr val="E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Wskaźniki długoterminowe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75688"/>
            <a:ext cx="5257800" cy="4343400"/>
          </a:xfrm>
          <a:prstGeom prst="roundRect">
            <a:avLst/>
          </a:prstGeom>
          <a:solidFill>
            <a:srgbClr val="FFF4EB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33172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trend FEV1 i liczba zaostrzeń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wydolność: CPET / 6MWT / shuttle test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CFQ-R: objawy oddechowe i obciążenie leczeniem</a:t>
            </a:r>
          </a:p>
          <a:p>
            <a:pPr>
              <a:spcAft>
                <a:spcPts val="700"/>
              </a:spcAft>
              <a:defRPr sz="1500">
                <a:solidFill>
                  <a:srgbClr val="262D34"/>
                </a:solidFill>
              </a:defRPr>
            </a:pPr>
            <a:r>
              <a:t>regularność terapii i aktywności fizycznej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26/30  |  Ernest Kurdziel, nr albumu 72714  |  Hebestreit et al., 2015; Gomez et al., 2018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plan terapii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Przykładowy tygodniowy plan terapii domowej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2014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063240"/>
                <a:gridCol w="3063240"/>
                <a:gridCol w="3154680"/>
              </a:tblGrid>
              <a:tr h="7086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Element</a:t>
                      </a:r>
                    </a:p>
                  </a:txBody>
                  <a:tcPr>
                    <a:solidFill>
                      <a:srgbClr val="007D8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Pon.-pt.</a:t>
                      </a:r>
                    </a:p>
                  </a:txBody>
                  <a:tcPr>
                    <a:solidFill>
                      <a:srgbClr val="007D8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Weekend</a:t>
                      </a:r>
                    </a:p>
                  </a:txBody>
                  <a:tcPr>
                    <a:solidFill>
                      <a:srgbClr val="007D8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Kontrola</a:t>
                      </a:r>
                    </a:p>
                  </a:txBody>
                  <a:tcPr>
                    <a:solidFill>
                      <a:srgbClr val="007D85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4"/>
                          </a:solidFill>
                        </a:defRPr>
                      </a:pPr>
                      <a:r>
                        <a:t>ACT</a:t>
                      </a:r>
                    </a:p>
                  </a:txBody>
                  <a:tcPr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4"/>
                          </a:solidFill>
                        </a:defRPr>
                      </a:pPr>
                      <a:r>
                        <a:t>PEP/OPEP 2 x dziennie, 15-25 min</a:t>
                      </a:r>
                    </a:p>
                  </a:txBody>
                  <a:tcPr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4"/>
                          </a:solidFill>
                        </a:defRPr>
                      </a:pPr>
                      <a:r>
                        <a:t>1-2 x dziennie wg objawów</a:t>
                      </a:r>
                    </a:p>
                  </a:txBody>
                  <a:tcPr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4"/>
                          </a:solidFill>
                        </a:defRPr>
                      </a:pPr>
                      <a:r>
                        <a:t>plwocina, duszność, SpO2</a:t>
                      </a:r>
                    </a:p>
                  </a:txBody>
                  <a:tcPr>
                    <a:solidFill>
                      <a:srgbClr val="EEF7F9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4"/>
                          </a:solidFill>
                        </a:defRPr>
                      </a:pPr>
                      <a:r>
                        <a:t>Huff/kaszel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4"/>
                          </a:solidFill>
                        </a:defRPr>
                      </a:pPr>
                      <a:r>
                        <a:t>po każdej serii ACT i po wysiłku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4"/>
                          </a:solidFill>
                        </a:defRPr>
                      </a:pPr>
                      <a:r>
                        <a:t>jak w dni robocze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4"/>
                          </a:solidFill>
                        </a:defRPr>
                      </a:pPr>
                      <a:r>
                        <a:t>efektywność bez wyczerpania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4"/>
                          </a:solidFill>
                        </a:defRPr>
                      </a:pPr>
                      <a:r>
                        <a:t>Trening aerobowy</a:t>
                      </a:r>
                    </a:p>
                  </a:txBody>
                  <a:tcPr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4"/>
                          </a:solidFill>
                        </a:defRPr>
                      </a:pPr>
                      <a:r>
                        <a:t>3-5 sesji: marsz/rower/interwały</a:t>
                      </a:r>
                    </a:p>
                  </a:txBody>
                  <a:tcPr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4"/>
                          </a:solidFill>
                        </a:defRPr>
                      </a:pPr>
                      <a:r>
                        <a:t>aktywność rekreacyjna</a:t>
                      </a:r>
                    </a:p>
                  </a:txBody>
                  <a:tcPr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4"/>
                          </a:solidFill>
                        </a:defRPr>
                      </a:pPr>
                      <a:r>
                        <a:t>Borg, tętno, SpO2</a:t>
                      </a:r>
                    </a:p>
                  </a:txBody>
                  <a:tcPr>
                    <a:solidFill>
                      <a:srgbClr val="EEF7F9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4"/>
                          </a:solidFill>
                        </a:defRPr>
                      </a:pPr>
                      <a:r>
                        <a:t>Siła i postawa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4"/>
                          </a:solidFill>
                        </a:defRPr>
                      </a:pPr>
                      <a:r>
                        <a:t>2-3 sesje: tułów, obręcz barkowa, nogi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4"/>
                          </a:solidFill>
                        </a:defRPr>
                      </a:pPr>
                      <a:r>
                        <a:t>mobilizacja i rozciąganie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4"/>
                          </a:solidFill>
                        </a:defRPr>
                      </a:pPr>
                      <a:r>
                        <a:t>ból, technika oddechu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4"/>
                          </a:solidFill>
                        </a:defRPr>
                      </a:pPr>
                      <a:r>
                        <a:t>Edukacja</a:t>
                      </a:r>
                    </a:p>
                  </a:txBody>
                  <a:tcPr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4"/>
                          </a:solidFill>
                        </a:defRPr>
                      </a:pPr>
                      <a:r>
                        <a:t>dzienniczek i higiena sprzętu</a:t>
                      </a:r>
                    </a:p>
                  </a:txBody>
                  <a:tcPr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4"/>
                          </a:solidFill>
                        </a:defRPr>
                      </a:pPr>
                      <a:r>
                        <a:t>przegląd planu tygodnia</a:t>
                      </a:r>
                    </a:p>
                  </a:txBody>
                  <a:tcPr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D34"/>
                          </a:solidFill>
                        </a:defRPr>
                      </a:pPr>
                      <a:r>
                        <a:t>adherencja, bariery</a:t>
                      </a:r>
                    </a:p>
                  </a:txBody>
                  <a:tcPr>
                    <a:solidFill>
                      <a:srgbClr val="EEF7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1560" y="5715000"/>
            <a:ext cx="10058400" cy="502920"/>
          </a:xfrm>
          <a:prstGeom prst="roundRect">
            <a:avLst/>
          </a:prstGeom>
          <a:solidFill>
            <a:srgbClr val="FFF4EB"/>
          </a:solidFill>
          <a:ln>
            <a:solidFill>
              <a:srgbClr val="E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300" b="1">
                <a:solidFill>
                  <a:srgbClr val="163153"/>
                </a:solidFill>
              </a:rPr>
              <a:t>Plan wymaga akceptacji zespołu prowadzącego i aktualizacji przy zaostrzeniu.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27/30  |  Ernest Kurdziel, nr albumu 72714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bezpieczeństwo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Bezpieczeństwo i przeciwwskazania względne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dostosować intensywność przy gorączce, odwodnieniu, znacznym zmęczeniu lub bólu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unikać technik nasilających krwioplucie; przy istotnym krwiopluciu wymagana pilna konsultacja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podejrzenie odmy: nie wykonywać intensywnego ACT ani wysiłku do oceny lekarskiej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desaturacja, ból w klatce piersiowej lub omdlenie podczas treningu wymagają przerwania ćwiczeń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ryzyko zakażeń krzyżowych: pacjenci z CF nie powinni współdzielić sprzętu ani ćwiczyć blisko siebie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28/30  |  Ernest Kurdziel, nr albumu 72714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podsumowanie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Najważniejsze wnioski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287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fizjoterapia w mukowiscydozie jest leczeniem długoterminowym, regularnym i indywidualizowanym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badanie pacjenta obejmuje objawy, wydzielinę, funkcję płuc, wydolność, postawę, jakość życia i adherencję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nie ma jednej najlepszej techniki ACT dla wszystkich; skuteczny jest plan, który pacjent wykonuje prawidłowo i systematycznie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aktywność fizyczna i trening są ważnym uzupełnieniem oczyszczania dróg oddechowych</a:t>
            </a:r>
          </a:p>
          <a:p>
            <a:pPr>
              <a:spcAft>
                <a:spcPts val="700"/>
              </a:spcAft>
              <a:defRPr sz="1800">
                <a:solidFill>
                  <a:srgbClr val="262D34"/>
                </a:solidFill>
              </a:defRPr>
            </a:pPr>
            <a:r>
              <a:t>monitorowanie trendów FEV1, zaostrzeń, tolerancji wysiłku i CFQ-R pozwala modyfikować terapię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29/30  |  Ernest Kurdziel, nr albumu 72714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411480"/>
            <a:ext cx="1965960" cy="347472"/>
          </a:xfrm>
          <a:prstGeom prst="roundRect">
            <a:avLst/>
          </a:prstGeom>
          <a:solidFill>
            <a:srgbClr val="EEF7F9"/>
          </a:solidFill>
          <a:ln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7D85"/>
                </a:solidFill>
              </a:rPr>
              <a:t>literatura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153"/>
                </a:solidFill>
              </a:rPr>
              <a:t>Bibliografia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10642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262D34"/>
                </a:solidFill>
              </a:defRPr>
            </a:pPr>
            <a:r>
              <a:t>Flume PA et al. Cystic fibrosis pulmonary guidelines: airway clearance therapies. Respir Care. 2009;54(4):522-537. PMID: 19327189.</a:t>
            </a:r>
          </a:p>
          <a:p>
            <a:pPr>
              <a:spcAft>
                <a:spcPts val="700"/>
              </a:spcAft>
              <a:defRPr sz="1000">
                <a:solidFill>
                  <a:srgbClr val="262D34"/>
                </a:solidFill>
              </a:defRPr>
            </a:pPr>
            <a:r>
              <a:t>McIlwaine MP et al. High frequency chest wall oscillation versus PEP mask in cystic fibrosis. Thorax. 2013;68(8):746-751. PMID: 23407019.</a:t>
            </a:r>
          </a:p>
          <a:p>
            <a:pPr>
              <a:spcAft>
                <a:spcPts val="700"/>
              </a:spcAft>
              <a:defRPr sz="1000">
                <a:solidFill>
                  <a:srgbClr val="262D34"/>
                </a:solidFill>
              </a:defRPr>
            </a:pPr>
            <a:r>
              <a:t>McIlwaine M, Button B, Nevitt SJ. Positive expiratory pressure physiotherapy for airway clearance in people with cystic fibrosis. Cochrane Database Syst Rev. 2019;11:CD003147. PMID: 31774149.</a:t>
            </a:r>
          </a:p>
          <a:p>
            <a:pPr>
              <a:spcAft>
                <a:spcPts val="700"/>
              </a:spcAft>
              <a:defRPr sz="1000">
                <a:solidFill>
                  <a:srgbClr val="262D34"/>
                </a:solidFill>
              </a:defRPr>
            </a:pPr>
            <a:r>
              <a:t>Hebestreit H et al. Statement on Exercise Testing in Cystic Fibrosis. Respiration. 2015;90(4):332-351. PMID: 26352941.</a:t>
            </a:r>
          </a:p>
          <a:p>
            <a:pPr>
              <a:spcAft>
                <a:spcPts val="700"/>
              </a:spcAft>
              <a:defRPr sz="1000">
                <a:solidFill>
                  <a:srgbClr val="262D34"/>
                </a:solidFill>
              </a:defRPr>
            </a:pPr>
            <a:r>
              <a:t>Castellani C et al. ECFS best practice guidelines: the 2018 revision. J Cyst Fibros. 2018;17(2):153-178.</a:t>
            </a:r>
          </a:p>
          <a:p>
            <a:pPr>
              <a:spcAft>
                <a:spcPts val="700"/>
              </a:spcAft>
              <a:defRPr sz="1000">
                <a:solidFill>
                  <a:srgbClr val="262D34"/>
                </a:solidFill>
              </a:defRPr>
            </a:pPr>
            <a:r>
              <a:t>Williams CA et al. The Exeter Activity Unlimited statement on physical activity and exercise for cystic fibrosis. Chronic Respir Dis. 2022;19:14799731221121670.</a:t>
            </a:r>
          </a:p>
          <a:p>
            <a:pPr>
              <a:spcAft>
                <a:spcPts val="700"/>
              </a:spcAft>
              <a:defRPr sz="1000">
                <a:solidFill>
                  <a:srgbClr val="262D34"/>
                </a:solidFill>
              </a:defRPr>
            </a:pPr>
            <a:r>
              <a:t>Radtke T et al. Physical activity and exercise training in cystic fibrosis. Cochrane Database Syst Rev. 2022;8:CD002768.</a:t>
            </a:r>
          </a:p>
          <a:p>
            <a:pPr>
              <a:spcAft>
                <a:spcPts val="700"/>
              </a:spcAft>
              <a:defRPr sz="1000">
                <a:solidFill>
                  <a:srgbClr val="262D34"/>
                </a:solidFill>
              </a:defRPr>
            </a:pPr>
            <a:r>
              <a:t>Gomez CC et al. Development and electronic validation of the revised Cystic Fibrosis Questionnaire. J Cyst Fibros. 2018;17(1):97-102. PMID: 29157922.</a:t>
            </a:r>
          </a:p>
          <a:p>
            <a:pPr>
              <a:spcAft>
                <a:spcPts val="700"/>
              </a:spcAft>
              <a:defRPr sz="1000">
                <a:solidFill>
                  <a:srgbClr val="262D34"/>
                </a:solidFill>
              </a:defRPr>
            </a:pPr>
            <a:r>
              <a:t>Malkoc M et al. Combining postural exercises with chest physiotherapy in cystic fibrosis: randomized-controlled trial. Turk J Phys Med Rehabil. 2021;67(1):91-100. PMID: 33948549.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E1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30/30  |  Ernest Kurdziel, nr albumu 72714  |  PubMed / Google Scholar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