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lo_tytul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F3D5C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7132320" cy="45720"/>
          </a:xfrm>
          <a:prstGeom prst="rect">
            <a:avLst/>
          </a:prstGeom>
          <a:solidFill>
            <a:srgbClr val="129A9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29A9C"/>
                </a:solidFill>
                <a:latin typeface="Calibri"/>
              </a:rPr>
              <a:t>BALNEOKLIMATOLOGIA I ODNOWA BIOLOGICZNA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6400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1" i="0">
                <a:solidFill>
                  <a:srgbClr val="FFFFFF"/>
                </a:solidFill>
                <a:latin typeface="Calibri"/>
              </a:rPr>
              <a:t>Indywidualny program
zabiegów fizykalnych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2A13B"/>
                </a:solidFill>
                <a:latin typeface="Calibri"/>
              </a:rPr>
              <a:t>Przypadek kliniczny: pacjent z zespołem cieśni nadgarstka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D9EAEA"/>
                </a:solidFill>
                <a:latin typeface="Calibri"/>
              </a:rPr>
              <a:t>Opracowanie indywidualnego programu w ramach balneoterapii i odnowy biologicznej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5486400" cy="128016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118872" cy="128016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3D5C"/>
                </a:solidFill>
                <a:latin typeface="Calibri"/>
              </a:rPr>
              <a:t>Autor:  Ernest Kurdziel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44B52"/>
                </a:solidFill>
                <a:latin typeface="Calibri"/>
              </a:rPr>
              <a:t>Nr albumu:  72714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129A9C"/>
                </a:solidFill>
                <a:latin typeface="Calibri"/>
              </a:rPr>
              <a:t>Balneoklimatologia i odnowa biologiczna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Plan prezentacji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2880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1.  Charakterystyka pacjenta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8036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2.  Analiza wskazań i przeciwwskazań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3192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93192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3.  Dobór zabiegów fizykalnych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983479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983479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4.  Opracowanie programu terapii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2880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5.  Efekty terapeutyczne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88036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88036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6.  Elementy odnowy biologicznej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931920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931920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7.  Podsumowanie i wnioski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983479"/>
            <a:ext cx="48463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79"/>
            <a:ext cx="4572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3D5C"/>
                </a:solidFill>
                <a:latin typeface="Calibri"/>
              </a:rPr>
              <a:t>8.  Bibliografia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Charakterystyka pacjenta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Dane podstawowe, rozpoznanie i dolegliwości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9A9C"/>
                </a:solidFill>
                <a:latin typeface="Calibri"/>
              </a:rPr>
              <a:t>Dane podstawowe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5C"/>
                </a:solidFill>
                <a:latin typeface="Calibri"/>
              </a:rPr>
              <a:t>Wiek: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79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39 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62656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5C"/>
                </a:solidFill>
                <a:latin typeface="Calibri"/>
              </a:rPr>
              <a:t>Płeć: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36975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mężczyzna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30752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5C"/>
                </a:solidFill>
                <a:latin typeface="Calibri"/>
              </a:rPr>
              <a:t>Zawód: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informatyk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4988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5C"/>
                </a:solidFill>
                <a:latin typeface="Calibri"/>
              </a:rPr>
              <a:t>Praca: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7316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ponad 8 h dziennie przy komputerze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669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5C"/>
                </a:solidFill>
                <a:latin typeface="Calibri"/>
              </a:rPr>
              <a:t>Tryb życia: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4126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siedzący, niska aktywność fizyczna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9A9C"/>
                </a:solidFill>
                <a:latin typeface="Calibri"/>
              </a:rPr>
              <a:t>Rozpoznanie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938528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29A9C"/>
                </a:solidFill>
                <a:latin typeface="Calibri"/>
              </a:rPr>
              <a:t>•  </a:t>
            </a:r>
            <a:r>
              <a:rPr sz="1350">
                <a:solidFill>
                  <a:srgbClr val="444B52"/>
                </a:solidFill>
                <a:latin typeface="Calibri"/>
              </a:rPr>
              <a:t>Zespół cieśni nadgarstka – ucisk nerwu pośrodkowego w kanale nadgarstka prawej ręki.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71800"/>
            <a:ext cx="4160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9A9C"/>
                </a:solidFill>
                <a:latin typeface="Calibri"/>
              </a:rPr>
              <a:t>Dolegliwości i ograniczenia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8328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29A9C"/>
                </a:solidFill>
                <a:latin typeface="Calibri"/>
              </a:rPr>
              <a:t>•  </a:t>
            </a:r>
            <a:r>
              <a:rPr sz="1300">
                <a:solidFill>
                  <a:srgbClr val="444B52"/>
                </a:solidFill>
                <a:latin typeface="Calibri"/>
              </a:rPr>
              <a:t>Drętwienie i mrowienie palców prawej dłoni.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29A9C"/>
                </a:solidFill>
                <a:latin typeface="Calibri"/>
              </a:rPr>
              <a:t>•  </a:t>
            </a:r>
            <a:r>
              <a:rPr sz="1300">
                <a:solidFill>
                  <a:srgbClr val="444B52"/>
                </a:solidFill>
                <a:latin typeface="Calibri"/>
              </a:rPr>
              <a:t>Nasilenie objawów w nocy i przy pracy na klawiaturze.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29A9C"/>
                </a:solidFill>
                <a:latin typeface="Calibri"/>
              </a:rPr>
              <a:t>•  </a:t>
            </a:r>
            <a:r>
              <a:rPr sz="1300">
                <a:solidFill>
                  <a:srgbClr val="444B52"/>
                </a:solidFill>
                <a:latin typeface="Calibri"/>
              </a:rPr>
              <a:t>Ból nadgarstka, osłabienie siły chwytu.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29A9C"/>
                </a:solidFill>
                <a:latin typeface="Calibri"/>
              </a:rPr>
              <a:t>•  </a:t>
            </a:r>
            <a:r>
              <a:rPr sz="1300">
                <a:solidFill>
                  <a:srgbClr val="444B52"/>
                </a:solidFill>
                <a:latin typeface="Calibri"/>
              </a:rPr>
              <a:t>Trudności w precyzyjnych czynnościach manualnych.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129A9C"/>
                </a:solidFill>
                <a:latin typeface="Calibri"/>
              </a:rPr>
              <a:t>•  </a:t>
            </a:r>
            <a:r>
              <a:rPr sz="1300">
                <a:solidFill>
                  <a:srgbClr val="444B52"/>
                </a:solidFill>
                <a:latin typeface="Calibri"/>
              </a:rPr>
              <a:t>Przeciążenie wynikające ze statycznej pozycji.</a:t>
            </a:r>
          </a:p>
        </p:txBody>
      </p:sp>
      <p:pic>
        <p:nvPicPr>
          <p:cNvPr id="23" name="Picture 22" descr="anatomia.png"/>
          <p:cNvPicPr>
            <a:picLocks noChangeAspect="1"/>
          </p:cNvPicPr>
          <p:nvPr/>
        </p:nvPicPr>
        <p:blipFill>
          <a:blip r:embed="rId2"/>
          <a:srcRect l="28000" r="28000"/>
          <a:stretch>
            <a:fillRect/>
          </a:stretch>
        </p:blipFill>
        <p:spPr>
          <a:xfrm>
            <a:off x="8732520" y="1554480"/>
            <a:ext cx="3017520" cy="457200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24" name="Rectangle 23"/>
          <p:cNvSpPr/>
          <p:nvPr/>
        </p:nvSpPr>
        <p:spPr>
          <a:xfrm>
            <a:off x="8732520" y="5623560"/>
            <a:ext cx="301752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5669280"/>
            <a:ext cx="279806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Kanał nadgarstka – ucisk nerwu pośrodkowego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Analiza wskazań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Wskazania do zastosowania zabiegów fizykalnych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Zespół cieśni nadgarstka o łagodnym / umiarkowanym nasileniu (bez wskazań do leczenia operacyjnego).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Dolegliwości bólowe i parestezje (drętwienie, mrowienie).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Stan przeciążeniowy ścięgien i pochewek w okolicy nadgarstka.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Osłabienie siły mięśniowej i obniżona sprawność manualna ręki.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Przewlekłe napięcie mięśniowe obręczy barkowej i przedramienia.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>
                <a:solidFill>
                  <a:srgbClr val="129A9C"/>
                </a:solidFill>
                <a:latin typeface="Calibri"/>
              </a:rPr>
              <a:t>•  </a:t>
            </a:r>
            <a:r>
              <a:rPr sz="1700">
                <a:solidFill>
                  <a:srgbClr val="444B52"/>
                </a:solidFill>
                <a:latin typeface="Calibri"/>
              </a:rPr>
              <a:t>Profilaktyka wtórna – zapobieganie nawrotom i progresji objawów.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257800"/>
            <a:ext cx="10332720" cy="1097280"/>
          </a:xfrm>
          <a:prstGeom prst="round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537667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9A9C"/>
                </a:solidFill>
                <a:latin typeface="Calibri"/>
              </a:rPr>
              <a:t>Uzasadnienie wyboru metod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5724144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B52"/>
                </a:solidFill>
                <a:latin typeface="Calibri"/>
              </a:rPr>
              <a:t>Metody fizykalne działają przeciwbólowo, przeciwzapalnie i przeciwobrzękowo, poprawiają ukrwienie oraz zmniejszają ucisk na nerw pośrodkowy – stanowią leczenie zachowawcze pierwszego wyboru.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Przeciwwskazania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Przeciwwskazania ogólne i miejscowe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600200"/>
            <a:ext cx="4983480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600200"/>
            <a:ext cx="4983480" cy="54864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Przeciwwskazania ogólne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31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Choroba nowotworowa (czynna).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Stany gorączkowe i ostre infekcje.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Niewydolność krążenia i ciężkie choroby serca.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Skłonność do krwawień, leczenie przeciwkrzepliwe.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Ciąża (dla wybranych zabiegów).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Rozrusznik serca (elektro- i magnetoterapia).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600200"/>
            <a:ext cx="4983480" cy="4526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600200"/>
            <a:ext cx="4983480" cy="54864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600200"/>
            <a:ext cx="4663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Przeciwwskazania miejscowe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Ostry stan zapalny i obrzęk okolicy nadgarstka.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Uszkodzenia i zmiany skórne, rany, infekcje skóry.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Świeży uraz, złamanie w obrębie ręki.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Zaawansowany zanik mięśni kłębu kciuka (konsultacja chirurgiczna).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Zakrzepica żył kończyny.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Dobór zabiegów – balneoterapia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Kąpiele lecznicze i wodolecznictwo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53665" cy="4572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6585" y="1554480"/>
            <a:ext cx="4778654" cy="4572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217078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Zabieg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313" y="1554480"/>
            <a:ext cx="45957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Działanie i cel terapeutyczny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Kąpiele solankowe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6313" y="201168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Sole mineralne działają przeciwzapalnie i przeciwbólowo, zmniejszają obrzęk i ucisk na nerw pośrodkowy.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61488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Kąpiele kwasowęglowe (CO₂)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6313" y="2761488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Rozszerzają naczynia, poprawiają mikrokrążenie i ukrwienie tkanek przedramienia.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11296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Kąpiele perełkowe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3511296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Delikatny masaż pęcherzykami powietrza – rozluźnienie mięśni i efekt relaksacyjny.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61104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61104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Kąpiel wirowa kończyny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6313" y="4261104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Masaż wirowy wody + ciepło: rozluźnienie, poprawa krążenia i trofiki tkanek.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10912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10912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Kąpiele naprzemienne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6313" y="5010912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Cieplno-zimne „gimnastyka naczyń” – poprawa mikrokrążenia, redukcja zastoju i obrzęku.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76072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Masaż podwodny / hydromasaż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576072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Strumień wody pod ciśnieniem rozluźnia mięśnie i poprawia drenaż żylno-limfatyczny.</a:t>
            </a:r>
          </a:p>
        </p:txBody>
      </p:sp>
      <p:pic>
        <p:nvPicPr>
          <p:cNvPr id="29" name="Picture 28" descr="balneoterapia.png"/>
          <p:cNvPicPr>
            <a:picLocks noChangeAspect="1"/>
          </p:cNvPicPr>
          <p:nvPr/>
        </p:nvPicPr>
        <p:blipFill>
          <a:blip r:embed="rId2"/>
          <a:srcRect l="21947" r="21947"/>
          <a:stretch>
            <a:fillRect/>
          </a:stretch>
        </p:blipFill>
        <p:spPr>
          <a:xfrm>
            <a:off x="7863840" y="1554480"/>
            <a:ext cx="3886200" cy="461772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30" name="Rectangle 29"/>
          <p:cNvSpPr/>
          <p:nvPr/>
        </p:nvSpPr>
        <p:spPr>
          <a:xfrm>
            <a:off x="7863840" y="5669280"/>
            <a:ext cx="388620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7" y="5715000"/>
            <a:ext cx="36667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Kąpiel wirowa kończyny górnej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Dobór zabiegów – peloidy i klimat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Peloidoterapia, termoterapia i balneoklimatologia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53665" cy="4572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6585" y="1554480"/>
            <a:ext cx="4778654" cy="4572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217078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Zabieg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313" y="1554480"/>
            <a:ext cx="45957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Działanie i cel terapeutyczny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„Rękawica” / okłady borowinowe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6313" y="201168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Głębokie przegrzanie + substancje biologicznie czynne: działanie przeciwzapalne i regenerujące.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61488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Fangoterapia (fango)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6313" y="2761488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Termoterapia mułem mineralnym – zmniejsza ból i napięcie tkanek okołostawowych.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11296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Okłady parafinowe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3511296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Równomierne, długotrwałe ciepło rozluźnia tkanki i zwiększa elastyczność ścięgien.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61104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61104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Inhalacje solankowe / tężnie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6313" y="4261104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Aerozol solankowy – działanie ogólnoustrojowe i regeneracyjne (element klimatoterapii).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10912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10912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Subterranoterapia / groty solne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6313" y="5010912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Mikroklimat bogaty w jod i sole – działanie relaksacyjne i przeciwzapalne.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76072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Klimatoterapia (helio-, aeroterapia)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576072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Słońce, świeże powietrze i ruch – poprawa odporności, nastroju i samopoczucia.</a:t>
            </a:r>
          </a:p>
        </p:txBody>
      </p:sp>
      <p:pic>
        <p:nvPicPr>
          <p:cNvPr id="29" name="Picture 28" descr="borowina.png"/>
          <p:cNvPicPr>
            <a:picLocks noChangeAspect="1"/>
          </p:cNvPicPr>
          <p:nvPr/>
        </p:nvPicPr>
        <p:blipFill>
          <a:blip r:embed="rId2"/>
          <a:srcRect l="21947" r="21947"/>
          <a:stretch>
            <a:fillRect/>
          </a:stretch>
        </p:blipFill>
        <p:spPr>
          <a:xfrm>
            <a:off x="7863840" y="1554480"/>
            <a:ext cx="3886200" cy="461772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30" name="Rectangle 29"/>
          <p:cNvSpPr/>
          <p:nvPr/>
        </p:nvSpPr>
        <p:spPr>
          <a:xfrm>
            <a:off x="7863840" y="5669280"/>
            <a:ext cx="388620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7" y="5715000"/>
            <a:ext cx="36667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Okład borowinowy (peloidoterapia) ręki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Dobór zabiegów – fizykoterapia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Fizykoterapia, masaż i kinezyterapia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53665" cy="4572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6585" y="1554480"/>
            <a:ext cx="4778654" cy="45720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217078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Zabieg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313" y="1554480"/>
            <a:ext cx="45957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Działanie i cel terapeutyczny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Krioterapia miejscowa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6313" y="201168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Schłodzenie tkanek – efekt przeciwbólowy i przeciwobrzękowy w fazie zaostrzenia.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61488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Ultradźwięki / fonoforeza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6313" y="2761488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Mikromasaż tkankowy, działanie przeciwbólowe i przeciwzapalne.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11296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Laseroterapia / magnetoterapia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3511296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Stymulacja regeneracji nerwu, poprawa przewodnictwa, redukcja parestezji.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61104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61104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Jonoforeza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6313" y="4261104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Wprowadzanie leków przez skórę – miejscowe działanie przeciwzapalne i przeciwbólowe.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10912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10912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Masaż przedramienia i barku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6313" y="5010912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Rozluźnienie mięśni, poprawa krążenia i drenażu, redukcja przeciążeń wtórnych.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76072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Kinezyterapia – ćwiczenia nerwu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576072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Mobilizacja nerwu i ścięgien, wzmacnianie, poprawa siły chwytu i sprawności ręki.</a:t>
            </a:r>
          </a:p>
        </p:txBody>
      </p:sp>
      <p:pic>
        <p:nvPicPr>
          <p:cNvPr id="29" name="Picture 28" descr="masaz.png"/>
          <p:cNvPicPr>
            <a:picLocks noChangeAspect="1"/>
          </p:cNvPicPr>
          <p:nvPr/>
        </p:nvPicPr>
        <p:blipFill>
          <a:blip r:embed="rId2"/>
          <a:srcRect l="21947" r="21947"/>
          <a:stretch>
            <a:fillRect/>
          </a:stretch>
        </p:blipFill>
        <p:spPr>
          <a:xfrm>
            <a:off x="7863840" y="1554480"/>
            <a:ext cx="3886200" cy="461772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30" name="Rectangle 29"/>
          <p:cNvSpPr/>
          <p:nvPr/>
        </p:nvSpPr>
        <p:spPr>
          <a:xfrm>
            <a:off x="7863840" y="5669280"/>
            <a:ext cx="388620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7" y="5715000"/>
            <a:ext cx="36667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Masaż ręki i przedramienia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Dobór zabiegów – odnowa biologiczna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Zabiegi regeneracyjne i relaksacyjne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353665" cy="4572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6585" y="1554480"/>
            <a:ext cx="4778654" cy="4572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54480"/>
            <a:ext cx="217078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Zabieg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6313" y="1554480"/>
            <a:ext cx="459577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Działanie i cel terapeutyczny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1168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Sauna fińska / na podczerwień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6313" y="201168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Przegrzanie ciała – rozluźnienie mięśni, detoksykacja i ogólna regeneracja.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61488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61488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Łaźnia parowa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6313" y="2761488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Wilgotne ciepło – poprawa krążenia, odprężenie i nawilżenie skóry.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11296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11296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Jacuzzi / hydromasaż całego ciała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3511296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Masaż wodno-powietrzny – redukcja napięcia mięśniowego i stresu.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61104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261104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Masaż relaksacyjny / aromaterapeutyczny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6313" y="4261104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Rozluźnienie, poprawa nastroju, jakości snu i samopoczucia.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10912"/>
            <a:ext cx="71323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10912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Krioterapia ogólnoustrojowa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6313" y="5010912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Krótka ekspozycja na zimno – działanie przeciwbólowe, przeciwzapalne i regeneracyjne.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760720"/>
            <a:ext cx="7132320" cy="749808"/>
          </a:xfrm>
          <a:prstGeom prst="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760720"/>
            <a:ext cx="2170785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3D5C"/>
                </a:solidFill>
                <a:latin typeface="Calibri"/>
              </a:rPr>
              <a:t>Aromaterapia i muzykoterapia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6313" y="5760720"/>
            <a:ext cx="455919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Wspomaganie relaksu i redukcja napięcia psychicznego.</a:t>
            </a:r>
          </a:p>
        </p:txBody>
      </p:sp>
      <p:pic>
        <p:nvPicPr>
          <p:cNvPr id="29" name="Picture 28" descr="odnowa.png"/>
          <p:cNvPicPr>
            <a:picLocks noChangeAspect="1"/>
          </p:cNvPicPr>
          <p:nvPr/>
        </p:nvPicPr>
        <p:blipFill>
          <a:blip r:embed="rId2"/>
          <a:srcRect l="21947" r="21947"/>
          <a:stretch>
            <a:fillRect/>
          </a:stretch>
        </p:blipFill>
        <p:spPr>
          <a:xfrm>
            <a:off x="7863840" y="1554480"/>
            <a:ext cx="3886200" cy="461772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30" name="Rectangle 29"/>
          <p:cNvSpPr/>
          <p:nvPr/>
        </p:nvSpPr>
        <p:spPr>
          <a:xfrm>
            <a:off x="7863840" y="5669280"/>
            <a:ext cx="388620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7" y="5715000"/>
            <a:ext cx="366674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Sauna i strefa relaksu (odnowa biologiczna)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Opracowanie programu terapii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Przykładowy plan tygodniowy (cykl 3 tygodni / 15 zabiegów)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783080"/>
            <a:ext cx="1920240" cy="5029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50008"/>
            <a:ext cx="1920240" cy="2697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4688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Kąpiel wirowa ręki (15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Ultradźwięki (5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Ćwiczenia ślizgowe nerwu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83080"/>
            <a:ext cx="1920240" cy="5029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350008"/>
            <a:ext cx="1920240" cy="2697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Okład borowinowy (20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Magnetoterapia (15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Sauna / relaks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783080"/>
            <a:ext cx="1920240" cy="5029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7830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Śr.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350008"/>
            <a:ext cx="1920240" cy="2697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4688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Kąpiel solankowa (15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Masaż przedramienia (15 min)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Inhalacja solankowa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1783080"/>
            <a:ext cx="1920240" cy="5029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7830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Czw.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350008"/>
            <a:ext cx="1920240" cy="2697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24688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Laseroterapia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Kinezyterapia – wzmacnianie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Ćwiczenia rozciągające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783080"/>
            <a:ext cx="1920240" cy="50292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783080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350008"/>
            <a:ext cx="1920240" cy="2697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468880"/>
            <a:ext cx="1828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Kąpiele naprzemienne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Krioterapia (wg potrzeby)</a:t>
            </a:r>
          </a:p>
          <a:p>
            <a:pPr algn="ctr">
              <a:spcAft>
                <a:spcPts val="700"/>
              </a:spcAft>
            </a:pPr>
            <a:r>
              <a:rPr sz="1050">
                <a:solidFill>
                  <a:srgbClr val="444B52"/>
                </a:solidFill>
                <a:latin typeface="Calibri"/>
              </a:rPr>
              <a:t>Aromaterapia / relaksacja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257800"/>
            <a:ext cx="10332720" cy="1097280"/>
          </a:xfrm>
          <a:prstGeom prst="roundRect">
            <a:avLst/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534924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29A9C"/>
                </a:solidFill>
                <a:latin typeface="Calibri"/>
              </a:rPr>
              <a:t>Zasady realizacji programu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6875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29A9C"/>
                </a:solidFill>
                <a:latin typeface="Calibri"/>
              </a:rPr>
              <a:t>•  </a:t>
            </a:r>
            <a:r>
              <a:rPr sz="1150">
                <a:solidFill>
                  <a:srgbClr val="444B52"/>
                </a:solidFill>
                <a:latin typeface="Calibri"/>
              </a:rPr>
              <a:t>Częstotliwość: 5 dni w tygodniu; weekend – odpoczynek i autoterapia. Czas serii: ok. 3 tygodnie (15 zabiegów).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129A9C"/>
                </a:solidFill>
                <a:latin typeface="Calibri"/>
              </a:rPr>
              <a:t>•  </a:t>
            </a:r>
            <a:r>
              <a:rPr sz="1150">
                <a:solidFill>
                  <a:srgbClr val="444B52"/>
                </a:solidFill>
                <a:latin typeface="Calibri"/>
              </a:rPr>
              <a:t>Kolejność: zabiegi cieplne / rozluźniające → terapia właściwa → kinezyterapia. Intensywność dostosowana do reakcji pacjenta.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Efekty terapeutyczne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Przewidywane rezultaty zastosowanej terapii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78308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78308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Zmniejszenie bólu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Redukcja dolegliwości bólowych nadgarstka i parestezji (drętwienia, mrowienia) palców.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78308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78308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Lepsze ukrwienie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37744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Poprawa mikrokrążenia i trofiki tkanek, zmniejszenie obrzęku i ucisku na nerw.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78308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78308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Większa sprawność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7744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Wzrost siły chwytu i precyzji ruchów, poprawa zakresu ruchomości nadgarstka.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79476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379476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Rozluźnienie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8912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Zmniejszenie napięcia mięśni przedramienia i obręczy barkowej, ustąpienie przeciążeń.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379476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2040" y="379476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59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Lepszy sen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438912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Ograniczenie nocnych dolegliwości bólowych poprawia jakość snu i regenerację.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794760"/>
            <a:ext cx="3291840" cy="1783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3794760"/>
            <a:ext cx="109728" cy="1783080"/>
          </a:xfrm>
          <a:prstGeom prst="rect">
            <a:avLst/>
          </a:prstGeom>
          <a:solidFill>
            <a:srgbClr val="F2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5C"/>
                </a:solidFill>
                <a:latin typeface="Calibri"/>
              </a:rPr>
              <a:t>Lepsze samopoczucie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38912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B52"/>
                </a:solidFill>
                <a:latin typeface="Calibri"/>
              </a:rPr>
              <a:t>Ogólna regeneracja, redukcja stresu i poprawa komfortu pracy oraz życia.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Elementy odnowy biologicznej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Dodatkowe formy regeneracji i ich znaczenie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" y="184708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0992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Ergonomia i higiena pracy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7568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Prawidłowe stanowisko, podkładka pod nadgarstek, przerwy i mikroćwiczenia co 45–60 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43984" y="184708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70992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Aktywność fizyczna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07568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Pływanie, spacery, ćwiczenia ogólnousprawniające – przeciwdziałanie skutkom pracy siedzącej.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0896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" y="335584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1868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Techniki relaksacyjne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8444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Trening relaksacyjny, ćwiczenia oddechowe i rozciągające – redukcja napięcia i stresu.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43984" y="335584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21868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Dieta i nawodnienie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58444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Dieta przeciwzapalna, wit. z grupy B; nawodnienie wspiera regenerację tkanki nerwowej.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1772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" y="486460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2744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Higiena snu i orteza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9320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Regularny sen, orteza nocna stabilizująca nadgarstek w pozycji neutralnej.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617720"/>
            <a:ext cx="361188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43984" y="4864608"/>
            <a:ext cx="502920" cy="502920"/>
          </a:xfrm>
          <a:prstGeom prst="ellipse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72744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5C"/>
                </a:solidFill>
                <a:latin typeface="Calibri"/>
              </a:rPr>
              <a:t>Edukacja zdrowotna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093208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44B52"/>
                </a:solidFill>
                <a:latin typeface="Calibri"/>
              </a:rPr>
              <a:t>Świadomość czynników ryzyka i profilaktyka nawrotów – warunek trwałości efektów.</a:t>
            </a:r>
          </a:p>
        </p:txBody>
      </p:sp>
      <p:pic>
        <p:nvPicPr>
          <p:cNvPr id="31" name="Picture 30" descr="lifestyle.png"/>
          <p:cNvPicPr>
            <a:picLocks noChangeAspect="1"/>
          </p:cNvPicPr>
          <p:nvPr/>
        </p:nvPicPr>
        <p:blipFill>
          <a:blip r:embed="rId2"/>
          <a:srcRect l="23737" r="23737"/>
          <a:stretch>
            <a:fillRect/>
          </a:stretch>
        </p:blipFill>
        <p:spPr>
          <a:xfrm>
            <a:off x="8183879" y="1600200"/>
            <a:ext cx="3566160" cy="4526280"/>
          </a:xfrm>
          <a:prstGeom prst="rect">
            <a:avLst/>
          </a:prstGeom>
          <a:ln w="25400">
            <a:solidFill>
              <a:srgbClr val="FFFFFF"/>
            </a:solidFill>
          </a:ln>
          <a:effectLst/>
        </p:spPr>
      </p:pic>
      <p:sp>
        <p:nvSpPr>
          <p:cNvPr id="32" name="Rectangle 31"/>
          <p:cNvSpPr/>
          <p:nvPr/>
        </p:nvSpPr>
        <p:spPr>
          <a:xfrm>
            <a:off x="8183879" y="5623560"/>
            <a:ext cx="3566160" cy="502920"/>
          </a:xfrm>
          <a:prstGeom prst="rect">
            <a:avLst/>
          </a:prstGeom>
          <a:solidFill>
            <a:srgbClr val="0F3D5C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7" y="5669280"/>
            <a:ext cx="334670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Zdrowy styl życia i ergonomia pracy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Podsumowanie i wnioski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Ocena skuteczności i możliwości modyfikacji terapii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9A9C"/>
                </a:solidFill>
                <a:latin typeface="Calibri"/>
              </a:rPr>
              <a:t>Ocena skuteczności programu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29A9C"/>
                </a:solidFill>
                <a:latin typeface="Calibri"/>
              </a:rPr>
              <a:t>•  </a:t>
            </a:r>
            <a:r>
              <a:rPr sz="1500">
                <a:solidFill>
                  <a:srgbClr val="444B52"/>
                </a:solidFill>
                <a:latin typeface="Calibri"/>
              </a:rPr>
              <a:t>Kompleksowe leczenie zachowawcze (balneoterapia + fizykoterapia + kinezyterapia + odnowa biologiczna) skutecznie zmniejsza objawy łagodnego i umiarkowanego zespołu cieśni nadgarstka.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29A9C"/>
                </a:solidFill>
                <a:latin typeface="Calibri"/>
              </a:rPr>
              <a:t>•  </a:t>
            </a:r>
            <a:r>
              <a:rPr sz="1500">
                <a:solidFill>
                  <a:srgbClr val="444B52"/>
                </a:solidFill>
                <a:latin typeface="Calibri"/>
              </a:rPr>
              <a:t>Połączenie zabiegów miejscowych z modyfikacją stylu życia i ergonomii pracy daje trwalsze efekty niż samo leczenie objawowe.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29A9C"/>
                </a:solidFill>
                <a:latin typeface="Calibri"/>
              </a:rPr>
              <a:t>•  </a:t>
            </a:r>
            <a:r>
              <a:rPr sz="1500">
                <a:solidFill>
                  <a:srgbClr val="444B52"/>
                </a:solidFill>
                <a:latin typeface="Calibri"/>
              </a:rPr>
              <a:t>Wczesne wdrożenie terapii zmniejsza ryzyko progresji i potrzeby leczenia operacyjnego.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9A9C"/>
                </a:solidFill>
                <a:latin typeface="Calibri"/>
              </a:rPr>
              <a:t>Możliwości modyfikacji terapii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29A9C"/>
                </a:solidFill>
                <a:latin typeface="Calibri"/>
              </a:rPr>
              <a:t>•  </a:t>
            </a:r>
            <a:r>
              <a:rPr sz="1500">
                <a:solidFill>
                  <a:srgbClr val="444B52"/>
                </a:solidFill>
                <a:latin typeface="Calibri"/>
              </a:rPr>
              <a:t>Program należy monitorować i dostosowywać do reakcji oraz postępów pacjenta (intensywność, dobór i liczba zabiegów).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129A9C"/>
                </a:solidFill>
                <a:latin typeface="Calibri"/>
              </a:rPr>
              <a:t>•  </a:t>
            </a:r>
            <a:r>
              <a:rPr sz="1500">
                <a:solidFill>
                  <a:srgbClr val="444B52"/>
                </a:solidFill>
                <a:latin typeface="Calibri"/>
              </a:rPr>
              <a:t>Brak poprawy lub nasilenie objawów / zanik mięśni → konsultacja neurologiczna i chirurgiczna (EMG, ewentualne leczenie operacyjne).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749808" cy="749808"/>
          </a:xfrm>
          <a:prstGeom prst="ellipse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F3D5C"/>
                </a:solidFill>
                <a:latin typeface="Calibri"/>
              </a:rPr>
              <a:t>Bibliografia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89611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29A9C"/>
                </a:solidFill>
                <a:latin typeface="Calibri"/>
              </a:rPr>
              <a:t>Literatura podstawowa i uzupełniająca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98448"/>
            <a:ext cx="10332720" cy="2540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A9C"/>
                </a:solidFill>
                <a:latin typeface="Calibri"/>
              </a:rPr>
              <a:t>Literatura podstawowa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Straburzyński G., Straburzyńska-Lupa A.: Medycyna fizykalna. PZWL, Warszawa 2000.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Ponikowska I., Ferson D.: Nowoczesna Medycyna Uzdrowiskowa. Medi Press, Warszawa 2009.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Kasprzak W.: Fizjoterapia kliniczna. PZWL, Warszawa 2011.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Kasprzak W., Mańkowska A.: Fizykoterapia, medycyna uzdrowiskowa i SPA. PZWL, Warszawa 2010.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9A9C"/>
                </a:solidFill>
                <a:latin typeface="Calibri"/>
              </a:rPr>
              <a:t>Literatura uzupełniająca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091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Ponikowska J.: Kompendium balneologii: rekomendacje krajowego konsultanta. Toruń 2012.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129A9C"/>
                </a:solidFill>
                <a:latin typeface="Calibri"/>
              </a:rPr>
              <a:t>•  </a:t>
            </a:r>
            <a:r>
              <a:rPr sz="1400">
                <a:solidFill>
                  <a:srgbClr val="444B52"/>
                </a:solidFill>
                <a:latin typeface="Calibri"/>
              </a:rPr>
              <a:t>Kochański J. W.: Balneologia i hydroterapia. Wydawnictwo AWF, Wrocław 2002.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lo_koniec.pn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03904" y="3886200"/>
            <a:ext cx="4572000" cy="45720"/>
          </a:xfrm>
          <a:prstGeom prst="rect">
            <a:avLst/>
          </a:prstGeom>
          <a:solidFill>
            <a:srgbClr val="129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D9EAEA"/>
                </a:solidFill>
                <a:latin typeface="Calibri"/>
              </a:rPr>
              <a:t>Indywidualny program zabiegów fizykalnych – zespół cieśni nadgarstka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2A13B"/>
                </a:solidFill>
                <a:latin typeface="Calibri"/>
              </a:rPr>
              <a:t>Ernest Kurdziel  •  nr albumu 72714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