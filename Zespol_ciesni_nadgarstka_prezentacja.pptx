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36576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9A9C"/>
                </a:solidFill>
                <a:latin typeface="Calibri"/>
              </a:rPr>
              <a:t>BALNEOKLIMATOLOGIA I ODNOWA BIOLOGICZNA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Indywidualny program zabiegów fizykalnych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2A13B"/>
                </a:solidFill>
                <a:latin typeface="Calibri"/>
              </a:rPr>
              <a:t>Przypadek kliniczny: pacjent z zespołem cieśni nadgarstka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E3F4F4"/>
                </a:solidFill>
                <a:latin typeface="Calibri"/>
              </a:rPr>
              <a:t>Opracowanie indywidualnego programu w ramach balneoterapii i odnowy biologicznej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A9C4D4"/>
                </a:solidFill>
                <a:latin typeface="Calibri"/>
              </a:rPr>
              <a:t>Imię i nazwisko  •  kierunek studiów  •  rok akademicki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Plan prezentacji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92024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8483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1.  Charakterystyka pacjenta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97180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313639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2.  Analiza wskazań i przeciwwskazań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402336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18795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3.  Dobór zabiegów fizykalnych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5074919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5239511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4.  Opracowanie programu terapii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2024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08483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5.  Efekty terapeutyczne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97180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13639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6.  Elementy odnowy biologicznej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023360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187952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7.  Podsumowanie i wnioski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074919"/>
            <a:ext cx="475488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239511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3D5C"/>
                </a:solidFill>
                <a:latin typeface="Calibri"/>
              </a:rPr>
              <a:t>8.  Bibliografia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Charakterystyka pacjenta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Dane podstawowe, tryb życia i rozpoznanie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1645920"/>
            <a:ext cx="420624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182880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9A9C"/>
                </a:solidFill>
                <a:latin typeface="Calibri"/>
              </a:rPr>
              <a:t>Dane podstawowe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33172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3D5C"/>
                </a:solidFill>
                <a:latin typeface="Calibri"/>
              </a:rPr>
              <a:t>Wiek: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624327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44B52"/>
                </a:solidFill>
                <a:latin typeface="Calibri"/>
              </a:rPr>
              <a:t>39 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081527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3D5C"/>
                </a:solidFill>
                <a:latin typeface="Calibri"/>
              </a:rPr>
              <a:t>Płeć: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374135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44B52"/>
                </a:solidFill>
                <a:latin typeface="Calibri"/>
              </a:rPr>
              <a:t>mężczyzna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831335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3D5C"/>
                </a:solidFill>
                <a:latin typeface="Calibri"/>
              </a:rPr>
              <a:t>Zawód: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123944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44B52"/>
                </a:solidFill>
                <a:latin typeface="Calibri"/>
              </a:rPr>
              <a:t>informatyk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581144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3D5C"/>
                </a:solidFill>
                <a:latin typeface="Calibri"/>
              </a:rPr>
              <a:t>Praca: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873752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44B52"/>
                </a:solidFill>
                <a:latin typeface="Calibri"/>
              </a:rPr>
              <a:t>ponad 8 h dziennie przy komputerze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33095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3D5C"/>
                </a:solidFill>
                <a:latin typeface="Calibri"/>
              </a:rPr>
              <a:t>Tryb życia: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62356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44B52"/>
                </a:solidFill>
                <a:latin typeface="Calibri"/>
              </a:rPr>
              <a:t>siedzący, niska aktywność fizyczna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9A9C"/>
                </a:solidFill>
                <a:latin typeface="Calibri"/>
              </a:rPr>
              <a:t>Rozpoznanie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10312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Zespół cieśni nadgarstka (ucisk nerwu pośrodkowego w kanale nadgarstka) prawej ręki.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9A9C"/>
                </a:solidFill>
                <a:latin typeface="Calibri"/>
              </a:rPr>
              <a:t>Dolegliwości i ograniczenia funkcjonalne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52044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Drętwienie i mrowienie palców prawej dłoni.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Nasilenie objawów w nocy oraz podczas pracy przy klawiaturze.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Ból nadgarstka, osłabienie siły chwytu.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Trudności w wykonywaniu precyzyjnych czynności manualnych.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Przeciążenie wynikające z monotonnej, statycznej pozycji.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Analiza wskazań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Wskazania do zastosowania zabiegów fizykalnych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69164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Zespół cieśni nadgarstka o łagodnym / umiarkowanym nasileniu (bez wskazań do leczenia operacyjnego).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Dolegliwości bólowe i parestezje (drętwienie, mrowienie).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Stan przeciążeniowy ścięgien i pochewek w okolicy nadgarstka.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Osłabienie siły mięśniowej i obniżona sprawność manualna ręki.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Przewlekłe napięcie mięśniowe obręczy barkowej i przedramienia wynikające z pracy siedzącej.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129A9C"/>
                </a:solidFill>
                <a:latin typeface="Calibri"/>
              </a:rPr>
              <a:t>•  </a:t>
            </a:r>
            <a:r>
              <a:rPr sz="1800">
                <a:solidFill>
                  <a:srgbClr val="444B52"/>
                </a:solidFill>
                <a:latin typeface="Calibri"/>
              </a:rPr>
              <a:t>Profilaktyka wtórna – zapobieganie nawrotom i progresji objawów.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5257800"/>
            <a:ext cx="10058400" cy="1097280"/>
          </a:xfrm>
          <a:prstGeom prst="round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5394960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9A9C"/>
                </a:solidFill>
                <a:latin typeface="Calibri"/>
              </a:rPr>
              <a:t>Uzasadnienie wyboru metod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574243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44B52"/>
                </a:solidFill>
                <a:latin typeface="Calibri"/>
              </a:rPr>
              <a:t>Metody fizykalne działają przeciwbólowo, przeciwzapalnie i przeciwobrzękowo, poprawiają ukrwienie oraz zmniejszają ucisk na nerw pośrodkowy – są leczeniem zachowawczym pierwszego wyboru.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Przeciwwskazania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Przeciwwskazania ogólne i miejscowe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1691640"/>
            <a:ext cx="4937760" cy="4434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1691640"/>
            <a:ext cx="4937760" cy="54864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Przeciwwskazania ogólne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4231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Choroba nowotworowa (czynna).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Stany gorączkowe i ostre infekcje.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Niewydolność krążenia i ciężkie choroby serca.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Skłonność do krwawień, leczenie przeciwkrzepliwe.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Ciąża (dla wybranych zabiegów).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Rozrusznik serca (zabiegi elektro- i magnetoterapii).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691640"/>
            <a:ext cx="4937760" cy="4434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691640"/>
            <a:ext cx="4937760" cy="54864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Przeciwwskazania miejscowe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42316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Ostry stan zapalny i obrzęk w okolicy nadgarstka.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Uszkodzenia i zmiany skórne, rany, infekcje skóry.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Świeży uraz, złamanie w obrębie ręki.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Zaawansowany zanik mięśni kłębu kciuka (wskazanie do konsultacji chirurgicznej).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Zakrzepica żył kończyny.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Dobór zabiegów fizykalnych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Balneoterapia, hydroterapia i zabiegi cieplne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1691640"/>
            <a:ext cx="3657600" cy="45720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0" y="1691640"/>
            <a:ext cx="3657600" cy="45720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0" y="1691640"/>
            <a:ext cx="2834640" cy="45720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746504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Zabieg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746504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Mechanizm działania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Cel terapeutyczny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148840"/>
            <a:ext cx="10149840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221992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3D5C"/>
                </a:solidFill>
                <a:latin typeface="Calibri"/>
              </a:rPr>
              <a:t>Kąpiele solankowe / borowinowe ręki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21992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Działanie przeciwbólowe, przeciwzapalne, poprawa ukrwienia tkanek.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221992"/>
            <a:ext cx="265176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Zmniejszenie obrzęku i ucisku na nerw pośrodkowy.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3227832"/>
            <a:ext cx="10149840" cy="1078992"/>
          </a:xfrm>
          <a:prstGeom prst="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3300984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3D5C"/>
                </a:solidFill>
                <a:latin typeface="Calibri"/>
              </a:rPr>
              <a:t>Kąpiel wirowa kończyny górnej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300984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Delikatny masaż wodny + ciepło – rozluźnienie i lepsze krążenie.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300984"/>
            <a:ext cx="265176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Redukcja napięcia mięśni przedramienia, poprawa trofiki.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4306824"/>
            <a:ext cx="10149840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4379976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3D5C"/>
                </a:solidFill>
                <a:latin typeface="Calibri"/>
              </a:rPr>
              <a:t>Okłady borowinowe (zawijania)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379976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Głębokie, długotrwałe przegrzanie + składniki biologicznie czynne.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379976"/>
            <a:ext cx="265176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Działanie przeciwzapalne i regenerujące tkanki okołostawowe.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5385816"/>
            <a:ext cx="10149840" cy="1078992"/>
          </a:xfrm>
          <a:prstGeom prst="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5458968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3D5C"/>
                </a:solidFill>
                <a:latin typeface="Calibri"/>
              </a:rPr>
              <a:t>Kąpiele naprzemienne (cieplno-zimne)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458968"/>
            <a:ext cx="347472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Naprzemienne rozszerzanie i obkurczanie naczyń – „gimnastyka naczyń”.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458968"/>
            <a:ext cx="2651760" cy="987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Poprawa mikrokrążenia, zmniejszenie zastoju i obrzęku.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Dobór zabiegów fizykalnych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Fizykoterapia, masaż i kinezyterapia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1691640"/>
            <a:ext cx="3657600" cy="4572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0" y="1691640"/>
            <a:ext cx="3657600" cy="4572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0" y="1691640"/>
            <a:ext cx="2834640" cy="4572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746504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Zabieg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746504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Mechanizm działania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74650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Cel terapeutyczny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148840"/>
            <a:ext cx="101498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19456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3D5C"/>
                </a:solidFill>
                <a:latin typeface="Calibri"/>
              </a:rPr>
              <a:t>Krioterapia miejscowa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19456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Krótkotrwałe schłodzenie – efekt przeciwbólowy i przeciwobrzękowy.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194560"/>
            <a:ext cx="265176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Ograniczenie stanu zapalnego pochewek ścięgnistych.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3017520"/>
            <a:ext cx="10149840" cy="868680"/>
          </a:xfrm>
          <a:prstGeom prst="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3063239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3D5C"/>
                </a:solidFill>
                <a:latin typeface="Calibri"/>
              </a:rPr>
              <a:t>Ultradźwięki / fonoforeza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063239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Mikromasaż tkankowy, działanie przeciwbólowe i przeciwzapalne.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63239"/>
            <a:ext cx="265176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Zmniejszenie dolegliwości w obrębie kanału nadgarstka.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3886200"/>
            <a:ext cx="101498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393192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3D5C"/>
                </a:solidFill>
                <a:latin typeface="Calibri"/>
              </a:rPr>
              <a:t>Laseroterapia / magnetoterapia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93192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Stymulacja regeneracji nerwu, działanie przeciwzapalne.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931920"/>
            <a:ext cx="265176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Poprawa przewodnictwa nerwowego, redukcja parestezji.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4754880"/>
            <a:ext cx="10149840" cy="868680"/>
          </a:xfrm>
          <a:prstGeom prst="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480060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3D5C"/>
                </a:solidFill>
                <a:latin typeface="Calibri"/>
              </a:rPr>
              <a:t>Masaż przedramienia i obręczy barkowej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80060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Rozluźnienie mięśni, poprawa krążenia i drenażu.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800600"/>
            <a:ext cx="265176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Zmniejszenie napięcia i przeciążeń wtórnych.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5623560"/>
            <a:ext cx="101498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66928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3D5C"/>
                </a:solidFill>
                <a:latin typeface="Calibri"/>
              </a:rPr>
              <a:t>Kinezyterapia – ćwiczenia ślizgowe nerwu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669280"/>
            <a:ext cx="347472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Mobilizacja nerwu i ścięgien, ćwiczenia wzmacniające.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5669280"/>
            <a:ext cx="2651760" cy="8229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44B52"/>
                </a:solidFill>
                <a:latin typeface="Calibri"/>
              </a:rPr>
              <a:t>Poprawa ruchomości, siły chwytu i sprawności ręki.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Opracowanie programu terapii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Przykładowy plan tygodniowy (cykl 3 tygodni / 15 zabiegów)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1883663" cy="50292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901952"/>
            <a:ext cx="18836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395728"/>
            <a:ext cx="1883663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487168"/>
            <a:ext cx="179222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Kąpiel wirowa ręki (15 min)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Ultradźwięki (5 min)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Ćwiczenia ślizgowe nerwu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1828800"/>
            <a:ext cx="1883663" cy="50292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1901952"/>
            <a:ext cx="18836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Wt.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9584" y="2395728"/>
            <a:ext cx="1883663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303" y="2487168"/>
            <a:ext cx="179222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Okład borowinowy (20 min)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Magnetoterapia (15 min)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7" y="1828800"/>
            <a:ext cx="1883663" cy="50292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6127" y="1901952"/>
            <a:ext cx="18836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Śr.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96127" y="2395728"/>
            <a:ext cx="1883663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1847" y="2487168"/>
            <a:ext cx="179222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Kąpiel solankowa (15 min)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Masaż przedramienia (15 min)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62671" y="1828800"/>
            <a:ext cx="1883663" cy="50292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1" y="1901952"/>
            <a:ext cx="18836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Czw.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62671" y="2395728"/>
            <a:ext cx="1883663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2487168"/>
            <a:ext cx="179222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Laseroterapia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Kinezyterapia – wzmacnianie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Ćwiczenia rozciągające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9215" y="1828800"/>
            <a:ext cx="1883663" cy="50292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5" y="1901952"/>
            <a:ext cx="188366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29215" y="2395728"/>
            <a:ext cx="1883663" cy="2651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74936" y="2487168"/>
            <a:ext cx="179222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Kąpiele naprzemienne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Krioterapia (w razie bólu)</a:t>
            </a:r>
          </a:p>
          <a:p>
            <a:pPr algn="ctr">
              <a:spcAft>
                <a:spcPts val="600"/>
              </a:spcAft>
            </a:pPr>
            <a:r>
              <a:rPr sz="1050">
                <a:solidFill>
                  <a:srgbClr val="444B52"/>
                </a:solidFill>
                <a:latin typeface="Calibri"/>
              </a:rPr>
              <a:t>Relaksacja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5212080"/>
            <a:ext cx="10149840" cy="1143000"/>
          </a:xfrm>
          <a:prstGeom prst="roundRect">
            <a:avLst/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91640" y="5321808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29A9C"/>
                </a:solidFill>
                <a:latin typeface="Calibri"/>
              </a:rPr>
              <a:t>Zasady realizacji programu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669280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129A9C"/>
                </a:solidFill>
                <a:latin typeface="Calibri"/>
              </a:rPr>
              <a:t>•  </a:t>
            </a:r>
            <a:r>
              <a:rPr sz="1150">
                <a:solidFill>
                  <a:srgbClr val="444B52"/>
                </a:solidFill>
                <a:latin typeface="Calibri"/>
              </a:rPr>
              <a:t>Częstotliwość: 5 dni w tygodniu; weekend – odpoczynek i autoterapia (ćwiczenia, higiena pracy). Czas serii: ok. 3 tygodnie (15 zabiegów).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129A9C"/>
                </a:solidFill>
                <a:latin typeface="Calibri"/>
              </a:rPr>
              <a:t>•  </a:t>
            </a:r>
            <a:r>
              <a:rPr sz="1150">
                <a:solidFill>
                  <a:srgbClr val="444B52"/>
                </a:solidFill>
                <a:latin typeface="Calibri"/>
              </a:rPr>
              <a:t>Kolejność: zabiegi cieplne / rozluźniające → terapia właściwa → kinezyterapia. Intensywność dostosowana do reakcji i stanu pacjenta.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Efekty terapeutyczne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Przewidywane rezultaty zastosowanej terapii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54480" y="182880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54480" y="182880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Zmniejszenie bólu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2316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Redukcja dolegliwości bólowych nadgarstka i parestezji (drętwienia, mrowienia) palców.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82880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0" y="182880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96596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Lepsze ukrwienie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42316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Poprawa mikrokrążenia i trofiki tkanek, zmniejszenie obrzęku i ucisku na nerw pośrodkowy.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19" y="182880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19" y="182880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96596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Większa sprawność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42316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Wzrost siły chwytu i precyzji ruchów, poprawa zakresu ruchomości nadgarstka.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84048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384048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4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Rozluźnienie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34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Zmniejszenie napięcia mięśni przedramienia i obręczy barkowej, ustąpienie przeciążeń.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84048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0" y="384048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397764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Lepszy sen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4434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Ograniczenie nocnych dolegliwości bólowych poprawia jakość snu i regenerację.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19" y="3840480"/>
            <a:ext cx="3246120" cy="1783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19" y="3840480"/>
            <a:ext cx="109728" cy="1783080"/>
          </a:xfrm>
          <a:prstGeom prst="rect">
            <a:avLst/>
          </a:prstGeom>
          <a:solidFill>
            <a:srgbClr val="F2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397764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3D5C"/>
                </a:solidFill>
                <a:latin typeface="Calibri"/>
              </a:rPr>
              <a:t>Lepsze samopoczucie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434840"/>
            <a:ext cx="283463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44B52"/>
                </a:solidFill>
                <a:latin typeface="Calibri"/>
              </a:rPr>
              <a:t>Ogólna regeneracja, redukcja stresu i poprawa komfortu pracy oraz życia.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Elementy odnowy biologicznej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Dodatkowe formy regeneracji i ich znaczenie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54480" y="1783080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9072" y="203911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892807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Ergonomia i higiena pracy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28600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Prawidłowe ustawienie stanowiska, podkładka pod nadgarstek, regularne przerwy i mikroćwiczenia co 45–60 min.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783080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85432" y="203911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892807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Aktywność fizyczna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28600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Regularny ruch (pływanie, spacery), ćwiczenia ogólnousprawniające – przeciwdziałanie skutkom siedzącego trybu życia.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3291839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719072" y="354787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401568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Techniki relaksacyjne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794759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Trening relaksacyjny, ćwiczenia oddechowe i rozciągające – redukcja napięcia mięśniowego i stresu.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291839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85432" y="354787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401568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Dieta i nawodnienie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794759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Dieta przeciwzapalna, bogata w wit. z grupy B; odpowiednie nawodnienie wspiera regenerację tkanki nerwowej.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4800600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19072" y="505663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910328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Higiena snu i odpoczynek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30352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Regularny sen, unikanie spania z mocno zgiętym nadgarstkiem, orteza nocna stabilizująca rękę.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4800600"/>
            <a:ext cx="4983480" cy="1325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85432" y="5056632"/>
            <a:ext cx="502920" cy="502920"/>
          </a:xfrm>
          <a:prstGeom prst="ellipse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910328"/>
            <a:ext cx="39776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3D5C"/>
                </a:solidFill>
                <a:latin typeface="Calibri"/>
              </a:rPr>
              <a:t>Edukacja zdrowotna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530352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44B52"/>
                </a:solidFill>
                <a:latin typeface="Calibri"/>
              </a:rPr>
              <a:t>Świadomość czynników ryzyka i profilaktyka nawrotów – warunek trwałości efektów terapii.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Podsumowanie i wnioski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Ocena skuteczności i możliwości modyfikacji terapii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691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9A9C"/>
                </a:solidFill>
                <a:latin typeface="Calibri"/>
              </a:rPr>
              <a:t>Ocena skuteczności programu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488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Kompleksowe leczenie zachowawcze (balneoterapia + fizykoterapia + kinezyterapia + odnowa biologiczna) skutecznie zmniejsza objawy łagodnego i umiarkowanego zespołu cieśni nadgarstka.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Połączenie zabiegów miejscowych z modyfikacją stylu życia i ergonomii pracy daje trwalsze efekty niż samo leczenie objawowe.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Wczesne wdrożenie terapii zmniejsza ryzyko progresji i potrzeby leczenia operacyjnego.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9A9C"/>
                </a:solidFill>
                <a:latin typeface="Calibri"/>
              </a:rPr>
              <a:t>Możliwości modyfikacji terapii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50292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Program należy monitorować i dostosowywać do reakcji oraz postępów pacjenta (intensywność, dobór i liczba zabiegów).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129A9C"/>
                </a:solidFill>
                <a:latin typeface="Calibri"/>
              </a:rPr>
              <a:t>•  </a:t>
            </a:r>
            <a:r>
              <a:rPr sz="1500">
                <a:solidFill>
                  <a:srgbClr val="444B52"/>
                </a:solidFill>
                <a:latin typeface="Calibri"/>
              </a:rPr>
              <a:t>Brak poprawy lub nasilenie objawów / zanik mięśni → konsultacja neurologiczna i chirurgiczna (EMG, ewentualne leczenie operacyjne).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" y="411480"/>
            <a:ext cx="777240" cy="777240"/>
          </a:xfrm>
          <a:prstGeom prst="ellipse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8404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3D5C"/>
                </a:solidFill>
                <a:latin typeface="Calibri"/>
              </a:rPr>
              <a:t>Bibliografia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9601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129A9C"/>
                </a:solidFill>
                <a:latin typeface="Calibri"/>
              </a:rPr>
              <a:t>Literatura podstawowa i uzupełniająca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10149840" cy="25400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9A9C"/>
                </a:solidFill>
                <a:latin typeface="Calibri"/>
              </a:rPr>
              <a:t>Literatura podstawowa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5740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Straburzyński G., Straburzyńska-Lupa A.: Medycyna fizykalna. PZWL, Warszawa 2000.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Ponikowska I., Ferson D.: Nowoczesna Medycyna Uzdrowiskowa. Medi Press, Warszawa 2009.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Kasprzak W.: Fizjoterapia kliniczna. PZWL, Warszawa 2011.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Kasprzak W., Mańkowska A.: Fizykoterapia, medycyna uzdrowiskowa i SPA. PZWL, Warszawa 2010.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343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9A9C"/>
                </a:solidFill>
                <a:latin typeface="Calibri"/>
              </a:rPr>
              <a:t>Literatura uzupełniająca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Ponikowska J.: Kompendium balneologii: rekomendacje krajowego konsultanta. Toruń 2012.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129A9C"/>
                </a:solidFill>
                <a:latin typeface="Calibri"/>
              </a:rPr>
              <a:t>•  </a:t>
            </a:r>
            <a:r>
              <a:rPr sz="1400">
                <a:solidFill>
                  <a:srgbClr val="444B52"/>
                </a:solidFill>
                <a:latin typeface="Calibri"/>
              </a:rPr>
              <a:t>Kochański J. W.: Balneologia i hydroterapia. Wydawnictwo AWF, Wrocław 2002.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129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Dziękuję za uwagę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1">
                <a:solidFill>
                  <a:srgbClr val="E3F4F4"/>
                </a:solidFill>
                <a:latin typeface="Calibri"/>
              </a:rPr>
              <a:t>Indywidualny program zabiegów fizykalnych – zespół cieśni nadgarstka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