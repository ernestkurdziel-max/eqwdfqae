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680960" y="-1463040"/>
            <a:ext cx="5943600" cy="5943600"/>
          </a:xfrm>
          <a:prstGeom prst="ellipse">
            <a:avLst/>
          </a:prstGeom>
          <a:solidFill>
            <a:srgbClr val="0F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966960" y="3931920"/>
            <a:ext cx="3108960" cy="3108960"/>
          </a:xfrm>
          <a:prstGeom prst="ellipse">
            <a:avLst/>
          </a:prstGeom>
          <a:solidFill>
            <a:srgbClr val="11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4920"/>
            <a:ext cx="12191695" cy="1783080"/>
          </a:xfrm>
          <a:prstGeom prst="rect">
            <a:avLst/>
          </a:prstGeom>
          <a:solidFill>
            <a:srgbClr val="0A3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983480"/>
            <a:ext cx="12191695" cy="109728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818120" y="1051560"/>
            <a:ext cx="3611880" cy="3611880"/>
          </a:xfrm>
          <a:prstGeom prst="ellipse">
            <a:avLst/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g_lu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19" y="1280160"/>
            <a:ext cx="3145536" cy="3145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502920"/>
            <a:ext cx="8686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3F2F4"/>
                </a:solidFill>
                <a:latin typeface="Calibri"/>
              </a:rPr>
              <a:t>KLINICZNE PODSTAWY FIZJOTERAPII W PULMONOLOGII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554480"/>
            <a:ext cx="685800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Zasady planowania i programowania fizjoterapii pacjentów z chorobami układu oddechowego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23360"/>
            <a:ext cx="5394960" cy="777240"/>
          </a:xfrm>
          <a:prstGeom prst="round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023360"/>
            <a:ext cx="52120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Jednostka chorobowa: ASTMA OSKRZELOWA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2578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E3F2F4"/>
                </a:solidFill>
                <a:latin typeface="Calibri"/>
              </a:rPr>
              <a:t>Metody badania pacjenta  •  Cele terapii  •  Plan i program fizjoterapii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89788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FC9D1"/>
                </a:solidFill>
                <a:latin typeface="Calibri"/>
              </a:rPr>
              <a:t>Praca projektowa  |  Fizjoterapia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-1005840" y="4754880"/>
            <a:ext cx="2377440" cy="2377440"/>
          </a:xfrm>
          <a:prstGeom prst="ellipse">
            <a:avLst/>
          </a:prstGeom>
          <a:solidFill>
            <a:srgbClr val="E8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84080" y="4297680"/>
            <a:ext cx="3291840" cy="3291840"/>
          </a:xfrm>
          <a:prstGeom prst="ellipse">
            <a:avLst/>
          </a:prstGeom>
          <a:solidFill>
            <a:srgbClr val="DD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6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"/>
            <a:ext cx="107899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Plan prezentacji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7" y="71323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E3F2F4"/>
                </a:solidFill>
                <a:latin typeface="Calibri"/>
              </a:rPr>
              <a:t>Zakres omawianych zagadnień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1908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5560"/>
                </a:solidFill>
                <a:latin typeface="Calibri"/>
              </a:rPr>
              <a:t>Astma oskrzelowa – planowanie i programowanie fizjoterapii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4A5560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371600"/>
            <a:ext cx="5486400" cy="4480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1371600"/>
            <a:ext cx="5486400" cy="4480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15544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3C5D"/>
                </a:solidFill>
                <a:latin typeface="Calibri"/>
              </a:rPr>
              <a:t>Część teoretyczna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5544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3C5D"/>
                </a:solidFill>
                <a:latin typeface="Calibri"/>
              </a:rPr>
              <a:t>Część fizjoterapeutyczna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148840"/>
            <a:ext cx="49377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148F9E"/>
                </a:solidFill>
                <a:latin typeface="Calibri"/>
              </a:rPr>
              <a:t>•  </a:t>
            </a:r>
            <a:r>
              <a:rPr sz="1600">
                <a:solidFill>
                  <a:srgbClr val="222B33"/>
                </a:solidFill>
                <a:latin typeface="Calibri"/>
              </a:rPr>
              <a:t>Definicja i epidemiologia astmy oskrzelowej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148F9E"/>
                </a:solidFill>
                <a:latin typeface="Calibri"/>
              </a:rPr>
              <a:t>•  </a:t>
            </a:r>
            <a:r>
              <a:rPr sz="1600">
                <a:solidFill>
                  <a:srgbClr val="222B33"/>
                </a:solidFill>
                <a:latin typeface="Calibri"/>
              </a:rPr>
              <a:t>Etiologia i czynniki ryzyka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148F9E"/>
                </a:solidFill>
                <a:latin typeface="Calibri"/>
              </a:rPr>
              <a:t>•  </a:t>
            </a:r>
            <a:r>
              <a:rPr sz="1600">
                <a:solidFill>
                  <a:srgbClr val="222B33"/>
                </a:solidFill>
                <a:latin typeface="Calibri"/>
              </a:rPr>
              <a:t>Patofizjologia i obraz kliniczny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148F9E"/>
                </a:solidFill>
                <a:latin typeface="Calibri"/>
              </a:rPr>
              <a:t>•  </a:t>
            </a:r>
            <a:r>
              <a:rPr sz="1600">
                <a:solidFill>
                  <a:srgbClr val="222B33"/>
                </a:solidFill>
                <a:latin typeface="Calibri"/>
              </a:rPr>
              <a:t>Klasyfikacja i przebieg choroby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148F9E"/>
                </a:solidFill>
                <a:latin typeface="Calibri"/>
              </a:rPr>
              <a:t>•  </a:t>
            </a:r>
            <a:r>
              <a:rPr sz="1600">
                <a:solidFill>
                  <a:srgbClr val="222B33"/>
                </a:solidFill>
                <a:latin typeface="Calibri"/>
              </a:rPr>
              <a:t>Diagnostyka lekarska – rozpoznanie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148F9E"/>
                </a:solidFill>
                <a:latin typeface="Calibri"/>
              </a:rPr>
              <a:t>•  </a:t>
            </a:r>
            <a:r>
              <a:rPr sz="1600">
                <a:solidFill>
                  <a:srgbClr val="222B33"/>
                </a:solidFill>
                <a:latin typeface="Calibri"/>
              </a:rPr>
              <a:t>Metody badania pacjenta w fizjoterapii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148840"/>
            <a:ext cx="49377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148F9E"/>
                </a:solidFill>
                <a:latin typeface="Calibri"/>
              </a:rPr>
              <a:t>•  </a:t>
            </a:r>
            <a:r>
              <a:rPr sz="1600">
                <a:solidFill>
                  <a:srgbClr val="222B33"/>
                </a:solidFill>
                <a:latin typeface="Calibri"/>
              </a:rPr>
              <a:t>Cele fizjoterapii w astmie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148F9E"/>
                </a:solidFill>
                <a:latin typeface="Calibri"/>
              </a:rPr>
              <a:t>•  </a:t>
            </a:r>
            <a:r>
              <a:rPr sz="1600">
                <a:solidFill>
                  <a:srgbClr val="222B33"/>
                </a:solidFill>
                <a:latin typeface="Calibri"/>
              </a:rPr>
              <a:t>Zasady planowania terapii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148F9E"/>
                </a:solidFill>
                <a:latin typeface="Calibri"/>
              </a:rPr>
              <a:t>•  </a:t>
            </a:r>
            <a:r>
              <a:rPr sz="1600">
                <a:solidFill>
                  <a:srgbClr val="222B33"/>
                </a:solidFill>
                <a:latin typeface="Calibri"/>
              </a:rPr>
              <a:t>Zasady programowania terapii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148F9E"/>
                </a:solidFill>
                <a:latin typeface="Calibri"/>
              </a:rPr>
              <a:t>•  </a:t>
            </a:r>
            <a:r>
              <a:rPr sz="1600">
                <a:solidFill>
                  <a:srgbClr val="222B33"/>
                </a:solidFill>
                <a:latin typeface="Calibri"/>
              </a:rPr>
              <a:t>Środki i metody fizjoterapeutyczne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148F9E"/>
                </a:solidFill>
                <a:latin typeface="Calibri"/>
              </a:rPr>
              <a:t>•  </a:t>
            </a:r>
            <a:r>
              <a:rPr sz="1600">
                <a:solidFill>
                  <a:srgbClr val="222B33"/>
                </a:solidFill>
                <a:latin typeface="Calibri"/>
              </a:rPr>
              <a:t>Przykładowy plan terapii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148F9E"/>
                </a:solidFill>
                <a:latin typeface="Calibri"/>
              </a:rPr>
              <a:t>•  </a:t>
            </a:r>
            <a:r>
              <a:rPr sz="1600">
                <a:solidFill>
                  <a:srgbClr val="222B33"/>
                </a:solidFill>
                <a:latin typeface="Calibri"/>
              </a:rPr>
              <a:t>Ocena efektów, wnioski, bibliografia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-1005840" y="4754880"/>
            <a:ext cx="2377440" cy="2377440"/>
          </a:xfrm>
          <a:prstGeom prst="ellipse">
            <a:avLst/>
          </a:prstGeom>
          <a:solidFill>
            <a:srgbClr val="E8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84080" y="4297680"/>
            <a:ext cx="3291840" cy="3291840"/>
          </a:xfrm>
          <a:prstGeom prst="ellipse">
            <a:avLst/>
          </a:prstGeom>
          <a:solidFill>
            <a:srgbClr val="DD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6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"/>
            <a:ext cx="107899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Astma oskrzelowa – definicja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7" y="71323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E3F2F4"/>
                </a:solidFill>
                <a:latin typeface="Calibri"/>
              </a:rPr>
              <a:t>Wg Global Initiative for Asthma (GINA)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1908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5560"/>
                </a:solidFill>
                <a:latin typeface="Calibri"/>
              </a:rPr>
              <a:t>Astma oskrzelowa – planowanie i programowanie fizjoterapii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4A5560"/>
                </a:solidFill>
                <a:latin typeface="Calibri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417320"/>
            <a:ext cx="11064240" cy="1691640"/>
          </a:xfrm>
          <a:prstGeom prst="roundRect">
            <a:avLst/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600200"/>
            <a:ext cx="10424160" cy="13716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1">
                <a:solidFill>
                  <a:srgbClr val="222B33"/>
                </a:solidFill>
                <a:latin typeface="Calibri"/>
              </a:rPr>
              <a:t>Astma to heterogenna choroba charakteryzująca się przewlekłym zapaleniem dróg oddechowych. Definiują ją występujące w wywiadzie objawy ze strony układu oddechowego – świszczący oddech, duszność, uczucie ściskania w klatce piersiowej i kaszel – o zmiennym nasileniu w czasie, wraz ze zmiennym ograniczeniem przepływu powietrza przez drogi oddechowe.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00400"/>
            <a:ext cx="10424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3C5D"/>
                </a:solidFill>
                <a:latin typeface="Calibri"/>
              </a:rPr>
              <a:t>Cechy definiujące astmę: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57600"/>
            <a:ext cx="3566160" cy="2377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3657600"/>
            <a:ext cx="3566160" cy="502920"/>
          </a:xfrm>
          <a:prstGeom prst="round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657600"/>
            <a:ext cx="3291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Przewlekłe zapalenie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297680"/>
            <a:ext cx="3163824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Zapalny charakter choroby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Nacieki komórek zapalnych (eozynofile, limfocyty Th2, mastocyty)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Nadreaktywność oskrzeli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3657600"/>
            <a:ext cx="3566160" cy="2377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97680" y="3657600"/>
            <a:ext cx="3566160" cy="502920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3657600"/>
            <a:ext cx="3291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Zmienność objawów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4297680"/>
            <a:ext cx="3163824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Nasilenie zmienne w czasie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Objawy nocne i nad ranem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Prowokacja przez czynniki wyzwalające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3657600"/>
            <a:ext cx="3566160" cy="2377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46720" y="3657600"/>
            <a:ext cx="3566160" cy="502920"/>
          </a:xfrm>
          <a:prstGeom prst="round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83880" y="3657600"/>
            <a:ext cx="3291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Obturacja odwracalna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7888" y="4297680"/>
            <a:ext cx="3163824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Zmienne ograniczenie przepływu powietrza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Odwracalność po lekach rozszerzających oskrzela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Skurcz mięśni gładkich oskrzeli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-1005840" y="4754880"/>
            <a:ext cx="2377440" cy="2377440"/>
          </a:xfrm>
          <a:prstGeom prst="ellipse">
            <a:avLst/>
          </a:prstGeom>
          <a:solidFill>
            <a:srgbClr val="E8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84080" y="4297680"/>
            <a:ext cx="3291840" cy="3291840"/>
          </a:xfrm>
          <a:prstGeom prst="ellipse">
            <a:avLst/>
          </a:prstGeom>
          <a:solidFill>
            <a:srgbClr val="DD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6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"/>
            <a:ext cx="107899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Epidemiologia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7" y="71323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E3F2F4"/>
                </a:solidFill>
                <a:latin typeface="Calibri"/>
              </a:rPr>
              <a:t>Skala problemu zdrowotnego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1908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5560"/>
                </a:solidFill>
                <a:latin typeface="Calibri"/>
              </a:rPr>
              <a:t>Astma oskrzelowa – planowanie i programowanie fizjoterapii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4A5560"/>
                </a:solidFill>
                <a:latin typeface="Calibri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463040"/>
            <a:ext cx="2697480" cy="2103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463040"/>
            <a:ext cx="2697480" cy="109728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783080"/>
            <a:ext cx="2697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148F9E"/>
                </a:solidFill>
                <a:latin typeface="Calibri"/>
              </a:rPr>
              <a:t>~262 mln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606040"/>
            <a:ext cx="242316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4A5560"/>
                </a:solidFill>
                <a:latin typeface="Calibri"/>
              </a:rPr>
              <a:t>osób na świecie choruje na astmę (dane WHO/GINA)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560" y="1463040"/>
            <a:ext cx="2697480" cy="2103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37560" y="1463040"/>
            <a:ext cx="2697480" cy="109728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7560" y="1783080"/>
            <a:ext cx="2697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148F9E"/>
                </a:solidFill>
                <a:latin typeface="Calibri"/>
              </a:rPr>
              <a:t>~4 mln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606040"/>
            <a:ext cx="242316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4A5560"/>
                </a:solidFill>
                <a:latin typeface="Calibri"/>
              </a:rPr>
              <a:t>chorych na astmę w Polsce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1463040"/>
            <a:ext cx="2697480" cy="2103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1463040"/>
            <a:ext cx="2697480" cy="109728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1783080"/>
            <a:ext cx="2697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148F9E"/>
                </a:solidFill>
                <a:latin typeface="Calibri"/>
              </a:rPr>
              <a:t>~455 tys.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606040"/>
            <a:ext cx="242316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4A5560"/>
                </a:solidFill>
                <a:latin typeface="Calibri"/>
              </a:rPr>
              <a:t>zgonów rocznie związanych z astmą na świecie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15400" y="1463040"/>
            <a:ext cx="2697480" cy="2103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15400" y="1463040"/>
            <a:ext cx="2697480" cy="109728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15400" y="1783080"/>
            <a:ext cx="2697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148F9E"/>
                </a:solidFill>
                <a:latin typeface="Calibri"/>
              </a:rPr>
              <a:t>Nr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2606040"/>
            <a:ext cx="242316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4A5560"/>
                </a:solidFill>
                <a:latin typeface="Calibri"/>
              </a:rPr>
              <a:t>najczęstsza przewlekła choroba układu oddechowego u dzieci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886200"/>
            <a:ext cx="11064240" cy="2057400"/>
          </a:xfrm>
          <a:prstGeom prst="roundRect">
            <a:avLst/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02336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3C5D"/>
                </a:solidFill>
                <a:latin typeface="Calibri"/>
              </a:rPr>
              <a:t>Znaczenie kliniczne i społeczne: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480560"/>
            <a:ext cx="104241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148F9E"/>
                </a:solidFill>
                <a:latin typeface="Calibri"/>
              </a:rPr>
              <a:t>•  </a:t>
            </a:r>
            <a:r>
              <a:rPr sz="1500">
                <a:solidFill>
                  <a:srgbClr val="222B33"/>
                </a:solidFill>
                <a:latin typeface="Calibri"/>
              </a:rPr>
              <a:t>Rosnąca częstość zachorowań, zwłaszcza w krajach uprzemysłowionych i w populacji miejskiej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148F9E"/>
                </a:solidFill>
                <a:latin typeface="Calibri"/>
              </a:rPr>
              <a:t>•  </a:t>
            </a:r>
            <a:r>
              <a:rPr sz="1500">
                <a:solidFill>
                  <a:srgbClr val="222B33"/>
                </a:solidFill>
                <a:latin typeface="Calibri"/>
              </a:rPr>
              <a:t>Istotne koszty bezpośrednie (leczenie) i pośrednie (absencja szkolna i zawodowa, hospitalizacje)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148F9E"/>
                </a:solidFill>
                <a:latin typeface="Calibri"/>
              </a:rPr>
              <a:t>•  </a:t>
            </a:r>
            <a:r>
              <a:rPr sz="1500">
                <a:solidFill>
                  <a:srgbClr val="222B33"/>
                </a:solidFill>
                <a:latin typeface="Calibri"/>
              </a:rPr>
              <a:t>Dobrze kontrolowana astma pozwala na normalne funkcjonowanie i aktywność fizyczną – kluczowa rola edukacji i rehabilitacji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-1005840" y="4754880"/>
            <a:ext cx="2377440" cy="2377440"/>
          </a:xfrm>
          <a:prstGeom prst="ellipse">
            <a:avLst/>
          </a:prstGeom>
          <a:solidFill>
            <a:srgbClr val="E8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84080" y="4297680"/>
            <a:ext cx="3291840" cy="3291840"/>
          </a:xfrm>
          <a:prstGeom prst="ellipse">
            <a:avLst/>
          </a:prstGeom>
          <a:solidFill>
            <a:srgbClr val="DD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6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"/>
            <a:ext cx="107899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Etiologia i czynniki ryzyka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1908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5560"/>
                </a:solidFill>
                <a:latin typeface="Calibri"/>
              </a:rPr>
              <a:t>Astma oskrzelowa – planowanie i programowanie fizjoterapii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4A5560"/>
                </a:solidFill>
                <a:latin typeface="Calibri"/>
              </a:rPr>
              <a:t>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371600"/>
            <a:ext cx="3566160" cy="4572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1371600"/>
            <a:ext cx="3566160" cy="502920"/>
          </a:xfrm>
          <a:prstGeom prst="round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371600"/>
            <a:ext cx="3291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Czynniki osobnicze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011680"/>
            <a:ext cx="3163824" cy="3794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Predyspozycja genetyczna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Atopia (skłonność do IgE-zależnych reakcji)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Płeć (u dzieci częściej chłopcy, u dorosłych kobiety)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Otyłość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Nadreaktywność oskrzeli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371600"/>
            <a:ext cx="3566160" cy="4572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97680" y="1371600"/>
            <a:ext cx="3566160" cy="502920"/>
          </a:xfrm>
          <a:prstGeom prst="round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1371600"/>
            <a:ext cx="3291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Alergeny i środowisko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8" y="2011680"/>
            <a:ext cx="3163824" cy="3794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Roztocza kurzu domowego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Pyłki roślin, zarodniki grzybów pleśniowych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Sierść i naskórek zwierząt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Dym tytoniowy (czynny i bierny)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Zanieczyszczenie powietrza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Alergeny zawodowe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371600"/>
            <a:ext cx="3566160" cy="4572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20" y="1371600"/>
            <a:ext cx="3566160" cy="502920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80" y="1371600"/>
            <a:ext cx="3291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Czynniki wyzwalające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2011680"/>
            <a:ext cx="3163824" cy="3794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Infekcje układu oddechowego (wirusowe)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Wysiłek fizyczny (astma wysiłkowa)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Zimne powietrze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Silne emocje, stres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Leki (NLPZ, β-blokery)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Refluks żołądkowo-przełykowy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-1005840" y="4754880"/>
            <a:ext cx="2377440" cy="2377440"/>
          </a:xfrm>
          <a:prstGeom prst="ellipse">
            <a:avLst/>
          </a:prstGeom>
          <a:solidFill>
            <a:srgbClr val="E8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84080" y="4297680"/>
            <a:ext cx="3291840" cy="3291840"/>
          </a:xfrm>
          <a:prstGeom prst="ellipse">
            <a:avLst/>
          </a:prstGeom>
          <a:solidFill>
            <a:srgbClr val="DD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6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"/>
            <a:ext cx="107899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Patofizjologia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7" y="71323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E3F2F4"/>
                </a:solidFill>
                <a:latin typeface="Calibri"/>
              </a:rPr>
              <a:t>Mechanizmy obturacji oskrzeli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1908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5560"/>
                </a:solidFill>
                <a:latin typeface="Calibri"/>
              </a:rPr>
              <a:t>Astma oskrzelowa – planowanie i programowanie fizjoterapii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4A5560"/>
                </a:solidFill>
                <a:latin typeface="Calibri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417320"/>
            <a:ext cx="4709160" cy="45262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645920"/>
            <a:ext cx="42976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148F9E"/>
                </a:solidFill>
                <a:latin typeface="Calibri"/>
              </a:rPr>
              <a:t>•  </a:t>
            </a:r>
            <a:r>
              <a:rPr sz="1500">
                <a:solidFill>
                  <a:srgbClr val="222B33"/>
                </a:solidFill>
                <a:latin typeface="Calibri"/>
              </a:rPr>
              <a:t>Przewlekłe zapalenie ściany oskrzeli</a:t>
            </a:r>
          </a:p>
          <a:p>
            <a:pPr lvl="1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–  </a:t>
            </a:r>
            <a:r>
              <a:rPr sz="1400">
                <a:solidFill>
                  <a:srgbClr val="222B33"/>
                </a:solidFill>
                <a:latin typeface="Calibri"/>
              </a:rPr>
              <a:t>Naciek eozynofilów, limfocytów Th2, mastocytów</a:t>
            </a:r>
          </a:p>
          <a:p>
            <a:pPr lvl="1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–  </a:t>
            </a:r>
            <a:r>
              <a:rPr sz="1400">
                <a:solidFill>
                  <a:srgbClr val="222B33"/>
                </a:solidFill>
                <a:latin typeface="Calibri"/>
              </a:rPr>
              <a:t>Mediatory: histamina, leukotrieny, cytokiny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148F9E"/>
                </a:solidFill>
                <a:latin typeface="Calibri"/>
              </a:rPr>
              <a:t>•  </a:t>
            </a:r>
            <a:r>
              <a:rPr sz="1500">
                <a:solidFill>
                  <a:srgbClr val="222B33"/>
                </a:solidFill>
                <a:latin typeface="Calibri"/>
              </a:rPr>
              <a:t>Skurcz mięśni gładkich oskrzeli (bronchospazm)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148F9E"/>
                </a:solidFill>
                <a:latin typeface="Calibri"/>
              </a:rPr>
              <a:t>•  </a:t>
            </a:r>
            <a:r>
              <a:rPr sz="1500">
                <a:solidFill>
                  <a:srgbClr val="222B33"/>
                </a:solidFill>
                <a:latin typeface="Calibri"/>
              </a:rPr>
              <a:t>Obrzęk błony śluzowej dróg oddechowych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148F9E"/>
                </a:solidFill>
                <a:latin typeface="Calibri"/>
              </a:rPr>
              <a:t>•  </a:t>
            </a:r>
            <a:r>
              <a:rPr sz="1500">
                <a:solidFill>
                  <a:srgbClr val="222B33"/>
                </a:solidFill>
                <a:latin typeface="Calibri"/>
              </a:rPr>
              <a:t>Nadmierne wydzielanie gęstego śluzu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148F9E"/>
                </a:solidFill>
                <a:latin typeface="Calibri"/>
              </a:rPr>
              <a:t>•  </a:t>
            </a:r>
            <a:r>
              <a:rPr sz="1500">
                <a:solidFill>
                  <a:srgbClr val="222B33"/>
                </a:solidFill>
                <a:latin typeface="Calibri"/>
              </a:rPr>
              <a:t>Nadreaktywność oskrzeli na bodźce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148F9E"/>
                </a:solidFill>
                <a:latin typeface="Calibri"/>
              </a:rPr>
              <a:t>•  </a:t>
            </a:r>
            <a:r>
              <a:rPr sz="1500">
                <a:solidFill>
                  <a:srgbClr val="222B33"/>
                </a:solidFill>
                <a:latin typeface="Calibri"/>
              </a:rPr>
              <a:t>Remodeling (przebudowa) ścian oskrzeli</a:t>
            </a:r>
          </a:p>
          <a:p>
            <a:pPr lvl="1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–  </a:t>
            </a:r>
            <a:r>
              <a:rPr sz="1400">
                <a:solidFill>
                  <a:srgbClr val="222B33"/>
                </a:solidFill>
                <a:latin typeface="Calibri"/>
              </a:rPr>
              <a:t>Włóknienie, przerost mięśni – zmiany utrwalone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4960" y="1417320"/>
            <a:ext cx="6309360" cy="45262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g_bronc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737360"/>
            <a:ext cx="2331720" cy="2331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40680" y="4114800"/>
            <a:ext cx="27432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1">
                <a:solidFill>
                  <a:srgbClr val="4A5560"/>
                </a:solidFill>
                <a:latin typeface="Calibri"/>
              </a:rPr>
              <a:t>Oskrzele prawidłowe i objęte skurczem oraz zapaleniem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73736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B3C5D"/>
                </a:solidFill>
                <a:latin typeface="Calibri"/>
              </a:rPr>
              <a:t>Skutki czynnościowe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286000"/>
            <a:ext cx="33375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Zwężenie światła oskrzeli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Wzrost oporu w drogach oddechowych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Spadek FEV1 i PEF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Rozdęcie płuc (hiperinflacja)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Wzrost pracy oddechowej i duszność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Odwracalność obturacji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-1005840" y="4754880"/>
            <a:ext cx="2377440" cy="2377440"/>
          </a:xfrm>
          <a:prstGeom prst="ellipse">
            <a:avLst/>
          </a:prstGeom>
          <a:solidFill>
            <a:srgbClr val="E8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84080" y="4297680"/>
            <a:ext cx="3291840" cy="3291840"/>
          </a:xfrm>
          <a:prstGeom prst="ellipse">
            <a:avLst/>
          </a:prstGeom>
          <a:solidFill>
            <a:srgbClr val="DD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6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"/>
            <a:ext cx="107899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Obraz kliniczny – objawy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1908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5560"/>
                </a:solidFill>
                <a:latin typeface="Calibri"/>
              </a:rPr>
              <a:t>Astma oskrzelowa – planowanie i programowanie fizjoterapii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4A5560"/>
                </a:solidFill>
                <a:latin typeface="Calibri"/>
              </a:rPr>
              <a:t>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417320"/>
            <a:ext cx="5394960" cy="2194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1417320"/>
            <a:ext cx="5394960" cy="502920"/>
          </a:xfrm>
          <a:prstGeom prst="round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417320"/>
            <a:ext cx="51206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Objawy podmiotowe (skargi chorego)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057400"/>
            <a:ext cx="4992624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Napadowa duszność (głównie wydechowa)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Świszczący oddech (wheezing)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Uczucie ściskania / ucisku w klatce piersiowej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Suchy, napadowy kaszel (często nocny)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417320"/>
            <a:ext cx="5394960" cy="2194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7920" y="1417320"/>
            <a:ext cx="5394960" cy="502920"/>
          </a:xfrm>
          <a:prstGeom prst="round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417320"/>
            <a:ext cx="51206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Objawy przedmiotowe (badanie)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2057400"/>
            <a:ext cx="4992624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Świsty i furczenia w osłuchiwaniu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Wydłużona faza wydechu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Użycie dodatkowych mięśni oddechowych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Tachykardia, w ciężkim napadzie sinica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794760"/>
            <a:ext cx="11064240" cy="2148840"/>
          </a:xfrm>
          <a:prstGeom prst="roundRect">
            <a:avLst/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9319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B3C5D"/>
                </a:solidFill>
                <a:latin typeface="Calibri"/>
              </a:rPr>
              <a:t>Charakterystyka objawów: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38912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Zmienność w czasie – nasilenie zwłaszcza w nocy i nad ranem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Występowanie / nasilenie po kontakcie z czynnikiem wyzwalającym (alergen, wysiłek, zimne powietrze)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Ustępowanie samoistne lub po zastosowaniu leków rozszerzających oskrzela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Zaostrzenie (napad astmy) – nagłe, znaczne nasilenie objawów, stan zagrożenia życia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-1005840" y="4754880"/>
            <a:ext cx="2377440" cy="2377440"/>
          </a:xfrm>
          <a:prstGeom prst="ellipse">
            <a:avLst/>
          </a:prstGeom>
          <a:solidFill>
            <a:srgbClr val="E8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84080" y="4297680"/>
            <a:ext cx="3291840" cy="3291840"/>
          </a:xfrm>
          <a:prstGeom prst="ellipse">
            <a:avLst/>
          </a:prstGeom>
          <a:solidFill>
            <a:srgbClr val="DD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6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"/>
            <a:ext cx="107899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Klasyfikacja i stopnie kontroli astmy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1908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5560"/>
                </a:solidFill>
                <a:latin typeface="Calibri"/>
              </a:rPr>
              <a:t>Astma oskrzelowa – planowanie i programowanie fizjoterapii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4A5560"/>
                </a:solidFill>
                <a:latin typeface="Calibri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3C5D"/>
                </a:solidFill>
                <a:latin typeface="Calibri"/>
              </a:rPr>
              <a:t>Podział wg stopnia kontroli objawów (GINA):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783080"/>
            <a:ext cx="3611880" cy="3108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783080"/>
            <a:ext cx="3611880" cy="777240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783080"/>
            <a:ext cx="36118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Astma
kontrolowana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743200"/>
            <a:ext cx="3200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Objawy dzienne ≤ 2×/tydz.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Bez ograniczeń aktywności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Bez objawów nocnych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Leki doraźne ≤ 2×/tydz.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1783080"/>
            <a:ext cx="3611880" cy="3108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51960" y="1783080"/>
            <a:ext cx="3611880" cy="777240"/>
          </a:xfrm>
          <a:prstGeom prst="round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51960" y="1783080"/>
            <a:ext cx="36118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Astma częściowo
kontrolowana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743200"/>
            <a:ext cx="3200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Spełnione 1–2 kryteria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z zakresu braku kontroli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Okresowe objawy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Wymaga modyfikacji leczenia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0" y="1783080"/>
            <a:ext cx="3611880" cy="3108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0" y="1783080"/>
            <a:ext cx="3611880" cy="777240"/>
          </a:xfrm>
          <a:prstGeom prst="round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0" y="1783080"/>
            <a:ext cx="36118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Astma
niekontrolowana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2743200"/>
            <a:ext cx="3200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Spełnione 3–4 kryteria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Częste objawy dzienne i nocne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Ograniczenie aktywności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Częste stosowanie leków doraźnych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120640"/>
            <a:ext cx="11064240" cy="868680"/>
          </a:xfrm>
          <a:prstGeom prst="roundRect">
            <a:avLst/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120640"/>
            <a:ext cx="10515600" cy="8686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B33"/>
                </a:solidFill>
                <a:latin typeface="Calibri"/>
              </a:rPr>
              <a:t>Astmę klasyfikuje się też wg ciężkości (leczenie potrzebne do uzyskania kontroli): lekka, umiarkowana, ciężka. Wyróżnia się m.in. astmę alergiczną, niealergiczną, wysiłkową oraz zawodową.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-1005840" y="4754880"/>
            <a:ext cx="2377440" cy="2377440"/>
          </a:xfrm>
          <a:prstGeom prst="ellipse">
            <a:avLst/>
          </a:prstGeom>
          <a:solidFill>
            <a:srgbClr val="E8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84080" y="4297680"/>
            <a:ext cx="3291840" cy="3291840"/>
          </a:xfrm>
          <a:prstGeom prst="ellipse">
            <a:avLst/>
          </a:prstGeom>
          <a:solidFill>
            <a:srgbClr val="DD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6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"/>
            <a:ext cx="107899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Diagnostyka – rozpoznanie lekarskie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1908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5560"/>
                </a:solidFill>
                <a:latin typeface="Calibri"/>
              </a:rPr>
              <a:t>Astma oskrzelowa – planowanie i programowanie fizjoterapii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4A5560"/>
                </a:solidFill>
                <a:latin typeface="Calibri"/>
              </a:rPr>
              <a:t>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417320"/>
            <a:ext cx="4480560" cy="45262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627632"/>
            <a:ext cx="40690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Wywiad – charakterystyczne objawy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Badanie przedmiotowe – osłuchiwanie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Spirometria z próbą rozkurczową</a:t>
            </a:r>
          </a:p>
          <a:p>
            <a:pPr lvl="1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A9D8F"/>
                </a:solidFill>
                <a:latin typeface="Calibri"/>
              </a:rPr>
              <a:t>–  </a:t>
            </a:r>
            <a:r>
              <a:rPr sz="1250">
                <a:solidFill>
                  <a:srgbClr val="222B33"/>
                </a:solidFill>
                <a:latin typeface="Calibri"/>
              </a:rPr>
              <a:t>Obturacja: FEV1/FVC poniżej normy</a:t>
            </a:r>
          </a:p>
          <a:p>
            <a:pPr lvl="1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A9D8F"/>
                </a:solidFill>
                <a:latin typeface="Calibri"/>
              </a:rPr>
              <a:t>–  </a:t>
            </a:r>
            <a:r>
              <a:rPr sz="1250">
                <a:solidFill>
                  <a:srgbClr val="222B33"/>
                </a:solidFill>
                <a:latin typeface="Calibri"/>
              </a:rPr>
              <a:t>Wzrost FEV1 ≥ 12% i ≥ 200 ml po leku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Szczytowy przepływ wydechowy (PEF)</a:t>
            </a:r>
          </a:p>
          <a:p>
            <a:pPr lvl="1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A9D8F"/>
                </a:solidFill>
                <a:latin typeface="Calibri"/>
              </a:rPr>
              <a:t>–  </a:t>
            </a:r>
            <a:r>
              <a:rPr sz="1250">
                <a:solidFill>
                  <a:srgbClr val="222B33"/>
                </a:solidFill>
                <a:latin typeface="Calibri"/>
              </a:rPr>
              <a:t>Zmienność dobowa PEF &gt; 10%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Testy prowokacyjne (metacholina, wysiłek)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Testy alergiczne (skórne, IgE swoiste)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Stan zapalny – FeNO, eozynofilia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417320"/>
            <a:ext cx="3383280" cy="4526280"/>
          </a:xfrm>
          <a:prstGeom prst="roundRect">
            <a:avLst/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0" y="160020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3C5D"/>
                </a:solidFill>
                <a:latin typeface="Calibri"/>
              </a:rPr>
              <a:t>Spirometria – parametry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1808" y="2148840"/>
            <a:ext cx="306324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148F9E"/>
                </a:solidFill>
                <a:latin typeface="Calibri"/>
              </a:rPr>
              <a:t>•  </a:t>
            </a:r>
            <a:r>
              <a:rPr sz="1250">
                <a:solidFill>
                  <a:srgbClr val="222B33"/>
                </a:solidFill>
                <a:latin typeface="Calibri"/>
              </a:rPr>
              <a:t>FEV1 – natężona objętość pierwszosekundowa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148F9E"/>
                </a:solidFill>
                <a:latin typeface="Calibri"/>
              </a:rPr>
              <a:t>•  </a:t>
            </a:r>
            <a:r>
              <a:rPr sz="1250">
                <a:solidFill>
                  <a:srgbClr val="222B33"/>
                </a:solidFill>
                <a:latin typeface="Calibri"/>
              </a:rPr>
              <a:t>FVC – natężona pojemność życiowa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148F9E"/>
                </a:solidFill>
                <a:latin typeface="Calibri"/>
              </a:rPr>
              <a:t>•  </a:t>
            </a:r>
            <a:r>
              <a:rPr sz="1250">
                <a:solidFill>
                  <a:srgbClr val="222B33"/>
                </a:solidFill>
                <a:latin typeface="Calibri"/>
              </a:rPr>
              <a:t>FEV1/FVC – wskaźnik Tiffeneau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148F9E"/>
                </a:solidFill>
                <a:latin typeface="Calibri"/>
              </a:rPr>
              <a:t>•  </a:t>
            </a:r>
            <a:r>
              <a:rPr sz="1250">
                <a:solidFill>
                  <a:srgbClr val="222B33"/>
                </a:solidFill>
                <a:latin typeface="Calibri"/>
              </a:rPr>
              <a:t>PEF – szczytowy przepływ wydechowy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148F9E"/>
                </a:solidFill>
                <a:latin typeface="Calibri"/>
              </a:rPr>
              <a:t>•  </a:t>
            </a:r>
            <a:r>
              <a:rPr sz="1250">
                <a:solidFill>
                  <a:srgbClr val="222B33"/>
                </a:solidFill>
                <a:latin typeface="Calibri"/>
              </a:rPr>
              <a:t>MEF – przepływy w małych oskrzelach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41080" y="1417320"/>
            <a:ext cx="3063240" cy="45262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g_spir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672" y="2084832"/>
            <a:ext cx="2734056" cy="27340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732520" y="5486400"/>
            <a:ext cx="288036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1">
                <a:solidFill>
                  <a:srgbClr val="0B3C5D"/>
                </a:solidFill>
                <a:latin typeface="Calibri"/>
              </a:rPr>
              <a:t>Badanie czynnościowe płuc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-1005840" y="4754880"/>
            <a:ext cx="2377440" cy="2377440"/>
          </a:xfrm>
          <a:prstGeom prst="ellipse">
            <a:avLst/>
          </a:prstGeom>
          <a:solidFill>
            <a:srgbClr val="E8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84080" y="4297680"/>
            <a:ext cx="3291840" cy="3291840"/>
          </a:xfrm>
          <a:prstGeom prst="ellipse">
            <a:avLst/>
          </a:prstGeom>
          <a:solidFill>
            <a:srgbClr val="DD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6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"/>
            <a:ext cx="107899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Metody badania pacjenta w fizjoterapii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7" y="71323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E3F2F4"/>
                </a:solidFill>
                <a:latin typeface="Calibri"/>
              </a:rPr>
              <a:t>Badanie podmiotowe (wywiad)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1908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5560"/>
                </a:solidFill>
                <a:latin typeface="Calibri"/>
              </a:rPr>
              <a:t>Astma oskrzelowa – planowanie i programowanie fizjoterapii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4A5560"/>
                </a:solidFill>
                <a:latin typeface="Calibri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463040"/>
            <a:ext cx="548640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48F9E"/>
                </a:solidFill>
                <a:latin typeface="Calibri"/>
              </a:rPr>
              <a:t>•  </a:t>
            </a:r>
            <a:r>
              <a:rPr sz="1500">
                <a:solidFill>
                  <a:srgbClr val="222B33"/>
                </a:solidFill>
                <a:latin typeface="Calibri"/>
              </a:rPr>
              <a:t>Wywiad chorobowy i fizjoterapeutyczny:</a:t>
            </a:r>
          </a:p>
          <a:p>
            <a:pPr lvl="1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–  </a:t>
            </a:r>
            <a:r>
              <a:rPr sz="1400">
                <a:solidFill>
                  <a:srgbClr val="222B33"/>
                </a:solidFill>
                <a:latin typeface="Calibri"/>
              </a:rPr>
              <a:t>Czas trwania i przebieg choroby</a:t>
            </a:r>
          </a:p>
          <a:p>
            <a:pPr lvl="1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–  </a:t>
            </a:r>
            <a:r>
              <a:rPr sz="1400">
                <a:solidFill>
                  <a:srgbClr val="222B33"/>
                </a:solidFill>
                <a:latin typeface="Calibri"/>
              </a:rPr>
              <a:t>Częstość i okoliczności napadów duszności</a:t>
            </a:r>
          </a:p>
          <a:p>
            <a:pPr lvl="1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–  </a:t>
            </a:r>
            <a:r>
              <a:rPr sz="1400">
                <a:solidFill>
                  <a:srgbClr val="222B33"/>
                </a:solidFill>
                <a:latin typeface="Calibri"/>
              </a:rPr>
              <a:t>Czynniki wyzwalające objawy</a:t>
            </a:r>
          </a:p>
          <a:p>
            <a:pPr lvl="1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–  </a:t>
            </a:r>
            <a:r>
              <a:rPr sz="1400">
                <a:solidFill>
                  <a:srgbClr val="222B33"/>
                </a:solidFill>
                <a:latin typeface="Calibri"/>
              </a:rPr>
              <a:t>Tolerancja wysiłku fizycznego</a:t>
            </a:r>
          </a:p>
          <a:p>
            <a:pPr lvl="1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–  </a:t>
            </a:r>
            <a:r>
              <a:rPr sz="1400">
                <a:solidFill>
                  <a:srgbClr val="222B33"/>
                </a:solidFill>
                <a:latin typeface="Calibri"/>
              </a:rPr>
              <a:t>Objawy nocne i poranne</a:t>
            </a:r>
          </a:p>
          <a:p>
            <a:pPr lvl="1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–  </a:t>
            </a:r>
            <a:r>
              <a:rPr sz="1400">
                <a:solidFill>
                  <a:srgbClr val="222B33"/>
                </a:solidFill>
                <a:latin typeface="Calibri"/>
              </a:rPr>
              <a:t>Stosowane leki (wziewne, doraźne)</a:t>
            </a:r>
          </a:p>
          <a:p>
            <a:pPr lvl="1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–  </a:t>
            </a:r>
            <a:r>
              <a:rPr sz="1400">
                <a:solidFill>
                  <a:srgbClr val="222B33"/>
                </a:solidFill>
                <a:latin typeface="Calibri"/>
              </a:rPr>
              <a:t>Choroby współistniejące (np. alergia, otyłość)</a:t>
            </a:r>
          </a:p>
          <a:p>
            <a:pPr lvl="1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–  </a:t>
            </a:r>
            <a:r>
              <a:rPr sz="1400">
                <a:solidFill>
                  <a:srgbClr val="222B33"/>
                </a:solidFill>
                <a:latin typeface="Calibri"/>
              </a:rPr>
              <a:t>Nałogi – palenie tytoniu</a:t>
            </a:r>
          </a:p>
          <a:p>
            <a:pPr lvl="1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–  </a:t>
            </a:r>
            <a:r>
              <a:rPr sz="1400">
                <a:solidFill>
                  <a:srgbClr val="222B33"/>
                </a:solidFill>
                <a:latin typeface="Calibri"/>
              </a:rPr>
              <a:t>Aktywność fizyczna i tryb życia</a:t>
            </a:r>
          </a:p>
          <a:p>
            <a:pPr lvl="1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–  </a:t>
            </a:r>
            <a:r>
              <a:rPr sz="1400">
                <a:solidFill>
                  <a:srgbClr val="222B33"/>
                </a:solidFill>
                <a:latin typeface="Calibri"/>
              </a:rPr>
              <a:t>Oczekiwania i cele pacjenta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303520" cy="4480560"/>
          </a:xfrm>
          <a:prstGeom prst="roundRect">
            <a:avLst/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64592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B3C5D"/>
                </a:solidFill>
                <a:latin typeface="Calibri"/>
              </a:rPr>
              <a:t>Narzędzia oceny subiektywnej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194560"/>
            <a:ext cx="48463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48F9E"/>
                </a:solidFill>
                <a:latin typeface="Calibri"/>
              </a:rPr>
              <a:t>•  </a:t>
            </a:r>
            <a:r>
              <a:rPr sz="1500">
                <a:solidFill>
                  <a:srgbClr val="222B33"/>
                </a:solidFill>
                <a:latin typeface="Calibri"/>
              </a:rPr>
              <a:t>ACT – Test Kontroli Astmy (Asthma Control Test)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48F9E"/>
                </a:solidFill>
                <a:latin typeface="Calibri"/>
              </a:rPr>
              <a:t>•  </a:t>
            </a:r>
            <a:r>
              <a:rPr sz="1500">
                <a:solidFill>
                  <a:srgbClr val="222B33"/>
                </a:solidFill>
                <a:latin typeface="Calibri"/>
              </a:rPr>
              <a:t>ACQ – Asthma Control Questionnaire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48F9E"/>
                </a:solidFill>
                <a:latin typeface="Calibri"/>
              </a:rPr>
              <a:t>•  </a:t>
            </a:r>
            <a:r>
              <a:rPr sz="1500">
                <a:solidFill>
                  <a:srgbClr val="222B33"/>
                </a:solidFill>
                <a:latin typeface="Calibri"/>
              </a:rPr>
              <a:t>AQLQ – kwestionariusz jakości życia w astmie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48F9E"/>
                </a:solidFill>
                <a:latin typeface="Calibri"/>
              </a:rPr>
              <a:t>•  </a:t>
            </a:r>
            <a:r>
              <a:rPr sz="1500">
                <a:solidFill>
                  <a:srgbClr val="222B33"/>
                </a:solidFill>
                <a:latin typeface="Calibri"/>
              </a:rPr>
              <a:t>Skala duszności mMRC (Modified Medical Research Council)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48F9E"/>
                </a:solidFill>
                <a:latin typeface="Calibri"/>
              </a:rPr>
              <a:t>•  </a:t>
            </a:r>
            <a:r>
              <a:rPr sz="1500">
                <a:solidFill>
                  <a:srgbClr val="222B33"/>
                </a:solidFill>
                <a:latin typeface="Calibri"/>
              </a:rPr>
              <a:t>Skala Borga – ocena duszności i zmęczenia wysiłkowego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48F9E"/>
                </a:solidFill>
                <a:latin typeface="Calibri"/>
              </a:rPr>
              <a:t>•  </a:t>
            </a:r>
            <a:r>
              <a:rPr sz="1500">
                <a:solidFill>
                  <a:srgbClr val="222B33"/>
                </a:solidFill>
                <a:latin typeface="Calibri"/>
              </a:rPr>
              <a:t>Dzienniczek objawów i pomiarów PEF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-1005840" y="4754880"/>
            <a:ext cx="2377440" cy="2377440"/>
          </a:xfrm>
          <a:prstGeom prst="ellipse">
            <a:avLst/>
          </a:prstGeom>
          <a:solidFill>
            <a:srgbClr val="E8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84080" y="4297680"/>
            <a:ext cx="3291840" cy="3291840"/>
          </a:xfrm>
          <a:prstGeom prst="ellipse">
            <a:avLst/>
          </a:prstGeom>
          <a:solidFill>
            <a:srgbClr val="DD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6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"/>
            <a:ext cx="107899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Metody badania pacjenta – badanie przedmiotowe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1908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5560"/>
                </a:solidFill>
                <a:latin typeface="Calibri"/>
              </a:rPr>
              <a:t>Astma oskrzelowa – planowanie i programowanie fizjoterapii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4A5560"/>
                </a:solidFill>
                <a:latin typeface="Calibri"/>
              </a:rPr>
              <a:t>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417320"/>
            <a:ext cx="5394960" cy="23317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1417320"/>
            <a:ext cx="5394960" cy="502920"/>
          </a:xfrm>
          <a:prstGeom prst="round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417320"/>
            <a:ext cx="51206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Ocena wzrokowa i palpacyjna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057400"/>
            <a:ext cx="4992624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Tor i częstość oddychania (norma 12–16/min)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Typ oddychania (piersiowy / brzuszny / mieszany)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Symetria ruchów klatki piersiowej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Użycie pomocniczych mięśni oddechowych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Postawa ciała, ustawienie obręczy barkowej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417320"/>
            <a:ext cx="5394960" cy="23317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7920" y="1417320"/>
            <a:ext cx="5394960" cy="502920"/>
          </a:xfrm>
          <a:prstGeom prst="round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417320"/>
            <a:ext cx="51206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Pomiary i osłuchiwanie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2057400"/>
            <a:ext cx="4992624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Ruchomość oddechowa klatki piersiowej (cyrtometria)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Osłuchiwanie – świsty, furczenia, wydłużony wydech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Saturacja krwi tętniczej (pulsoksymetria SpO₂)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Częstość tętna, ciśnienie tętnicze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Ocena siły mięśni oddechowych (PImax, PEmax)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31920"/>
            <a:ext cx="11064240" cy="2011680"/>
          </a:xfrm>
          <a:prstGeom prst="roundRect">
            <a:avLst/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06908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B3C5D"/>
                </a:solidFill>
                <a:latin typeface="Calibri"/>
              </a:rPr>
              <a:t>Ocena tolerancji wysiłku i wydolności: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526280"/>
            <a:ext cx="104241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6-minutowy test marszu (6MWT) – dystans, duszność, saturacja przed i po wysiłku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Test wahadłowy (shuttle walk test), próba wysiłkowa na ergometrze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Ocena postawy ciała i napięcia mięśniowego (mięśnie pomocnicze, przepona)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-1005840" y="4754880"/>
            <a:ext cx="2377440" cy="2377440"/>
          </a:xfrm>
          <a:prstGeom prst="ellipse">
            <a:avLst/>
          </a:prstGeom>
          <a:solidFill>
            <a:srgbClr val="E8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84080" y="4297680"/>
            <a:ext cx="3291840" cy="3291840"/>
          </a:xfrm>
          <a:prstGeom prst="ellipse">
            <a:avLst/>
          </a:prstGeom>
          <a:solidFill>
            <a:srgbClr val="DD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6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"/>
            <a:ext cx="107899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Cele fizjoterapii w astmie oskrzelowej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1908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5560"/>
                </a:solidFill>
                <a:latin typeface="Calibri"/>
              </a:rPr>
              <a:t>Astma oskrzelowa – planowanie i programowanie fizjoterapii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4A5560"/>
                </a:solidFill>
                <a:latin typeface="Calibri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4A5560"/>
                </a:solidFill>
                <a:latin typeface="Calibri"/>
              </a:rPr>
              <a:t>Fizjoterapia stanowi element kompleksowej rehabilitacji pulmonologicznej – uzupełnia (nie zastępuje) farmakoterapię.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28800"/>
            <a:ext cx="3611880" cy="4023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28800"/>
            <a:ext cx="3611880" cy="548640"/>
          </a:xfrm>
          <a:prstGeom prst="round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361188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Cele główne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606040"/>
            <a:ext cx="32004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Poprawa kontroli objawów astmy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Zwiększenie tolerancji wysiłku i wydolności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Poprawa jakości życia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Zmniejszenie liczby zaostrzeń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1828800"/>
            <a:ext cx="3611880" cy="4023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51960" y="1828800"/>
            <a:ext cx="3611880" cy="548640"/>
          </a:xfrm>
          <a:prstGeom prst="round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51960" y="1828800"/>
            <a:ext cx="361188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Cele oddechowe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606040"/>
            <a:ext cx="32004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Nauka prawidłowego toru oddychania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Zwiększenie ruchomości klatki piersiowej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Wzmocnienie mięśni oddechowych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Ułatwienie ewakuacji wydzieliny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0" y="1828800"/>
            <a:ext cx="3611880" cy="4023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0" y="1828800"/>
            <a:ext cx="3611880" cy="548640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0" y="1828800"/>
            <a:ext cx="361188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Cele funkcjonalne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2606040"/>
            <a:ext cx="32004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Korekcja postawy ciała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Redukcja duszności i lęku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Zwiększenie aktywności fizycznej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Edukacja i samodzielność chorego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-1005840" y="4754880"/>
            <a:ext cx="2377440" cy="2377440"/>
          </a:xfrm>
          <a:prstGeom prst="ellipse">
            <a:avLst/>
          </a:prstGeom>
          <a:solidFill>
            <a:srgbClr val="E8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84080" y="4297680"/>
            <a:ext cx="3291840" cy="3291840"/>
          </a:xfrm>
          <a:prstGeom prst="ellipse">
            <a:avLst/>
          </a:prstGeom>
          <a:solidFill>
            <a:srgbClr val="DD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6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"/>
            <a:ext cx="107899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Zasady planowania fizjoterapii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1908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5560"/>
                </a:solidFill>
                <a:latin typeface="Calibri"/>
              </a:rPr>
              <a:t>Astma oskrzelowa – planowanie i programowanie fizjoterapii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4A5560"/>
                </a:solidFill>
                <a:latin typeface="Calibri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63040"/>
            <a:ext cx="548640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48F9E"/>
                </a:solidFill>
                <a:latin typeface="Calibri"/>
              </a:rPr>
              <a:t>•  </a:t>
            </a:r>
            <a:r>
              <a:rPr sz="1600">
                <a:solidFill>
                  <a:srgbClr val="222B33"/>
                </a:solidFill>
                <a:latin typeface="Calibri"/>
              </a:rPr>
              <a:t>Indywidualizacja – dostosowanie do pacjenta</a:t>
            </a:r>
          </a:p>
          <a:p>
            <a:pPr lvl="1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A9D8F"/>
                </a:solidFill>
                <a:latin typeface="Calibri"/>
              </a:rPr>
              <a:t>–  </a:t>
            </a:r>
            <a:r>
              <a:rPr sz="1500">
                <a:solidFill>
                  <a:srgbClr val="222B33"/>
                </a:solidFill>
                <a:latin typeface="Calibri"/>
              </a:rPr>
              <a:t>Wiek, stopień ciężkości i kontroli astmy</a:t>
            </a:r>
          </a:p>
          <a:p>
            <a:pPr lvl="1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A9D8F"/>
                </a:solidFill>
                <a:latin typeface="Calibri"/>
              </a:rPr>
              <a:t>–  </a:t>
            </a:r>
            <a:r>
              <a:rPr sz="1500">
                <a:solidFill>
                  <a:srgbClr val="222B33"/>
                </a:solidFill>
                <a:latin typeface="Calibri"/>
              </a:rPr>
              <a:t>Choroby współistniejące, wydolność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48F9E"/>
                </a:solidFill>
                <a:latin typeface="Calibri"/>
              </a:rPr>
              <a:t>•  </a:t>
            </a:r>
            <a:r>
              <a:rPr sz="1600">
                <a:solidFill>
                  <a:srgbClr val="222B33"/>
                </a:solidFill>
                <a:latin typeface="Calibri"/>
              </a:rPr>
              <a:t>Kompleksowość – współpraca zespołu</a:t>
            </a:r>
          </a:p>
          <a:p>
            <a:pPr lvl="1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A9D8F"/>
                </a:solidFill>
                <a:latin typeface="Calibri"/>
              </a:rPr>
              <a:t>–  </a:t>
            </a:r>
            <a:r>
              <a:rPr sz="1500">
                <a:solidFill>
                  <a:srgbClr val="222B33"/>
                </a:solidFill>
                <a:latin typeface="Calibri"/>
              </a:rPr>
              <a:t>Lekarz, fizjoterapeuta, pielęgniarka, psycholog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48F9E"/>
                </a:solidFill>
                <a:latin typeface="Calibri"/>
              </a:rPr>
              <a:t>•  </a:t>
            </a:r>
            <a:r>
              <a:rPr sz="1600">
                <a:solidFill>
                  <a:srgbClr val="222B33"/>
                </a:solidFill>
                <a:latin typeface="Calibri"/>
              </a:rPr>
              <a:t>Etapowość i stopniowanie obciążeń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48F9E"/>
                </a:solidFill>
                <a:latin typeface="Calibri"/>
              </a:rPr>
              <a:t>•  </a:t>
            </a:r>
            <a:r>
              <a:rPr sz="1600">
                <a:solidFill>
                  <a:srgbClr val="222B33"/>
                </a:solidFill>
                <a:latin typeface="Calibri"/>
              </a:rPr>
              <a:t>Systematyczność i regularność ćwiczeń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48F9E"/>
                </a:solidFill>
                <a:latin typeface="Calibri"/>
              </a:rPr>
              <a:t>•  </a:t>
            </a:r>
            <a:r>
              <a:rPr sz="1600">
                <a:solidFill>
                  <a:srgbClr val="222B33"/>
                </a:solidFill>
                <a:latin typeface="Calibri"/>
              </a:rPr>
              <a:t>Ciągłość procesu usprawniania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48F9E"/>
                </a:solidFill>
                <a:latin typeface="Calibri"/>
              </a:rPr>
              <a:t>•  </a:t>
            </a:r>
            <a:r>
              <a:rPr sz="1600">
                <a:solidFill>
                  <a:srgbClr val="222B33"/>
                </a:solidFill>
                <a:latin typeface="Calibri"/>
              </a:rPr>
              <a:t>Bezpieczeństwo – kontrola objawów i saturacji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48F9E"/>
                </a:solidFill>
                <a:latin typeface="Calibri"/>
              </a:rPr>
              <a:t>•  </a:t>
            </a:r>
            <a:r>
              <a:rPr sz="1600">
                <a:solidFill>
                  <a:srgbClr val="222B33"/>
                </a:solidFill>
                <a:latin typeface="Calibri"/>
              </a:rPr>
              <a:t>Ocena wyjściowa i cele SMART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463040"/>
            <a:ext cx="5303520" cy="4480560"/>
          </a:xfrm>
          <a:prstGeom prst="roundRect">
            <a:avLst/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64592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B3C5D"/>
                </a:solidFill>
                <a:latin typeface="Calibri"/>
              </a:rPr>
              <a:t>Etapy planowania terapii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240280"/>
            <a:ext cx="48463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0B3C5D"/>
                </a:solidFill>
                <a:latin typeface="Calibri"/>
              </a:rPr>
              <a:t>•  </a:t>
            </a:r>
            <a:r>
              <a:rPr sz="1500">
                <a:solidFill>
                  <a:srgbClr val="222B33"/>
                </a:solidFill>
                <a:latin typeface="Calibri"/>
              </a:rPr>
              <a:t>1. Ocena stanu pacjenta (badanie podmiotowe i przedmiotowe)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0B3C5D"/>
                </a:solidFill>
                <a:latin typeface="Calibri"/>
              </a:rPr>
              <a:t>•  </a:t>
            </a:r>
            <a:r>
              <a:rPr sz="1500">
                <a:solidFill>
                  <a:srgbClr val="222B33"/>
                </a:solidFill>
                <a:latin typeface="Calibri"/>
              </a:rPr>
              <a:t>2. Identyfikacja problemów i deficytów funkcjonalnych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0B3C5D"/>
                </a:solidFill>
                <a:latin typeface="Calibri"/>
              </a:rPr>
              <a:t>•  </a:t>
            </a:r>
            <a:r>
              <a:rPr sz="1500">
                <a:solidFill>
                  <a:srgbClr val="222B33"/>
                </a:solidFill>
                <a:latin typeface="Calibri"/>
              </a:rPr>
              <a:t>3. Ustalenie celów krótko- i długoterminowych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0B3C5D"/>
                </a:solidFill>
                <a:latin typeface="Calibri"/>
              </a:rPr>
              <a:t>•  </a:t>
            </a:r>
            <a:r>
              <a:rPr sz="1500">
                <a:solidFill>
                  <a:srgbClr val="222B33"/>
                </a:solidFill>
                <a:latin typeface="Calibri"/>
              </a:rPr>
              <a:t>4. Dobór metod i środków fizjoterapii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0B3C5D"/>
                </a:solidFill>
                <a:latin typeface="Calibri"/>
              </a:rPr>
              <a:t>•  </a:t>
            </a:r>
            <a:r>
              <a:rPr sz="1500">
                <a:solidFill>
                  <a:srgbClr val="222B33"/>
                </a:solidFill>
                <a:latin typeface="Calibri"/>
              </a:rPr>
              <a:t>5. Realizacja programu terapii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0B3C5D"/>
                </a:solidFill>
                <a:latin typeface="Calibri"/>
              </a:rPr>
              <a:t>•  </a:t>
            </a:r>
            <a:r>
              <a:rPr sz="1500">
                <a:solidFill>
                  <a:srgbClr val="222B33"/>
                </a:solidFill>
                <a:latin typeface="Calibri"/>
              </a:rPr>
              <a:t>6. Ocena efektów i modyfikacja planu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-1005840" y="4754880"/>
            <a:ext cx="2377440" cy="2377440"/>
          </a:xfrm>
          <a:prstGeom prst="ellipse">
            <a:avLst/>
          </a:prstGeom>
          <a:solidFill>
            <a:srgbClr val="E8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84080" y="4297680"/>
            <a:ext cx="3291840" cy="3291840"/>
          </a:xfrm>
          <a:prstGeom prst="ellipse">
            <a:avLst/>
          </a:prstGeom>
          <a:solidFill>
            <a:srgbClr val="DD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6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"/>
            <a:ext cx="107899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Zasady programowania fizjoterapii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7" y="71323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E3F2F4"/>
                </a:solidFill>
                <a:latin typeface="Calibri"/>
              </a:rPr>
              <a:t>Parametry dawkowania (model FITT)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1908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5560"/>
                </a:solidFill>
                <a:latin typeface="Calibri"/>
              </a:rPr>
              <a:t>Astma oskrzelowa – planowanie i programowanie fizjoterapii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4A5560"/>
                </a:solidFill>
                <a:latin typeface="Calibri"/>
              </a:rPr>
              <a:t>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463040"/>
            <a:ext cx="5486400" cy="2103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463040"/>
            <a:ext cx="1737360" cy="2103120"/>
          </a:xfrm>
          <a:prstGeom prst="round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463040"/>
            <a:ext cx="1737360" cy="2103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F – Frequency
(częstotliwość)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1600200"/>
            <a:ext cx="3429000" cy="1828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22B33"/>
                </a:solidFill>
                <a:latin typeface="Calibri"/>
              </a:rPr>
              <a:t>Trening wytrzymałościowy 3–5×/tydz.; ćwiczenia oddechowe codziennie; trening oporowy 2–3×/tydz.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463040"/>
            <a:ext cx="5486400" cy="2103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463040"/>
            <a:ext cx="1737360" cy="2103120"/>
          </a:xfrm>
          <a:prstGeom prst="round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1463040"/>
            <a:ext cx="1737360" cy="2103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I – Intensity
(intensywność)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1600200"/>
            <a:ext cx="3429000" cy="1828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22B33"/>
                </a:solidFill>
                <a:latin typeface="Calibri"/>
              </a:rPr>
              <a:t>Umiarkowana: 40–70% rezerwy tętna; duszność 3–4 w skali Borga (0–10); stopniowe zwiększanie obciążeń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794760"/>
            <a:ext cx="5486400" cy="2103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8640" y="3794760"/>
            <a:ext cx="1737360" cy="2103120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794760"/>
            <a:ext cx="1737360" cy="2103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T – Time
(czas)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3931920"/>
            <a:ext cx="3429000" cy="1828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22B33"/>
                </a:solidFill>
                <a:latin typeface="Calibri"/>
              </a:rPr>
              <a:t>20–60 min sesji aerobowej; program rehabilitacji 6–12 tygodni; ćwiczenia oddechowe kilka razy dziennie po kilka minut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794760"/>
            <a:ext cx="5486400" cy="2103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72200" y="3794760"/>
            <a:ext cx="1737360" cy="2103120"/>
          </a:xfrm>
          <a:prstGeom prst="round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3794760"/>
            <a:ext cx="1737360" cy="2103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T – Type
(rodzaj)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3931920"/>
            <a:ext cx="3429000" cy="1828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22B33"/>
                </a:solidFill>
                <a:latin typeface="Calibri"/>
              </a:rPr>
              <a:t>Trening aerobowy (marsz, rower, pływanie), oporowy, ćwiczenia oddechowe, trening mięśni wdechowych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-1005840" y="4754880"/>
            <a:ext cx="2377440" cy="2377440"/>
          </a:xfrm>
          <a:prstGeom prst="ellipse">
            <a:avLst/>
          </a:prstGeom>
          <a:solidFill>
            <a:srgbClr val="E8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84080" y="4297680"/>
            <a:ext cx="3291840" cy="3291840"/>
          </a:xfrm>
          <a:prstGeom prst="ellipse">
            <a:avLst/>
          </a:prstGeom>
          <a:solidFill>
            <a:srgbClr val="DD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6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"/>
            <a:ext cx="107899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Środki i metody fizjoterapii – przegląd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1908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5560"/>
                </a:solidFill>
                <a:latin typeface="Calibri"/>
              </a:rPr>
              <a:t>Astma oskrzelowa – planowanie i programowanie fizjoterapii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4A5560"/>
                </a:solidFill>
                <a:latin typeface="Calibri"/>
              </a:rPr>
              <a:t>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417320"/>
            <a:ext cx="2697480" cy="4480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1417320"/>
            <a:ext cx="2697480" cy="868680"/>
          </a:xfrm>
          <a:prstGeom prst="round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417320"/>
            <a:ext cx="2514600" cy="8686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Kinezyterapia oddechowa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468880"/>
            <a:ext cx="23774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Ćwiczenia oddechowe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Nauka toru oddychania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Trening mięśni oddechowych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Ćwiczenia rozprężające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1417320"/>
            <a:ext cx="2697480" cy="4480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37560" y="1417320"/>
            <a:ext cx="2697480" cy="868680"/>
          </a:xfrm>
          <a:prstGeom prst="round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29000" y="1417320"/>
            <a:ext cx="2514600" cy="8686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Techniki oczyszczania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468880"/>
            <a:ext cx="23774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Drenaż ułożeniowy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Techniki natężonego wydechu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Urządzenia PEP / oscylacyjne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Aktywny cykl oddechowy (ACBT)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1417320"/>
            <a:ext cx="2697480" cy="4480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26480" y="1417320"/>
            <a:ext cx="2697480" cy="868680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417320"/>
            <a:ext cx="2514600" cy="8686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Trening fizyczny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468880"/>
            <a:ext cx="23774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Trening aerobowy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Trening oporowy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Ćwiczenia ogólnousprawniające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Rehabilitacja pulmonologiczna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1417320"/>
            <a:ext cx="2697480" cy="4480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915400" y="1417320"/>
            <a:ext cx="2697480" cy="868680"/>
          </a:xfrm>
          <a:prstGeom prst="round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06840" y="1417320"/>
            <a:ext cx="2514600" cy="8686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Metody wspomagające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2468880"/>
            <a:ext cx="23774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Edukacja pacjenta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Techniki relaksacyjne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Korekcja postawy ciała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48F9E"/>
                </a:solidFill>
                <a:latin typeface="Calibri"/>
              </a:rPr>
              <a:t>•  </a:t>
            </a:r>
            <a:r>
              <a:rPr sz="1300">
                <a:solidFill>
                  <a:srgbClr val="222B33"/>
                </a:solidFill>
                <a:latin typeface="Calibri"/>
              </a:rPr>
              <a:t>Fizykoterapia (inhalacje)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-1005840" y="4754880"/>
            <a:ext cx="2377440" cy="2377440"/>
          </a:xfrm>
          <a:prstGeom prst="ellipse">
            <a:avLst/>
          </a:prstGeom>
          <a:solidFill>
            <a:srgbClr val="E8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84080" y="4297680"/>
            <a:ext cx="3291840" cy="3291840"/>
          </a:xfrm>
          <a:prstGeom prst="ellipse">
            <a:avLst/>
          </a:prstGeom>
          <a:solidFill>
            <a:srgbClr val="DD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6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"/>
            <a:ext cx="107899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Ćwiczenia oddechowe (breathing retraining)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1908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5560"/>
                </a:solidFill>
                <a:latin typeface="Calibri"/>
              </a:rPr>
              <a:t>Astma oskrzelowa – planowanie i programowanie fizjoterapii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4A5560"/>
                </a:solidFill>
                <a:latin typeface="Calibri"/>
              </a:rPr>
              <a:t>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417320"/>
            <a:ext cx="4572000" cy="45262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627632"/>
            <a:ext cx="4160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Oddychanie przeponowe (torem brzusznym)</a:t>
            </a:r>
          </a:p>
          <a:p>
            <a:pPr lvl="1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A9D8F"/>
                </a:solidFill>
                <a:latin typeface="Calibri"/>
              </a:rPr>
              <a:t>–  </a:t>
            </a:r>
            <a:r>
              <a:rPr sz="1250">
                <a:solidFill>
                  <a:srgbClr val="222B33"/>
                </a:solidFill>
                <a:latin typeface="Calibri"/>
              </a:rPr>
              <a:t>Angażowanie przepony, mniejsza praca oddechowa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Oddychanie przez „zasznurowane usta”</a:t>
            </a:r>
          </a:p>
          <a:p>
            <a:pPr lvl="1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A9D8F"/>
                </a:solidFill>
                <a:latin typeface="Calibri"/>
              </a:rPr>
              <a:t>–  </a:t>
            </a:r>
            <a:r>
              <a:rPr sz="1250">
                <a:solidFill>
                  <a:srgbClr val="222B33"/>
                </a:solidFill>
                <a:latin typeface="Calibri"/>
              </a:rPr>
              <a:t>Wydłużenie wydechu, drożność oskrzeli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Kontrola tempa i rytmu oddechu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Metoda Butejki – redukcja hiperwentylacji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Ćwiczenia wg techniki Papworth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Elementy jogi i relaksacji oddechu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Ćwiczenia rozprężające dolne partie płuc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1417320"/>
            <a:ext cx="3383280" cy="4526280"/>
          </a:xfrm>
          <a:prstGeom prst="roundRect">
            <a:avLst/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160020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3C5D"/>
                </a:solidFill>
                <a:latin typeface="Calibri"/>
              </a:rPr>
              <a:t>Efekty i dowody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13248" y="2148840"/>
            <a:ext cx="30632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148F9E"/>
                </a:solidFill>
                <a:latin typeface="Calibri"/>
              </a:rPr>
              <a:t>•  </a:t>
            </a:r>
            <a:r>
              <a:rPr sz="1250">
                <a:solidFill>
                  <a:srgbClr val="222B33"/>
                </a:solidFill>
                <a:latin typeface="Calibri"/>
              </a:rPr>
              <a:t>Poprawa kontroli objawów i jakości życia (Cochrane, Santino i wsp. 2020)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148F9E"/>
                </a:solidFill>
                <a:latin typeface="Calibri"/>
              </a:rPr>
              <a:t>•  </a:t>
            </a:r>
            <a:r>
              <a:rPr sz="1250">
                <a:solidFill>
                  <a:srgbClr val="222B33"/>
                </a:solidFill>
                <a:latin typeface="Calibri"/>
              </a:rPr>
              <a:t>Redukcja lęku i hiperwentylacji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148F9E"/>
                </a:solidFill>
                <a:latin typeface="Calibri"/>
              </a:rPr>
              <a:t>•  </a:t>
            </a:r>
            <a:r>
              <a:rPr sz="1250">
                <a:solidFill>
                  <a:srgbClr val="222B33"/>
                </a:solidFill>
                <a:latin typeface="Calibri"/>
              </a:rPr>
              <a:t>Mniejsze zużycie leków doraźnych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148F9E"/>
                </a:solidFill>
                <a:latin typeface="Calibri"/>
              </a:rPr>
              <a:t>•  </a:t>
            </a:r>
            <a:r>
              <a:rPr sz="1250">
                <a:solidFill>
                  <a:srgbClr val="222B33"/>
                </a:solidFill>
                <a:latin typeface="Calibri"/>
              </a:rPr>
              <a:t>Lepszy wzorzec oddechowy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148F9E"/>
                </a:solidFill>
                <a:latin typeface="Calibri"/>
              </a:rPr>
              <a:t>•  </a:t>
            </a:r>
            <a:r>
              <a:rPr sz="1250">
                <a:solidFill>
                  <a:srgbClr val="222B33"/>
                </a:solidFill>
                <a:latin typeface="Calibri"/>
              </a:rPr>
              <a:t>Zalecane jako uzupełnienie leczenia (GINA)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520" y="1417320"/>
            <a:ext cx="2971800" cy="45262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g_breath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7112" y="2130552"/>
            <a:ext cx="2642616" cy="264261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823960" y="5486400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1">
                <a:solidFill>
                  <a:srgbClr val="0B3C5D"/>
                </a:solidFill>
                <a:latin typeface="Calibri"/>
              </a:rPr>
              <a:t>Oddychanie przeponowe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-1005840" y="4754880"/>
            <a:ext cx="2377440" cy="2377440"/>
          </a:xfrm>
          <a:prstGeom prst="ellipse">
            <a:avLst/>
          </a:prstGeom>
          <a:solidFill>
            <a:srgbClr val="E8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84080" y="4297680"/>
            <a:ext cx="3291840" cy="3291840"/>
          </a:xfrm>
          <a:prstGeom prst="ellipse">
            <a:avLst/>
          </a:prstGeom>
          <a:solidFill>
            <a:srgbClr val="DD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6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"/>
            <a:ext cx="107899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Trening mięśni oddechowych i oczyszczanie oskrzeli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1908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5560"/>
                </a:solidFill>
                <a:latin typeface="Calibri"/>
              </a:rPr>
              <a:t>Astma oskrzelowa – planowanie i programowanie fizjoterapii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4A5560"/>
                </a:solidFill>
                <a:latin typeface="Calibri"/>
              </a:rPr>
              <a:t>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417320"/>
            <a:ext cx="5394960" cy="4480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1417320"/>
            <a:ext cx="5394960" cy="502920"/>
          </a:xfrm>
          <a:prstGeom prst="round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417320"/>
            <a:ext cx="51206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Trening mięśni oddechowych (IMT)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057400"/>
            <a:ext cx="4992624" cy="3703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Trening mięśni wdechowych z użyciem oporu (np. Threshold IMT)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Wzmacnia przeponę i mięśnie międzyżebrowe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Typowo: obciążenie 30–50% PImax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Zmniejsza duszność i pracę oddechową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Poprawa siły i wytrzymałości mięśni oddechowych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Ćwiczenia oporowe mięśni wydechowych w razie wskazań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417320"/>
            <a:ext cx="5394960" cy="4480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7920" y="1417320"/>
            <a:ext cx="5394960" cy="502920"/>
          </a:xfrm>
          <a:prstGeom prst="round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417320"/>
            <a:ext cx="51206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Techniki oczyszczania drzewa oskrzelowego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2057400"/>
            <a:ext cx="4992624" cy="3703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Wskazane głównie przy nadmiernej wydzielinie / zaostrzeniu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Aktywny cykl technik oddechowych (ACBT)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Technika natężonego wydechu (huffing, ‘forced expiration’)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Drenaż ułożeniowy wspomagany oklepywaniem/wibracjami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Urządzenia PEP i oscylacyjne (flutter, acapella)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Efektywny kaszel – nauka kontrolowanego odkrztuszania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-1005840" y="4754880"/>
            <a:ext cx="2377440" cy="2377440"/>
          </a:xfrm>
          <a:prstGeom prst="ellipse">
            <a:avLst/>
          </a:prstGeom>
          <a:solidFill>
            <a:srgbClr val="E8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84080" y="4297680"/>
            <a:ext cx="3291840" cy="3291840"/>
          </a:xfrm>
          <a:prstGeom prst="ellipse">
            <a:avLst/>
          </a:prstGeom>
          <a:solidFill>
            <a:srgbClr val="DD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6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"/>
            <a:ext cx="107899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Trening fizyczny i rehabilitacja pulmonologiczna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1908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5560"/>
                </a:solidFill>
                <a:latin typeface="Calibri"/>
              </a:rPr>
              <a:t>Astma oskrzelowa – planowanie i programowanie fizjoterapii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4A5560"/>
                </a:solidFill>
                <a:latin typeface="Calibri"/>
              </a:rPr>
              <a:t>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417320"/>
            <a:ext cx="4572000" cy="45262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627632"/>
            <a:ext cx="4160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Trening aerobowy (wytrzymałościowy):</a:t>
            </a:r>
          </a:p>
          <a:p>
            <a:pPr lvl="1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A9D8F"/>
                </a:solidFill>
                <a:latin typeface="Calibri"/>
              </a:rPr>
              <a:t>–  </a:t>
            </a:r>
            <a:r>
              <a:rPr sz="1250">
                <a:solidFill>
                  <a:srgbClr val="222B33"/>
                </a:solidFill>
                <a:latin typeface="Calibri"/>
              </a:rPr>
              <a:t>Marsz, nordic walking, rower, pływanie</a:t>
            </a:r>
          </a:p>
          <a:p>
            <a:pPr lvl="1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A9D8F"/>
                </a:solidFill>
                <a:latin typeface="Calibri"/>
              </a:rPr>
              <a:t>–  </a:t>
            </a:r>
            <a:r>
              <a:rPr sz="1250">
                <a:solidFill>
                  <a:srgbClr val="222B33"/>
                </a:solidFill>
                <a:latin typeface="Calibri"/>
              </a:rPr>
              <a:t>Poprawa wydolności krążeniowo-oddechowej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Trening oporowy (siłowy):</a:t>
            </a:r>
          </a:p>
          <a:p>
            <a:pPr lvl="1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A9D8F"/>
                </a:solidFill>
                <a:latin typeface="Calibri"/>
              </a:rPr>
              <a:t>–  </a:t>
            </a:r>
            <a:r>
              <a:rPr sz="1250">
                <a:solidFill>
                  <a:srgbClr val="222B33"/>
                </a:solidFill>
                <a:latin typeface="Calibri"/>
              </a:rPr>
              <a:t>Wzmacnianie dużych grup mięśniowych</a:t>
            </a:r>
          </a:p>
          <a:p>
            <a:pPr lvl="1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A9D8F"/>
                </a:solidFill>
                <a:latin typeface="Calibri"/>
              </a:rPr>
              <a:t>–  </a:t>
            </a:r>
            <a:r>
              <a:rPr sz="1250">
                <a:solidFill>
                  <a:srgbClr val="222B33"/>
                </a:solidFill>
                <a:latin typeface="Calibri"/>
              </a:rPr>
              <a:t>Przeciwdziałanie skutkom steroidoterapii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Ćwiczenia ogólnousprawniające i rozciągające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Rozgrzewka i wychłodzenie (astma wysiłkowa)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Stopniowa progresja obciążeń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1417320"/>
            <a:ext cx="3383280" cy="4526280"/>
          </a:xfrm>
          <a:prstGeom prst="roundRect">
            <a:avLst/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160020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3C5D"/>
                </a:solidFill>
                <a:latin typeface="Calibri"/>
              </a:rPr>
              <a:t>Korzyści z treningu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13248" y="2148840"/>
            <a:ext cx="30632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148F9E"/>
                </a:solidFill>
                <a:latin typeface="Calibri"/>
              </a:rPr>
              <a:t>•  </a:t>
            </a:r>
            <a:r>
              <a:rPr sz="1250">
                <a:solidFill>
                  <a:srgbClr val="222B33"/>
                </a:solidFill>
                <a:latin typeface="Calibri"/>
              </a:rPr>
              <a:t>Wzrost wydolności i tolerancji wysiłku (Cochrane, Osadnik i wsp. 2022)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148F9E"/>
                </a:solidFill>
                <a:latin typeface="Calibri"/>
              </a:rPr>
              <a:t>•  </a:t>
            </a:r>
            <a:r>
              <a:rPr sz="1250">
                <a:solidFill>
                  <a:srgbClr val="222B33"/>
                </a:solidFill>
                <a:latin typeface="Calibri"/>
              </a:rPr>
              <a:t>Zmniejszenie duszności wysiłkowej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148F9E"/>
                </a:solidFill>
                <a:latin typeface="Calibri"/>
              </a:rPr>
              <a:t>•  </a:t>
            </a:r>
            <a:r>
              <a:rPr sz="1250">
                <a:solidFill>
                  <a:srgbClr val="222B33"/>
                </a:solidFill>
                <a:latin typeface="Calibri"/>
              </a:rPr>
              <a:t>Poprawa jakości życia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148F9E"/>
                </a:solidFill>
                <a:latin typeface="Calibri"/>
              </a:rPr>
              <a:t>•  </a:t>
            </a:r>
            <a:r>
              <a:rPr sz="1250">
                <a:solidFill>
                  <a:srgbClr val="222B33"/>
                </a:solidFill>
                <a:latin typeface="Calibri"/>
              </a:rPr>
              <a:t>Redukcja objawów i zaostrzeń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148F9E"/>
                </a:solidFill>
                <a:latin typeface="Calibri"/>
              </a:rPr>
              <a:t>•  </a:t>
            </a:r>
            <a:r>
              <a:rPr sz="1250">
                <a:solidFill>
                  <a:srgbClr val="222B33"/>
                </a:solidFill>
                <a:latin typeface="Calibri"/>
              </a:rPr>
              <a:t>Bezpieczna przy dobrej kontroli astmy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520" y="1417320"/>
            <a:ext cx="2971800" cy="45262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g_tra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7112" y="2130552"/>
            <a:ext cx="2642616" cy="264261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823960" y="5486400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1">
                <a:solidFill>
                  <a:srgbClr val="0B3C5D"/>
                </a:solidFill>
                <a:latin typeface="Calibri"/>
              </a:rPr>
              <a:t>Trening wytrzymałościowy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-1005840" y="4754880"/>
            <a:ext cx="2377440" cy="2377440"/>
          </a:xfrm>
          <a:prstGeom prst="ellipse">
            <a:avLst/>
          </a:prstGeom>
          <a:solidFill>
            <a:srgbClr val="E8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84080" y="4297680"/>
            <a:ext cx="3291840" cy="3291840"/>
          </a:xfrm>
          <a:prstGeom prst="ellipse">
            <a:avLst/>
          </a:prstGeom>
          <a:solidFill>
            <a:srgbClr val="DD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6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"/>
            <a:ext cx="107899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Astma wysiłkowa – szczególne zasady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7" y="71323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E3F2F4"/>
                </a:solidFill>
                <a:latin typeface="Calibri"/>
              </a:rPr>
              <a:t>Exercise-Induced Bronchoconstriction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1908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5560"/>
                </a:solidFill>
                <a:latin typeface="Calibri"/>
              </a:rPr>
              <a:t>Astma oskrzelowa – planowanie i programowanie fizjoterapii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4A5560"/>
                </a:solidFill>
                <a:latin typeface="Calibri"/>
              </a:rPr>
              <a:t>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417320"/>
            <a:ext cx="11064240" cy="1188720"/>
          </a:xfrm>
          <a:prstGeom prst="roundRect">
            <a:avLst/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417320"/>
            <a:ext cx="10424160" cy="11887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222B33"/>
                </a:solidFill>
                <a:latin typeface="Calibri"/>
              </a:rPr>
              <a:t>Skurcz oskrzeli wywołany wysiłkiem (EIB) – przemijające zwężenie dróg oddechowych pojawiające się w trakcie lub po intensywnym wysiłku, nasilane przez zimne, suche powietrze. Nie jest przeciwwskazaniem do aktywności – wymaga odpowiedniego postępowania.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8920"/>
            <a:ext cx="5394960" cy="3108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2788920"/>
            <a:ext cx="5394960" cy="502920"/>
          </a:xfrm>
          <a:prstGeom prst="round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788920"/>
            <a:ext cx="51206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Postępowanie profilaktyczne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429000"/>
            <a:ext cx="4992624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Stosowanie leku rozkurczowego przed wysiłkiem (wg zaleceń lekarza)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Dokładna, stopniowana rozgrzewka (‘refractory period’)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Powolne wychładzanie po wysiłku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Unikanie wysiłku w zimnym, suchym i zanieczyszczonym powietrzu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Oddychanie przez nos, ochrona dróg oddechowych (np. komin/maska zimą)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788920"/>
            <a:ext cx="5394960" cy="3108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0" y="2788920"/>
            <a:ext cx="5394960" cy="502920"/>
          </a:xfrm>
          <a:prstGeom prst="round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2788920"/>
            <a:ext cx="51206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Zalecane formy aktywności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3429000"/>
            <a:ext cx="4992624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Pływanie (ciepłe, wilgotne powietrze) – dobrze tolerowane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Aktywności o zmiennej intensywności (gry zespołowe)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Marsz, jazda na rowerze w umiarkowanym tempie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Sporty wymagające krótkich zrywów lepiej tolerowane niż długi wysiłek ciągły w zimnie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-1005840" y="4754880"/>
            <a:ext cx="2377440" cy="2377440"/>
          </a:xfrm>
          <a:prstGeom prst="ellipse">
            <a:avLst/>
          </a:prstGeom>
          <a:solidFill>
            <a:srgbClr val="E8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84080" y="4297680"/>
            <a:ext cx="3291840" cy="3291840"/>
          </a:xfrm>
          <a:prstGeom prst="ellipse">
            <a:avLst/>
          </a:prstGeom>
          <a:solidFill>
            <a:srgbClr val="DD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6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"/>
            <a:ext cx="107899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Edukacja pacjenta i profilaktyka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1908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5560"/>
                </a:solidFill>
                <a:latin typeface="Calibri"/>
              </a:rPr>
              <a:t>Astma oskrzelowa – planowanie i programowanie fizjoterapii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4A5560"/>
                </a:solidFill>
                <a:latin typeface="Calibri"/>
              </a:rPr>
              <a:t>19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417320"/>
            <a:ext cx="4572000" cy="45262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645920"/>
            <a:ext cx="4160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Wiedza o chorobie i mechanizmie objawów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Unikanie czynników wyzwalających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Prawidłowa technika inhalacji leków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Samokontrola – pomiar PEF, dzienniczek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Rozpoznawanie objawów zaostrzenia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Systematyczna aktywność fizyczna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Radzenie sobie z dusznością i lękiem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48F9E"/>
                </a:solidFill>
                <a:latin typeface="Calibri"/>
              </a:rPr>
              <a:t>•  </a:t>
            </a:r>
            <a:r>
              <a:rPr sz="1350">
                <a:solidFill>
                  <a:srgbClr val="222B33"/>
                </a:solidFill>
                <a:latin typeface="Calibri"/>
              </a:rPr>
              <a:t>Kontrola masy ciała, zaprzestanie palenia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1417320"/>
            <a:ext cx="3383280" cy="4526280"/>
          </a:xfrm>
          <a:prstGeom prst="roundRect">
            <a:avLst/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160020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3C5D"/>
                </a:solidFill>
                <a:latin typeface="Calibri"/>
              </a:rPr>
              <a:t>Plan działania w astmie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13248" y="2148840"/>
            <a:ext cx="30632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B3C5D"/>
                </a:solidFill>
                <a:latin typeface="Calibri"/>
              </a:rPr>
              <a:t>•  </a:t>
            </a:r>
            <a:r>
              <a:rPr sz="1250">
                <a:solidFill>
                  <a:srgbClr val="222B33"/>
                </a:solidFill>
                <a:latin typeface="Calibri"/>
              </a:rPr>
              <a:t>Strefa zielona – astma kontrolowana, kontynuacja leczenia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B3C5D"/>
                </a:solidFill>
                <a:latin typeface="Calibri"/>
              </a:rPr>
              <a:t>•  </a:t>
            </a:r>
            <a:r>
              <a:rPr sz="1250">
                <a:solidFill>
                  <a:srgbClr val="222B33"/>
                </a:solidFill>
                <a:latin typeface="Calibri"/>
              </a:rPr>
              <a:t>Strefa żółta – narastanie objawów, modyfikacja leków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B3C5D"/>
                </a:solidFill>
                <a:latin typeface="Calibri"/>
              </a:rPr>
              <a:t>•  </a:t>
            </a:r>
            <a:r>
              <a:rPr sz="1250">
                <a:solidFill>
                  <a:srgbClr val="222B33"/>
                </a:solidFill>
                <a:latin typeface="Calibri"/>
              </a:rPr>
              <a:t>Strefa czerwona – zaostrzenie, pilny kontakt z lekarzem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B3C5D"/>
                </a:solidFill>
                <a:latin typeface="Calibri"/>
              </a:rPr>
              <a:t>•  </a:t>
            </a:r>
            <a:r>
              <a:rPr sz="1250">
                <a:solidFill>
                  <a:srgbClr val="222B33"/>
                </a:solidFill>
                <a:latin typeface="Calibri"/>
              </a:rPr>
              <a:t>Edukacja zwiększa skuteczność terapii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520" y="1417320"/>
            <a:ext cx="2971800" cy="45262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g_inha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7112" y="2130552"/>
            <a:ext cx="2642616" cy="264261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823960" y="5486400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1">
                <a:solidFill>
                  <a:srgbClr val="0B3C5D"/>
                </a:solidFill>
                <a:latin typeface="Calibri"/>
              </a:rPr>
              <a:t>Technika inhalacji leku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-1005840" y="4754880"/>
            <a:ext cx="2377440" cy="2377440"/>
          </a:xfrm>
          <a:prstGeom prst="ellipse">
            <a:avLst/>
          </a:prstGeom>
          <a:solidFill>
            <a:srgbClr val="E8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84080" y="4297680"/>
            <a:ext cx="3291840" cy="3291840"/>
          </a:xfrm>
          <a:prstGeom prst="ellipse">
            <a:avLst/>
          </a:prstGeom>
          <a:solidFill>
            <a:srgbClr val="DD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6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"/>
            <a:ext cx="107899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Fizjoterapia – zaostrzenie vs okres stabilny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1908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5560"/>
                </a:solidFill>
                <a:latin typeface="Calibri"/>
              </a:rPr>
              <a:t>Astma oskrzelowa – planowanie i programowanie fizjoterapii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4A5560"/>
                </a:solidFill>
                <a:latin typeface="Calibri"/>
              </a:rPr>
              <a:t>20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417320"/>
            <a:ext cx="5394960" cy="4480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1417320"/>
            <a:ext cx="5394960" cy="502920"/>
          </a:xfrm>
          <a:prstGeom prst="round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417320"/>
            <a:ext cx="51206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Okres zaostrzenia (napad)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057400"/>
            <a:ext cx="4992624" cy="3703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Priorytet: farmakoterapia i tlenoterapia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Pozycje ułatwiające oddychanie (np. woźnicy, wysoka)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Oddychanie przez zasznurowane usta, spowolnienie oddechu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Techniki relaksacyjne, redukcja lęku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Delikatna ewakuacja wydzieliny (jeśli obecna)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UNIKAĆ intensywnego wysiłku i forsownych technik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417320"/>
            <a:ext cx="5394960" cy="4480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7920" y="1417320"/>
            <a:ext cx="5394960" cy="502920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417320"/>
            <a:ext cx="51206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Okres stabilny (kontrola astmy)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2057400"/>
            <a:ext cx="4992624" cy="3703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Trening aerobowy i oporowy (progresja obciążeń)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Ćwiczenia oddechowe i trening mięśni oddechowych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Poprawa ruchomości klatki piersiowej i postawy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Edukacja i utrwalanie nawyków ruchowych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Techniki oczyszczania w razie zalegania wydzieliny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Regularna aktywność fizyczna jako profilaktyka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-1005840" y="4754880"/>
            <a:ext cx="2377440" cy="2377440"/>
          </a:xfrm>
          <a:prstGeom prst="ellipse">
            <a:avLst/>
          </a:prstGeom>
          <a:solidFill>
            <a:srgbClr val="E8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84080" y="4297680"/>
            <a:ext cx="3291840" cy="3291840"/>
          </a:xfrm>
          <a:prstGeom prst="ellipse">
            <a:avLst/>
          </a:prstGeom>
          <a:solidFill>
            <a:srgbClr val="DD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6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"/>
            <a:ext cx="107899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Przykładowy plan terapii (1/2)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7" y="71323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E3F2F4"/>
                </a:solidFill>
                <a:latin typeface="Calibri"/>
              </a:rPr>
              <a:t>Opis przypadku i cele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1908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5560"/>
                </a:solidFill>
                <a:latin typeface="Calibri"/>
              </a:rPr>
              <a:t>Astma oskrzelowa – planowanie i programowanie fizjoterapii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4A5560"/>
                </a:solidFill>
                <a:latin typeface="Calibri"/>
              </a:rPr>
              <a:t>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417320"/>
            <a:ext cx="11064240" cy="1691640"/>
          </a:xfrm>
          <a:prstGeom prst="roundRect">
            <a:avLst/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55448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B3C5D"/>
                </a:solidFill>
                <a:latin typeface="Calibri"/>
              </a:rPr>
              <a:t>Charakterystyka pacjenta: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011680"/>
            <a:ext cx="1042416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22B33"/>
                </a:solidFill>
                <a:latin typeface="Calibri"/>
              </a:rPr>
              <a:t>Kobieta, 34 lata, astma oskrzelowa alergiczna, częściowo kontrolowana. Zgłasza duszność wysiłkową, obniżoną tolerancję wysiłku, epizody kaszlu nocnego. Prowadzi siedzący tryb życia. Bez zaostrzenia w chwili badania (astma stabilna).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91840"/>
            <a:ext cx="5394960" cy="2651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3291840"/>
            <a:ext cx="5394960" cy="502920"/>
          </a:xfrm>
          <a:prstGeom prst="round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291840"/>
            <a:ext cx="51206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Cele krótkoterminowe (4–6 tyg.)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931920"/>
            <a:ext cx="4992624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Nauka prawidłowego toru oddychania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Opanowanie technik kontroli duszności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Zwiększenie ruchomości klatki piersiowej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Wprowadzenie regularnej aktywności aerobowej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291840"/>
            <a:ext cx="5394960" cy="2651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17920" y="3291840"/>
            <a:ext cx="5394960" cy="502920"/>
          </a:xfrm>
          <a:prstGeom prst="round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3291840"/>
            <a:ext cx="51206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Cele długoterminowe (3–6 mies.)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3931920"/>
            <a:ext cx="4992624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Poprawa tolerancji wysiłku (dystans 6MWT)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Lepsza kontrola astmy (wzrost wyniku ACT)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Poprawa jakości życia (AQLQ)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Utrwalenie nawyku aktywności fizycznej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-1005840" y="4754880"/>
            <a:ext cx="2377440" cy="2377440"/>
          </a:xfrm>
          <a:prstGeom prst="ellipse">
            <a:avLst/>
          </a:prstGeom>
          <a:solidFill>
            <a:srgbClr val="E8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84080" y="4297680"/>
            <a:ext cx="3291840" cy="3291840"/>
          </a:xfrm>
          <a:prstGeom prst="ellipse">
            <a:avLst/>
          </a:prstGeom>
          <a:solidFill>
            <a:srgbClr val="DD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6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"/>
            <a:ext cx="107899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Przykładowy plan terapii (2/2)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7" y="71323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E3F2F4"/>
                </a:solidFill>
                <a:latin typeface="Calibri"/>
              </a:rPr>
              <a:t>Program tygodniowy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1908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5560"/>
                </a:solidFill>
                <a:latin typeface="Calibri"/>
              </a:rPr>
              <a:t>Astma oskrzelowa – planowanie i programowanie fizjoterapii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4A5560"/>
                </a:solidFill>
                <a:latin typeface="Calibri"/>
              </a:rPr>
              <a:t>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4A5560"/>
                </a:solidFill>
                <a:latin typeface="Calibri"/>
              </a:rPr>
              <a:t>Program rehabilitacji – 8 tygodni, 3 sesje nadzorowane + zalecenia domowe: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1828800"/>
            <a:ext cx="3657600" cy="621792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828800"/>
            <a:ext cx="347472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Element programu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828800"/>
            <a:ext cx="2103120" cy="621792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828800"/>
            <a:ext cx="192024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Częstotliwość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1828800"/>
            <a:ext cx="5303520" cy="621792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828800"/>
            <a:ext cx="512064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Dawkowanie / uwagi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450592"/>
            <a:ext cx="36576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F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450592"/>
            <a:ext cx="347472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22B33"/>
                </a:solidFill>
                <a:latin typeface="Calibri"/>
              </a:rPr>
              <a:t>Ćwiczenia oddechowe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6240" y="2450592"/>
            <a:ext cx="21031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F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2450592"/>
            <a:ext cx="192024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B33"/>
                </a:solidFill>
                <a:latin typeface="Calibri"/>
              </a:rPr>
              <a:t>Codziennie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450592"/>
            <a:ext cx="53035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F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450592"/>
            <a:ext cx="512064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B33"/>
                </a:solidFill>
                <a:latin typeface="Calibri"/>
              </a:rPr>
              <a:t>Przeponowe + pursed-lip, 2–3× dziennie po 5–10 min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072384"/>
            <a:ext cx="3657600" cy="621792"/>
          </a:xfrm>
          <a:prstGeom prst="rect">
            <a:avLst/>
          </a:prstGeom>
          <a:solidFill>
            <a:srgbClr val="E3F2F4"/>
          </a:solidFill>
          <a:ln w="12700">
            <a:solidFill>
              <a:srgbClr val="CF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072384"/>
            <a:ext cx="347472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22B33"/>
                </a:solidFill>
                <a:latin typeface="Calibri"/>
              </a:rPr>
              <a:t>Trening mięśni wdechowych (IMT)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3072384"/>
            <a:ext cx="2103120" cy="621792"/>
          </a:xfrm>
          <a:prstGeom prst="rect">
            <a:avLst/>
          </a:prstGeom>
          <a:solidFill>
            <a:srgbClr val="E3F2F4"/>
          </a:solidFill>
          <a:ln w="12700">
            <a:solidFill>
              <a:srgbClr val="CF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3072384"/>
            <a:ext cx="192024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B33"/>
                </a:solidFill>
                <a:latin typeface="Calibri"/>
              </a:rPr>
              <a:t>5–6×/tydz.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3072384"/>
            <a:ext cx="5303520" cy="621792"/>
          </a:xfrm>
          <a:prstGeom prst="rect">
            <a:avLst/>
          </a:prstGeom>
          <a:solidFill>
            <a:srgbClr val="E3F2F4"/>
          </a:solidFill>
          <a:ln w="12700">
            <a:solidFill>
              <a:srgbClr val="CF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072384"/>
            <a:ext cx="512064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B33"/>
                </a:solidFill>
                <a:latin typeface="Calibri"/>
              </a:rPr>
              <a:t>Threshold IMT, 30% PImax, 2 serie × 15 oddechów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694176"/>
            <a:ext cx="36576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F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694176"/>
            <a:ext cx="347472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22B33"/>
                </a:solidFill>
                <a:latin typeface="Calibri"/>
              </a:rPr>
              <a:t>Trening aerobowy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06240" y="3694176"/>
            <a:ext cx="21031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F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80" y="3694176"/>
            <a:ext cx="192024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B33"/>
                </a:solidFill>
                <a:latin typeface="Calibri"/>
              </a:rPr>
              <a:t>3–5×/tydz.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3694176"/>
            <a:ext cx="53035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F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694176"/>
            <a:ext cx="512064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B33"/>
                </a:solidFill>
                <a:latin typeface="Calibri"/>
              </a:rPr>
              <a:t>Marsz/rower, 20–40 min, 40–70% rezerwy tętna, Borg 3–4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315968"/>
            <a:ext cx="3657600" cy="621792"/>
          </a:xfrm>
          <a:prstGeom prst="rect">
            <a:avLst/>
          </a:prstGeom>
          <a:solidFill>
            <a:srgbClr val="E3F2F4"/>
          </a:solidFill>
          <a:ln w="12700">
            <a:solidFill>
              <a:srgbClr val="CF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315968"/>
            <a:ext cx="347472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22B33"/>
                </a:solidFill>
                <a:latin typeface="Calibri"/>
              </a:rPr>
              <a:t>Trening oporowy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06240" y="4315968"/>
            <a:ext cx="2103120" cy="621792"/>
          </a:xfrm>
          <a:prstGeom prst="rect">
            <a:avLst/>
          </a:prstGeom>
          <a:solidFill>
            <a:srgbClr val="E3F2F4"/>
          </a:solidFill>
          <a:ln w="12700">
            <a:solidFill>
              <a:srgbClr val="CF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97680" y="4315968"/>
            <a:ext cx="192024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B33"/>
                </a:solidFill>
                <a:latin typeface="Calibri"/>
              </a:rPr>
              <a:t>2–3×/tydz.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4315968"/>
            <a:ext cx="5303520" cy="621792"/>
          </a:xfrm>
          <a:prstGeom prst="rect">
            <a:avLst/>
          </a:prstGeom>
          <a:solidFill>
            <a:srgbClr val="E3F2F4"/>
          </a:solidFill>
          <a:ln w="12700">
            <a:solidFill>
              <a:srgbClr val="CF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4315968"/>
            <a:ext cx="512064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B33"/>
                </a:solidFill>
                <a:latin typeface="Calibri"/>
              </a:rPr>
              <a:t>Duże grupy mięśni, 1–3 serie × 8–12 powtórzeń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4937760"/>
            <a:ext cx="36576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F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4937760"/>
            <a:ext cx="347472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22B33"/>
                </a:solidFill>
                <a:latin typeface="Calibri"/>
              </a:rPr>
              <a:t>Ćwiczenia klatki i postawy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06240" y="4937760"/>
            <a:ext cx="21031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F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97680" y="4937760"/>
            <a:ext cx="192024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B33"/>
                </a:solidFill>
                <a:latin typeface="Calibri"/>
              </a:rPr>
              <a:t>Codziennie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09360" y="4937760"/>
            <a:ext cx="53035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F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937760"/>
            <a:ext cx="512064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B33"/>
                </a:solidFill>
                <a:latin typeface="Calibri"/>
              </a:rPr>
              <a:t>Rozprężające, rozciągające, korekcja postawy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5559552"/>
            <a:ext cx="3657600" cy="621792"/>
          </a:xfrm>
          <a:prstGeom prst="rect">
            <a:avLst/>
          </a:prstGeom>
          <a:solidFill>
            <a:srgbClr val="E3F2F4"/>
          </a:solidFill>
          <a:ln w="12700">
            <a:solidFill>
              <a:srgbClr val="CF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5559552"/>
            <a:ext cx="347472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22B33"/>
                </a:solidFill>
                <a:latin typeface="Calibri"/>
              </a:rPr>
              <a:t>Edukacja i samokontrola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06240" y="5559552"/>
            <a:ext cx="2103120" cy="621792"/>
          </a:xfrm>
          <a:prstGeom prst="rect">
            <a:avLst/>
          </a:prstGeom>
          <a:solidFill>
            <a:srgbClr val="E3F2F4"/>
          </a:solidFill>
          <a:ln w="12700">
            <a:solidFill>
              <a:srgbClr val="CF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97680" y="5559552"/>
            <a:ext cx="192024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B33"/>
                </a:solidFill>
                <a:latin typeface="Calibri"/>
              </a:rPr>
              <a:t>Ciągle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09360" y="5559552"/>
            <a:ext cx="5303520" cy="621792"/>
          </a:xfrm>
          <a:prstGeom prst="rect">
            <a:avLst/>
          </a:prstGeom>
          <a:solidFill>
            <a:srgbClr val="E3F2F4"/>
          </a:solidFill>
          <a:ln w="12700">
            <a:solidFill>
              <a:srgbClr val="CF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0" y="5559552"/>
            <a:ext cx="512064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B33"/>
                </a:solidFill>
                <a:latin typeface="Calibri"/>
              </a:rPr>
              <a:t>Technika inhalacji, dzienniczek PEF, plan działania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-1005840" y="4754880"/>
            <a:ext cx="2377440" cy="2377440"/>
          </a:xfrm>
          <a:prstGeom prst="ellipse">
            <a:avLst/>
          </a:prstGeom>
          <a:solidFill>
            <a:srgbClr val="E8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84080" y="4297680"/>
            <a:ext cx="3291840" cy="3291840"/>
          </a:xfrm>
          <a:prstGeom prst="ellipse">
            <a:avLst/>
          </a:prstGeom>
          <a:solidFill>
            <a:srgbClr val="DD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6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"/>
            <a:ext cx="107899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Przeciwwskazania i zasady bezpieczeństwa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1908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5560"/>
                </a:solidFill>
                <a:latin typeface="Calibri"/>
              </a:rPr>
              <a:t>Astma oskrzelowa – planowanie i programowanie fizjoterapii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4A5560"/>
                </a:solidFill>
                <a:latin typeface="Calibri"/>
              </a:rPr>
              <a:t>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417320"/>
            <a:ext cx="5394960" cy="4480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1417320"/>
            <a:ext cx="5394960" cy="502920"/>
          </a:xfrm>
          <a:prstGeom prst="round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417320"/>
            <a:ext cx="51206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Przeciwwskazania / ostrożność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057400"/>
            <a:ext cx="4992624" cy="3703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Ciężkie, niekontrolowane zaostrzenie astmy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Znaczna hipoksemia (niska saturacja) bez zabezpieczenia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Niestabilne choroby sercowo-naczyniowe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Ostra infekcja z gorączką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Wysiłek w środowisku wyzwalającym objawy (zimno, alergeny)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Brak dostępu do leku doraźnego podczas ćwiczeń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417320"/>
            <a:ext cx="5394960" cy="4480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7920" y="1417320"/>
            <a:ext cx="5394960" cy="502920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417320"/>
            <a:ext cx="51206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Zasady bezpieczeństwa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2057400"/>
            <a:ext cx="4992624" cy="3703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Ćwiczenia przy dobrej kontroli astmy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Lek rozkurczowy dostępny podczas terapii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Monitorowanie SpO₂, tętna i duszności (Borg)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Rozgrzewka i stopniowa progresja obciążeń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Przerwanie ćwiczeń przy nasileniu objawów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Dostosowanie środowiska (temperatura, wilgotność, brak alergenów)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-1005840" y="4754880"/>
            <a:ext cx="2377440" cy="2377440"/>
          </a:xfrm>
          <a:prstGeom prst="ellipse">
            <a:avLst/>
          </a:prstGeom>
          <a:solidFill>
            <a:srgbClr val="E8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84080" y="4297680"/>
            <a:ext cx="3291840" cy="3291840"/>
          </a:xfrm>
          <a:prstGeom prst="ellipse">
            <a:avLst/>
          </a:prstGeom>
          <a:solidFill>
            <a:srgbClr val="DD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6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"/>
            <a:ext cx="107899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Ocena efektów fizjoterapii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1908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5560"/>
                </a:solidFill>
                <a:latin typeface="Calibri"/>
              </a:rPr>
              <a:t>Astma oskrzelowa – planowanie i programowanie fizjoterapii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4A5560"/>
                </a:solidFill>
                <a:latin typeface="Calibri"/>
              </a:rPr>
              <a:t>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4A5560"/>
                </a:solidFill>
                <a:latin typeface="Calibri"/>
              </a:rPr>
              <a:t>Monitorowanie postępów przy pomocy obiektywnych i subiektywnych mierników: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28800"/>
            <a:ext cx="3611880" cy="4023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28800"/>
            <a:ext cx="3611880" cy="685800"/>
          </a:xfrm>
          <a:prstGeom prst="round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828800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Parametry czynnościowe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743200"/>
            <a:ext cx="32004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Spirometria (FEV1, PEF)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Zmienność dobowa PEF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Saturacja SpO₂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Siła mięśni oddechowych (PImax)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1828800"/>
            <a:ext cx="3611880" cy="4023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51960" y="1828800"/>
            <a:ext cx="3611880" cy="685800"/>
          </a:xfrm>
          <a:prstGeom prst="round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1828800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Wydolność i sprawność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743200"/>
            <a:ext cx="32004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6-minutowy test marszu (6MWT)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Tolerancja wysiłku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Duszność wysiłkowa (skala Borga)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Ruchomość klatki piersiowej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0" y="1828800"/>
            <a:ext cx="3611880" cy="4023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0" y="1828800"/>
            <a:ext cx="3611880" cy="685800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1828800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Kontrola i jakość życia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2743200"/>
            <a:ext cx="32004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Test kontroli astmy (ACT / ACQ)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Kwestionariusz AQLQ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Częstość objawów i zaostrzeń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148F9E"/>
                </a:solidFill>
                <a:latin typeface="Calibri"/>
              </a:rPr>
              <a:t>•  </a:t>
            </a:r>
            <a:r>
              <a:rPr sz="1400">
                <a:solidFill>
                  <a:srgbClr val="222B33"/>
                </a:solidFill>
                <a:latin typeface="Calibri"/>
              </a:rPr>
              <a:t>Zużycie leków doraźnych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-1005840" y="4754880"/>
            <a:ext cx="2377440" cy="2377440"/>
          </a:xfrm>
          <a:prstGeom prst="ellipse">
            <a:avLst/>
          </a:prstGeom>
          <a:solidFill>
            <a:srgbClr val="E8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84080" y="4297680"/>
            <a:ext cx="3291840" cy="3291840"/>
          </a:xfrm>
          <a:prstGeom prst="ellipse">
            <a:avLst/>
          </a:prstGeom>
          <a:solidFill>
            <a:srgbClr val="DD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6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"/>
            <a:ext cx="107899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Podsumowanie i wnioski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1908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5560"/>
                </a:solidFill>
                <a:latin typeface="Calibri"/>
              </a:rPr>
              <a:t>Astma oskrzelowa – planowanie i programowanie fizjoterapii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4A5560"/>
                </a:solidFill>
                <a:latin typeface="Calibri"/>
              </a:rPr>
              <a:t>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417320"/>
            <a:ext cx="109728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1">
                <a:solidFill>
                  <a:srgbClr val="148F9E"/>
                </a:solidFill>
                <a:latin typeface="Calibri"/>
              </a:rPr>
              <a:t>•  </a:t>
            </a:r>
            <a:r>
              <a:rPr sz="1600">
                <a:solidFill>
                  <a:srgbClr val="222B33"/>
                </a:solidFill>
                <a:latin typeface="Calibri"/>
              </a:rPr>
              <a:t>Astma oskrzelowa to przewlekła, zapalna choroba dróg oddechowych o zmiennym przebiegu i odwracalnej obturacji.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1">
                <a:solidFill>
                  <a:srgbClr val="148F9E"/>
                </a:solidFill>
                <a:latin typeface="Calibri"/>
              </a:rPr>
              <a:t>•  </a:t>
            </a:r>
            <a:r>
              <a:rPr sz="1600">
                <a:solidFill>
                  <a:srgbClr val="222B33"/>
                </a:solidFill>
                <a:latin typeface="Calibri"/>
              </a:rPr>
              <a:t>Rzetelne badanie pacjenta (wywiad, badanie przedmiotowe, testy czynnościowe i skale) jest podstawą planowania terapii.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1">
                <a:solidFill>
                  <a:srgbClr val="148F9E"/>
                </a:solidFill>
                <a:latin typeface="Calibri"/>
              </a:rPr>
              <a:t>•  </a:t>
            </a:r>
            <a:r>
              <a:rPr sz="1600">
                <a:solidFill>
                  <a:srgbClr val="222B33"/>
                </a:solidFill>
                <a:latin typeface="Calibri"/>
              </a:rPr>
              <a:t>Fizjoterapia jest ważnym, uzupełniającym elementem kompleksowego leczenia astmy – nie zastępuje farmakoterapii.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1">
                <a:solidFill>
                  <a:srgbClr val="148F9E"/>
                </a:solidFill>
                <a:latin typeface="Calibri"/>
              </a:rPr>
              <a:t>•  </a:t>
            </a:r>
            <a:r>
              <a:rPr sz="1600">
                <a:solidFill>
                  <a:srgbClr val="222B33"/>
                </a:solidFill>
                <a:latin typeface="Calibri"/>
              </a:rPr>
              <a:t>Kluczowe środki: ćwiczenia oddechowe, trening mięśni oddechowych, trening fizyczny, techniki oczyszczania i edukacja.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1">
                <a:solidFill>
                  <a:srgbClr val="148F9E"/>
                </a:solidFill>
                <a:latin typeface="Calibri"/>
              </a:rPr>
              <a:t>•  </a:t>
            </a:r>
            <a:r>
              <a:rPr sz="1600">
                <a:solidFill>
                  <a:srgbClr val="222B33"/>
                </a:solidFill>
                <a:latin typeface="Calibri"/>
              </a:rPr>
              <a:t>Planowanie i programowanie musi być indywidualne, etapowe, systematyczne i bezpieczne (model FITT, cele SMART).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1">
                <a:solidFill>
                  <a:srgbClr val="148F9E"/>
                </a:solidFill>
                <a:latin typeface="Calibri"/>
              </a:rPr>
              <a:t>•  </a:t>
            </a:r>
            <a:r>
              <a:rPr sz="1600">
                <a:solidFill>
                  <a:srgbClr val="222B33"/>
                </a:solidFill>
                <a:latin typeface="Calibri"/>
              </a:rPr>
              <a:t>Regularna, właściwie dozowana aktywność fizyczna poprawia wydolność, kontrolę objawów i jakość życia chorych.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1">
                <a:solidFill>
                  <a:srgbClr val="148F9E"/>
                </a:solidFill>
                <a:latin typeface="Calibri"/>
              </a:rPr>
              <a:t>•  </a:t>
            </a:r>
            <a:r>
              <a:rPr sz="1600">
                <a:solidFill>
                  <a:srgbClr val="222B33"/>
                </a:solidFill>
                <a:latin typeface="Calibri"/>
              </a:rPr>
              <a:t>Efekty należy monitorować obiektywnymi i subiektywnymi narzędziami oraz modyfikować program w oparciu o wyniki.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-1005840" y="4754880"/>
            <a:ext cx="2377440" cy="2377440"/>
          </a:xfrm>
          <a:prstGeom prst="ellipse">
            <a:avLst/>
          </a:prstGeom>
          <a:solidFill>
            <a:srgbClr val="E8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84080" y="4297680"/>
            <a:ext cx="3291840" cy="3291840"/>
          </a:xfrm>
          <a:prstGeom prst="ellipse">
            <a:avLst/>
          </a:prstGeom>
          <a:solidFill>
            <a:srgbClr val="DD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8F4F6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"/>
            <a:ext cx="107899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Bibliografia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7" y="71323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E3F2F4"/>
                </a:solidFill>
                <a:latin typeface="Calibri"/>
              </a:rPr>
              <a:t>Polskie piśmiennictwo naukowe (PubMed / Google Scholar) i podręczniki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1908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5560"/>
                </a:solidFill>
                <a:latin typeface="Calibri"/>
              </a:rPr>
              <a:t>Astma oskrzelowa – planowanie i programowanie fizjoterapii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4A5560"/>
                </a:solidFill>
                <a:latin typeface="Calibri"/>
              </a:rPr>
              <a:t>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28016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3C5D"/>
                </a:solidFill>
                <a:latin typeface="Calibri"/>
              </a:rPr>
              <a:t>Podręczniki i rozdziały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28016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3C5D"/>
                </a:solidFill>
                <a:latin typeface="Calibri"/>
              </a:rPr>
              <a:t>Artykuły naukowe i wytyczne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691640"/>
            <a:ext cx="5623560" cy="4343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91640"/>
            <a:ext cx="5532120" cy="4343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874519"/>
            <a:ext cx="52120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1">
                <a:solidFill>
                  <a:srgbClr val="0B3C5D"/>
                </a:solidFill>
                <a:latin typeface="Calibri"/>
              </a:rPr>
              <a:t>•  </a:t>
            </a:r>
            <a:r>
              <a:rPr sz="1250">
                <a:solidFill>
                  <a:srgbClr val="222B33"/>
                </a:solidFill>
                <a:latin typeface="Calibri"/>
              </a:rPr>
              <a:t>1. Woźniewski M. (red.). Fizjoterapia w chorobach wewnętrznych. Wydawnictwo Lekarskie PZWL, Warszawa.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1">
                <a:solidFill>
                  <a:srgbClr val="0B3C5D"/>
                </a:solidFill>
                <a:latin typeface="Calibri"/>
              </a:rPr>
              <a:t>•  </a:t>
            </a:r>
            <a:r>
              <a:rPr sz="1250">
                <a:solidFill>
                  <a:srgbClr val="222B33"/>
                </a:solidFill>
                <a:latin typeface="Calibri"/>
              </a:rPr>
              <a:t>2. Rosławski A., Woźniewski M. Fizjoterapia oddechowa. Wydawnictwo AWF we Wrocławiu, Wrocław.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1">
                <a:solidFill>
                  <a:srgbClr val="0B3C5D"/>
                </a:solidFill>
                <a:latin typeface="Calibri"/>
              </a:rPr>
              <a:t>•  </a:t>
            </a:r>
            <a:r>
              <a:rPr sz="1250">
                <a:solidFill>
                  <a:srgbClr val="222B33"/>
                </a:solidFill>
                <a:latin typeface="Calibri"/>
              </a:rPr>
              <a:t>3. Kwolek A. (red.). Rehabilitacja medyczna. Edra Urban &amp; Partner, Wrocław.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1">
                <a:solidFill>
                  <a:srgbClr val="0B3C5D"/>
                </a:solidFill>
                <a:latin typeface="Calibri"/>
              </a:rPr>
              <a:t>•  </a:t>
            </a:r>
            <a:r>
              <a:rPr sz="1250">
                <a:solidFill>
                  <a:srgbClr val="222B33"/>
                </a:solidFill>
                <a:latin typeface="Calibri"/>
              </a:rPr>
              <a:t>4. Rowińska-Zakrzewska E., Kuś J. (red.). Choroby układu oddechowego. Wydawnictwo Lekarskie PZWL, Warszawa.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1">
                <a:solidFill>
                  <a:srgbClr val="0B3C5D"/>
                </a:solidFill>
                <a:latin typeface="Calibri"/>
              </a:rPr>
              <a:t>•  </a:t>
            </a:r>
            <a:r>
              <a:rPr sz="1250">
                <a:solidFill>
                  <a:srgbClr val="222B33"/>
                </a:solidFill>
                <a:latin typeface="Calibri"/>
              </a:rPr>
              <a:t>5. Durmała J. Rehabilitacja pacjentów z chorobą płuc. W: Antczak A. (red.). Wielka Interna – Pulmonologia. Medical Tribune Polska, Warszawa.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874519"/>
            <a:ext cx="51206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0B3C5D"/>
                </a:solidFill>
                <a:latin typeface="Calibri"/>
              </a:rPr>
              <a:t>•  </a:t>
            </a:r>
            <a:r>
              <a:rPr sz="1200">
                <a:solidFill>
                  <a:srgbClr val="222B33"/>
                </a:solidFill>
                <a:latin typeface="Calibri"/>
              </a:rPr>
              <a:t>6. Radzimińska A., Kozłowska S., Strojek K. i wsp. Kompleksowa fizjoterapia w astmie oskrzelowej – przegląd literatury. Journal of Education, Health and Sport. 2016;6(10):53–67.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0B3C5D"/>
                </a:solidFill>
                <a:latin typeface="Calibri"/>
              </a:rPr>
              <a:t>•  </a:t>
            </a:r>
            <a:r>
              <a:rPr sz="1200">
                <a:solidFill>
                  <a:srgbClr val="222B33"/>
                </a:solidFill>
                <a:latin typeface="Calibri"/>
              </a:rPr>
              <a:t>7. Gawlik R., Wróbel-Rajzer M., Tukaj M. Rehabilitacja oddechowa w astmie oskrzelowej. Alergoprofil. 2011;7(3):10–13.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0B3C5D"/>
                </a:solidFill>
                <a:latin typeface="Calibri"/>
              </a:rPr>
              <a:t>•  </a:t>
            </a:r>
            <a:r>
              <a:rPr sz="1200">
                <a:solidFill>
                  <a:srgbClr val="222B33"/>
                </a:solidFill>
                <a:latin typeface="Calibri"/>
              </a:rPr>
              <a:t>8. Kielnar R., Kużdżał A. Rehabilitacja w chorobach płuc. Praktyczna Fizjoterapia i Rehabilitacja. 2010;7:37–41.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0B3C5D"/>
                </a:solidFill>
                <a:latin typeface="Calibri"/>
              </a:rPr>
              <a:t>•  </a:t>
            </a:r>
            <a:r>
              <a:rPr sz="1200">
                <a:solidFill>
                  <a:srgbClr val="222B33"/>
                </a:solidFill>
                <a:latin typeface="Calibri"/>
              </a:rPr>
              <a:t>9. Global Initiative for Asthma (GINA). Światowa strategia rozpoznawania, leczenia i prewencji astmy. Aktualizacja 2023 (wyd. pol. Medycyna Praktyczna).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0B3C5D"/>
                </a:solidFill>
                <a:latin typeface="Calibri"/>
              </a:rPr>
              <a:t>•  </a:t>
            </a:r>
            <a:r>
              <a:rPr sz="1200">
                <a:solidFill>
                  <a:srgbClr val="222B33"/>
                </a:solidFill>
                <a:latin typeface="Calibri"/>
              </a:rPr>
              <a:t>10. Osadnik CR, Gleeson C, McDonald VM, Holland AE. Pulmonary rehabilitation versus usual care for adults with asthma. Cochrane Database Syst Rev. 2022;8:CD013485.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-1645920"/>
            <a:ext cx="4206240" cy="4206240"/>
          </a:xfrm>
          <a:prstGeom prst="ellipse">
            <a:avLst/>
          </a:prstGeom>
          <a:solidFill>
            <a:srgbClr val="0F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4297680"/>
            <a:ext cx="4023360" cy="4023360"/>
          </a:xfrm>
          <a:prstGeom prst="ellipse">
            <a:avLst/>
          </a:prstGeom>
          <a:solidFill>
            <a:srgbClr val="0F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g_lu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667512"/>
            <a:ext cx="1682496" cy="16824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3246120"/>
            <a:ext cx="12191695" cy="91440"/>
          </a:xfrm>
          <a:prstGeom prst="rect">
            <a:avLst/>
          </a:prstGeom>
          <a:solidFill>
            <a:srgbClr val="148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33272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Dziękuję za uwagę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20440"/>
            <a:ext cx="103327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E3F2F4"/>
                </a:solidFill>
                <a:latin typeface="Calibri"/>
              </a:rPr>
              <a:t>Zasady planowania i programowania fizjoterapii – Astma oskrzelowa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206240"/>
            <a:ext cx="103327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9FC9D1"/>
                </a:solidFill>
                <a:latin typeface="Calibri"/>
              </a:rPr>
              <a:t>Kliniczne podstawy fizjoterapii w pulmonologii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