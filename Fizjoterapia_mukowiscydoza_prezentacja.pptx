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4526280"/>
            <a:ext cx="12191695" cy="54864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69848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Uniwersytet Rzeszowski  •  Kierunek FIZJOTERAPIA</a:t>
            </a:r>
          </a:p>
          <a:p>
            <a:pPr algn="ctr"/>
            <a:r>
              <a:rPr sz="1400" b="0" i="0">
                <a:solidFill>
                  <a:srgbClr val="EEF4F8"/>
                </a:solidFill>
                <a:latin typeface="Calibri"/>
              </a:rPr>
              <a:t>Studia niestacjonarne  •  Zdrowie Publiczne</a:t>
            </a:r>
          </a:p>
          <a:p>
            <a:pPr algn="ctr"/>
            <a:r>
              <a:rPr sz="1200" b="0" i="1">
                <a:solidFill>
                  <a:srgbClr val="1CA9A6"/>
                </a:solidFill>
                <a:latin typeface="Calibri"/>
              </a:rPr>
              <a:t>Projekt samodzielny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Zasady planowania i programowania fizjoterapii pacjentów z chorobami układu oddechowego</a:t>
            </a:r>
          </a:p>
          <a:p>
            <a:pPr algn="ctr">
              <a:spcBef>
                <a:spcPts val="1000"/>
              </a:spcBef>
            </a:pPr>
            <a:r>
              <a:rPr sz="2000" b="0" i="1">
                <a:solidFill>
                  <a:srgbClr val="1CA9A6"/>
                </a:solidFill>
                <a:latin typeface="Calibri"/>
              </a:rPr>
              <a:t>na przykładzie mukowiscydozy (zwłóknienia torbielowatego)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00600"/>
            <a:ext cx="10698480" cy="1645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Ernest Kurdziel</a:t>
            </a:r>
          </a:p>
          <a:p>
            <a:pPr algn="ctr"/>
            <a:r>
              <a:rPr sz="1400" b="0" i="0">
                <a:solidFill>
                  <a:srgbClr val="EEF4F8"/>
                </a:solidFill>
                <a:latin typeface="Calibri"/>
              </a:rPr>
              <a:t>Numer albumu: 72714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EEF4F8"/>
                </a:solidFill>
                <a:latin typeface="Calibri"/>
              </a:rPr>
              <a:t>Prowadzący: dr Weronika Cyganik</a:t>
            </a:r>
          </a:p>
          <a:p>
            <a:pPr algn="ctr">
              <a:spcBef>
                <a:spcPts val="600"/>
              </a:spcBef>
            </a:pPr>
            <a:r>
              <a:rPr sz="1300" b="0" i="1">
                <a:solidFill>
                  <a:srgbClr val="1CA9A6"/>
                </a:solidFill>
                <a:latin typeface="Calibri"/>
              </a:rPr>
              <a:t>Rzeszów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1155680" cy="960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200" b="1" i="0">
                <a:solidFill>
                  <a:srgbClr val="1CA9A6"/>
                </a:solidFill>
                <a:latin typeface="Calibri"/>
              </a:rPr>
              <a:t>AGENDA</a:t>
            </a:r>
          </a:p>
          <a:p>
            <a:r>
              <a:rPr sz="2800" b="1" i="0">
                <a:solidFill>
                  <a:srgbClr val="FFFFFF"/>
                </a:solidFill>
                <a:latin typeface="Calibri"/>
              </a:rPr>
              <a:t>Plan prezentacji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Fizjoterapia w mukowiscydozie  •  Ernest Kurdziel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82296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908792" cy="4846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2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200" b="0" i="0">
                <a:solidFill>
                  <a:srgbClr val="22303C"/>
                </a:solidFill>
                <a:latin typeface="Calibri"/>
              </a:rPr>
              <a:t>Wprowadzenie – choroby układu oddechowego i rola fizjoterapii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2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200" b="0" i="0">
                <a:solidFill>
                  <a:srgbClr val="22303C"/>
                </a:solidFill>
                <a:latin typeface="Calibri"/>
              </a:rPr>
              <a:t>Charakterystyka mukowiscydozy (etiologia, patofizjologia, objawy)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2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200" b="0" i="0">
                <a:solidFill>
                  <a:srgbClr val="22303C"/>
                </a:solidFill>
                <a:latin typeface="Calibri"/>
              </a:rPr>
              <a:t>Metody badania pacjenta z chorobą układu oddechowego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2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200" b="0" i="0">
                <a:solidFill>
                  <a:srgbClr val="22303C"/>
                </a:solidFill>
                <a:latin typeface="Calibri"/>
              </a:rPr>
              <a:t>Zasady planowania i programowania fizjoterapii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2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200" b="0" i="0">
                <a:solidFill>
                  <a:srgbClr val="22303C"/>
                </a:solidFill>
                <a:latin typeface="Calibri"/>
              </a:rPr>
              <a:t>Plan terapii – techniki, trening, przykładowy harmonogram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2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200" b="0" i="0">
                <a:solidFill>
                  <a:srgbClr val="22303C"/>
                </a:solidFill>
                <a:latin typeface="Calibri"/>
              </a:rPr>
              <a:t>Ocena skuteczności, podsumowanie i piśmiennictwo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1155680" cy="960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200" b="1" i="0">
                <a:solidFill>
                  <a:srgbClr val="1CA9A6"/>
                </a:solidFill>
                <a:latin typeface="Calibri"/>
              </a:rPr>
              <a:t>WSTĘP</a:t>
            </a:r>
          </a:p>
          <a:p>
            <a:r>
              <a:rPr sz="2800" b="1" i="0">
                <a:solidFill>
                  <a:srgbClr val="FFFFFF"/>
                </a:solidFill>
                <a:latin typeface="Calibri"/>
              </a:rPr>
              <a:t>Wprowadzenie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Fizjoterapia w mukowiscydozie  •  Ernest Kurdziel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82296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908792" cy="4846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Choroby układu oddechowego to jedna z głównych przyczyn chorobowości i śmiertelności na świecie.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Obok farmakoterapii kluczową rolę odgrywa fizjoterapia: utrzymanie drożności dróg oddechowych, poprawa wentylacji, wzrost tolerancji wysiłku.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Mukowiscydoza wybrana jako przykład – choroba przewlekła i postępująca, w której fizjoterapia jest stosowana codziennie przez całe życie.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Cel pracy: przedstawienie metod badania oraz zasad planowania i programowania fizjoterapii wraz z przykładowym planem terapii.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1155680" cy="960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200" b="1" i="0">
                <a:solidFill>
                  <a:srgbClr val="1CA9A6"/>
                </a:solidFill>
                <a:latin typeface="Calibri"/>
              </a:rPr>
              <a:t>CHARAKTERYSTYKA CHOROBY</a:t>
            </a:r>
          </a:p>
          <a:p>
            <a:r>
              <a:rPr sz="2800" b="1" i="0">
                <a:solidFill>
                  <a:srgbClr val="FFFFFF"/>
                </a:solidFill>
                <a:latin typeface="Calibri"/>
              </a:rPr>
              <a:t>Mukowiscydoza – definicja i etiologia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Fizjoterapia w mukowiscydozie  •  Ernest Kurdziel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82296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908792" cy="4846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Najczęstsza choroba genetyczna dziedziczona autosomalnie recesywnie w populacji rasy białej.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Przyczyna: mutacje genu CFTR (chromosom 7); najczęstsza – F508del.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Białko CFTR = kanał chlorkowy; jego dysfunkcja zaburza transport jonów Cl⁻, Na⁺ i wody.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Skutek: produkcja gęstego, lepkiego śluzu.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Choroba wielonarządowa: układ oddechowy, trzustka, przewód pokarmowy, wątroba, gruczoły potowe – o rokowaniu decyduje choroba płucna.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1155680" cy="960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200" b="1" i="0">
                <a:solidFill>
                  <a:srgbClr val="1CA9A6"/>
                </a:solidFill>
                <a:latin typeface="Calibri"/>
              </a:rPr>
              <a:t>CHARAKTERYSTYKA CHOROBY</a:t>
            </a:r>
          </a:p>
          <a:p>
            <a:r>
              <a:rPr sz="2800" b="1" i="0">
                <a:solidFill>
                  <a:srgbClr val="FFFFFF"/>
                </a:solidFill>
                <a:latin typeface="Calibri"/>
              </a:rPr>
              <a:t>Patofizjologia zmian w układzie oddechowym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Fizjoterapia w mukowiscydozie  •  Ernest Kurdziel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82296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908792" cy="4846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Odwodnienie warstwy płynu okrywającego nabłonek rzęskowy.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Zagęszczenie śluzu → upośledzenie klirensu mukocyliarnego.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Zalegająca wydzielina = pożywka dla bakterii (S. aureus, P. aeruginosa).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Błędne koło: infekcja → zapalenie → uszkodzenie ściany oskrzeli.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Następstwa: rozstrzenie oskrzeli, włóknienie, postępująca obturacja.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1155680" cy="960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200" b="1" i="0">
                <a:solidFill>
                  <a:srgbClr val="1CA9A6"/>
                </a:solidFill>
                <a:latin typeface="Calibri"/>
              </a:rPr>
              <a:t>OBRAZ KLINICZNY</a:t>
            </a:r>
          </a:p>
          <a:p>
            <a:r>
              <a:rPr sz="2800" b="1" i="0">
                <a:solidFill>
                  <a:srgbClr val="FFFFFF"/>
                </a:solidFill>
                <a:latin typeface="Calibri"/>
              </a:rPr>
              <a:t>Objawy ze strony układu oddechowego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Fizjoterapia w mukowiscydozie  •  Ernest Kurdziel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82296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908792" cy="4846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Przewlekły, produktywny kaszel z gęstą wydzieliną.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Nawracające i przewlekłe zakażenia dolnych dróg oddechowych.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Duszność wysiłkowa, a w zaawansowanych stadiach spoczynkowa.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Świsty, furczenia i trzeszczenia w osłuchiwaniu.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Spadek tolerancji wysiłku.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Stadia zaawansowane: palce pałeczkowate, beczkowata klatka piersiowa, przewlekła niewydolność oddechowa.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1155680" cy="960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200" b="1" i="0">
                <a:solidFill>
                  <a:srgbClr val="1CA9A6"/>
                </a:solidFill>
                <a:latin typeface="Calibri"/>
              </a:rPr>
              <a:t>DLACZEGO TO WAŻNE</a:t>
            </a:r>
          </a:p>
          <a:p>
            <a:r>
              <a:rPr sz="2800" b="1" i="0">
                <a:solidFill>
                  <a:srgbClr val="FFFFFF"/>
                </a:solidFill>
                <a:latin typeface="Calibri"/>
              </a:rPr>
              <a:t>Znaczenie fizjoterapii w mukowiscydozie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Fizjoterapia w mukowiscydozie  •  Ernest Kurdziel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82296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6858000" cy="4846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Techniki oczyszczania oskrzeli (ACT) – podstawowy, codzienny element leczenia.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Wspomagają usuwanie zalegającej wydzieliny.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Zmniejszają częstość zaostrzeń.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Poprawiają wentylację płuc.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W połączeniu z treningiem – lepsza wydolność i jakość życia.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1828800"/>
            <a:ext cx="3840480" cy="3291840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2011680"/>
            <a:ext cx="3474720" cy="2926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CA9A6"/>
                </a:solidFill>
                <a:latin typeface="Calibri"/>
              </a:rPr>
              <a:t>Fizjoterapia w CF</a:t>
            </a:r>
          </a:p>
          <a:p>
            <a:pPr algn="ctr">
              <a:spcBef>
                <a:spcPts val="1000"/>
              </a:spcBef>
            </a:pPr>
            <a:r>
              <a:rPr sz="1600" b="0" i="0">
                <a:solidFill>
                  <a:srgbClr val="FFFFFF"/>
                </a:solidFill>
                <a:latin typeface="Calibri"/>
              </a:rPr>
              <a:t>to nie dodatek do leczenia, lecz jego nieodłączny, codzienny element – prowadzony przez całe życie chorego.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1155680" cy="960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200" b="1" i="0">
                <a:solidFill>
                  <a:srgbClr val="1CA9A6"/>
                </a:solidFill>
                <a:latin typeface="Calibri"/>
              </a:rPr>
              <a:t>DIAGNOSTYKA FUNKCJONALNA</a:t>
            </a:r>
          </a:p>
          <a:p>
            <a:r>
              <a:rPr sz="2800" b="1" i="0">
                <a:solidFill>
                  <a:srgbClr val="FFFFFF"/>
                </a:solidFill>
                <a:latin typeface="Calibri"/>
              </a:rPr>
              <a:t>Metody badania – wywiad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Fizjoterapia w mukowiscydozie  •  Ernest Kurdziel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82296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908792" cy="4846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Dane ogólne: wiek, masa ciała, wzrost, BMI, aktywność fizyczna.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Wywiad chorobowy: test potowy, badania genetyczne, zaostrzenia, hospitalizacje.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Objawy: charakter kaszlu, ilość i rodzaj wydzieliny, duszność.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Leczenie: bronchodilatatory, mukolityki (dornaza alfa, hipertoniczny NaCl), antybiotyki, modulatory CFTR.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Dotychczasowa fizjoterapia i jej akceptacja przez pacjenta.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Jakość życia – kwestionariusz CFQ-R.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1155680" cy="960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200" b="1" i="0">
                <a:solidFill>
                  <a:srgbClr val="1CA9A6"/>
                </a:solidFill>
                <a:latin typeface="Calibri"/>
              </a:rPr>
              <a:t>DIAGNOSTYKA FUNKCJONALNA</a:t>
            </a:r>
          </a:p>
          <a:p>
            <a:r>
              <a:rPr sz="2800" b="1" i="0">
                <a:solidFill>
                  <a:srgbClr val="FFFFFF"/>
                </a:solidFill>
                <a:latin typeface="Calibri"/>
              </a:rPr>
              <a:t>Badanie przedmiotowe klatki piersiowej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Fizjoterapia w mukowiscydozie  •  Ernest Kurdziel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82296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554480"/>
            <a:ext cx="539496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554480"/>
            <a:ext cx="109728" cy="2240280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691640"/>
            <a:ext cx="4983480" cy="1965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800" b="1" i="0">
                <a:solidFill>
                  <a:srgbClr val="15406B"/>
                </a:solidFill>
                <a:latin typeface="Calibri"/>
              </a:rPr>
              <a:t>Oglądanie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22303C"/>
                </a:solidFill>
                <a:latin typeface="Calibri"/>
              </a:rPr>
              <a:t>Budowa i ruchomość klatki, tor i częstość oddechów, sinica, palce pałeczkowate, mięśnie dodatkowe.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554480"/>
            <a:ext cx="539496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554480"/>
            <a:ext cx="109728" cy="2240280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691640"/>
            <a:ext cx="4983480" cy="1965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800" b="1" i="0">
                <a:solidFill>
                  <a:srgbClr val="15406B"/>
                </a:solidFill>
                <a:latin typeface="Calibri"/>
              </a:rPr>
              <a:t>Palpacja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22303C"/>
                </a:solidFill>
                <a:latin typeface="Calibri"/>
              </a:rPr>
              <a:t>Ruchomość klatki piersiowej, drżenie głosowe, lokalizacja bolesności.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023360"/>
            <a:ext cx="539496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023360"/>
            <a:ext cx="109728" cy="2240280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160520"/>
            <a:ext cx="4983480" cy="1965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800" b="1" i="0">
                <a:solidFill>
                  <a:srgbClr val="15406B"/>
                </a:solidFill>
                <a:latin typeface="Calibri"/>
              </a:rPr>
              <a:t>Opukiwanie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22303C"/>
                </a:solidFill>
                <a:latin typeface="Calibri"/>
              </a:rPr>
              <a:t>Różnicowanie odgłosu (jawny, stłumiony, bębenkowy) – niedodma, rozedma.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023360"/>
            <a:ext cx="539496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4023360"/>
            <a:ext cx="109728" cy="2240280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4160520"/>
            <a:ext cx="4983480" cy="1965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800" b="1" i="0">
                <a:solidFill>
                  <a:srgbClr val="15406B"/>
                </a:solidFill>
                <a:latin typeface="Calibri"/>
              </a:rPr>
              <a:t>Osłuchiwanie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22303C"/>
                </a:solidFill>
                <a:latin typeface="Calibri"/>
              </a:rPr>
              <a:t>Szmer oddechowy i zjawiska dodatkowe: świsty, furczenia, trzeszczenia.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1155680" cy="960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200" b="1" i="0">
                <a:solidFill>
                  <a:srgbClr val="1CA9A6"/>
                </a:solidFill>
                <a:latin typeface="Calibri"/>
              </a:rPr>
              <a:t>SKALE POMIAROWE</a:t>
            </a:r>
          </a:p>
          <a:p>
            <a:r>
              <a:rPr sz="2800" b="1" i="0">
                <a:solidFill>
                  <a:srgbClr val="FFFFFF"/>
                </a:solidFill>
                <a:latin typeface="Calibri"/>
              </a:rPr>
              <a:t>Ocena duszności i wysiłku oddechowego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Fizjoterapia w mukowiscydozie  •  Ernest Kurdziel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82296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908792" cy="4846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Standaryzowane skale umożliwiają obiektywizację i monitorowanie postępów terapii.</a:t>
            </a:r>
          </a:p>
          <a:p>
            <a:pPr lvl="1"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1700" b="1" i="0">
                <a:solidFill>
                  <a:srgbClr val="5B6B79"/>
                </a:solidFill>
                <a:latin typeface="Calibri"/>
              </a:rPr>
              <a:t>–  </a:t>
            </a:r>
            <a:r>
              <a:rPr sz="1700" b="0" i="0">
                <a:solidFill>
                  <a:srgbClr val="22303C"/>
                </a:solidFill>
                <a:latin typeface="Calibri"/>
              </a:rPr>
              <a:t>skala mMRC – duszność w aktywnościach codziennych (0–4).</a:t>
            </a:r>
          </a:p>
          <a:p>
            <a:pPr lvl="1"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1700" b="1" i="0">
                <a:solidFill>
                  <a:srgbClr val="5B6B79"/>
                </a:solidFill>
                <a:latin typeface="Calibri"/>
              </a:rPr>
              <a:t>–  </a:t>
            </a:r>
            <a:r>
              <a:rPr sz="1700" b="0" i="0">
                <a:solidFill>
                  <a:srgbClr val="22303C"/>
                </a:solidFill>
                <a:latin typeface="Calibri"/>
              </a:rPr>
              <a:t>skala Borga / Borg CR10 – subiektywna ocena duszności i zmęczenia.</a:t>
            </a:r>
          </a:p>
          <a:p>
            <a:pPr lvl="1"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1700" b="1" i="0">
                <a:solidFill>
                  <a:srgbClr val="5B6B79"/>
                </a:solidFill>
                <a:latin typeface="Calibri"/>
              </a:rPr>
              <a:t>–  </a:t>
            </a:r>
            <a:r>
              <a:rPr sz="1700" b="0" i="0">
                <a:solidFill>
                  <a:srgbClr val="22303C"/>
                </a:solidFill>
                <a:latin typeface="Calibri"/>
              </a:rPr>
              <a:t>wizualna skala analogowa (VAS) – duszność lub bolesność.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1155680" cy="960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200" b="1" i="0">
                <a:solidFill>
                  <a:srgbClr val="1CA9A6"/>
                </a:solidFill>
                <a:latin typeface="Calibri"/>
              </a:rPr>
              <a:t>DIAGNOSTYKA FUNKCJONALNA</a:t>
            </a:r>
          </a:p>
          <a:p>
            <a:r>
              <a:rPr sz="2800" b="1" i="0">
                <a:solidFill>
                  <a:srgbClr val="FFFFFF"/>
                </a:solidFill>
                <a:latin typeface="Calibri"/>
              </a:rPr>
              <a:t>Badania czynnościowe układu oddechowego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Fizjoterapia w mukowiscydozie  •  Ernest Kurdziel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82296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908792" cy="4846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Spirometria – obecność i nasilenie obturacji (FEV1, FVC, FEV1/FVC); FEV1 to podstawowy parametr w CF.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Pulsoksymetria – nieinwazyjny pomiar SpO2 w spoczynku i wysiłku.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Gazometria – PaO2, PaCO2, równowaga kwasowo-zasadowa w niewydolności oddechowej.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LCI (lung clearance index) – wczesny wskaźnik nierównomierności wentylacji.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1155680" cy="960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200" b="1" i="0">
                <a:solidFill>
                  <a:srgbClr val="1CA9A6"/>
                </a:solidFill>
                <a:latin typeface="Calibri"/>
              </a:rPr>
              <a:t>DIAGNOSTYKA FUNKCJONALNA</a:t>
            </a:r>
          </a:p>
          <a:p>
            <a:r>
              <a:rPr sz="2800" b="1" i="0">
                <a:solidFill>
                  <a:srgbClr val="FFFFFF"/>
                </a:solidFill>
                <a:latin typeface="Calibri"/>
              </a:rPr>
              <a:t>Ocena wydolności fizycznej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Fizjoterapia w mukowiscydozie  •  Ernest Kurdziel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82296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908792" cy="4846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6MWT – test 6-minutowego marszu: dystans i reakcja (SpO2, tętno, duszność) na wysiłek submaksymalny.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CPET – sercowo-płucny test wysiłkowy: złoty standard, VO2peak.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Shuttle walk test oraz próby siły mięśni oddechowych (PImax, PEmax).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Ocena postawy i narządu ruchu: kifoza piersiowa, protrakcja barków, ruchomość i obwody klatki piersiowej.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1155680" cy="960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200" b="1" i="0">
                <a:solidFill>
                  <a:srgbClr val="1CA9A6"/>
                </a:solidFill>
                <a:latin typeface="Calibri"/>
              </a:rPr>
              <a:t>METODYKA</a:t>
            </a:r>
          </a:p>
          <a:p>
            <a:r>
              <a:rPr sz="2800" b="1" i="0">
                <a:solidFill>
                  <a:srgbClr val="FFFFFF"/>
                </a:solidFill>
                <a:latin typeface="Calibri"/>
              </a:rPr>
              <a:t>Zasady planowania i programowania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Fizjoterapia w mukowiscydozie  •  Ernest Kurdziel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82296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908792" cy="4846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Indywidualizacja – wiek, stadium, wydolność, preferencje pacjenta.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Systematyczność – ACT codziennie, często kilka razy dziennie.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Kompleksowość – oczyszczanie + trening + inhalacje + edukacja.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Stopniowanie obciążeń – zgodnie z tolerancją pacjenta.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Współpraca interdyscyplinarna – lekarz, dietetyk, psycholog, pielęgniarka.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Monitorowanie i modyfikacja – regularna ocena efektów.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1155680" cy="960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200" b="1" i="0">
                <a:solidFill>
                  <a:srgbClr val="1CA9A6"/>
                </a:solidFill>
                <a:latin typeface="Calibri"/>
              </a:rPr>
              <a:t>METODYKA</a:t>
            </a:r>
          </a:p>
          <a:p>
            <a:r>
              <a:rPr sz="2800" b="1" i="0">
                <a:solidFill>
                  <a:srgbClr val="FFFFFF"/>
                </a:solidFill>
                <a:latin typeface="Calibri"/>
              </a:rPr>
              <a:t>Cele fizjoterapii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Fizjoterapia w mukowiscydozie  •  Ernest Kurdziel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82296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554480"/>
            <a:ext cx="5394960" cy="502920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572768"/>
            <a:ext cx="512064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Calibri"/>
              </a:rPr>
              <a:t>Cele krótkoterminowe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5303520" cy="4023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17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1700" b="0" i="0">
                <a:solidFill>
                  <a:srgbClr val="22303C"/>
                </a:solidFill>
                <a:latin typeface="Calibri"/>
              </a:rPr>
              <a:t>Ułatwienie ewakuacji wydzieliny i poprawa drożności dróg oddechowych.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17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1700" b="0" i="0">
                <a:solidFill>
                  <a:srgbClr val="22303C"/>
                </a:solidFill>
                <a:latin typeface="Calibri"/>
              </a:rPr>
              <a:t>Zmniejszenie duszności i pracy oddechowej.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17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1700" b="0" i="0">
                <a:solidFill>
                  <a:srgbClr val="22303C"/>
                </a:solidFill>
                <a:latin typeface="Calibri"/>
              </a:rPr>
              <a:t>Poprawa wentylacji i ruchomości klatki piersiowej.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5352" y="1554480"/>
            <a:ext cx="5303520" cy="502920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572768"/>
            <a:ext cx="50292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Calibri"/>
              </a:rPr>
              <a:t>Cele długoterminowe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2240280"/>
            <a:ext cx="5212080" cy="4023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1700" b="1" i="0">
                <a:solidFill>
                  <a:srgbClr val="15406B"/>
                </a:solidFill>
                <a:latin typeface="Calibri"/>
              </a:rPr>
              <a:t>■  </a:t>
            </a:r>
            <a:r>
              <a:rPr sz="1700" b="0" i="0">
                <a:solidFill>
                  <a:srgbClr val="22303C"/>
                </a:solidFill>
                <a:latin typeface="Calibri"/>
              </a:rPr>
              <a:t>Spowolnienie progresji zmian płucnych i mniej zaostrzeń.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1700" b="1" i="0">
                <a:solidFill>
                  <a:srgbClr val="15406B"/>
                </a:solidFill>
                <a:latin typeface="Calibri"/>
              </a:rPr>
              <a:t>■  </a:t>
            </a:r>
            <a:r>
              <a:rPr sz="1700" b="0" i="0">
                <a:solidFill>
                  <a:srgbClr val="22303C"/>
                </a:solidFill>
                <a:latin typeface="Calibri"/>
              </a:rPr>
              <a:t>Utrzymanie / poprawa wydolności i tolerancji wysiłku.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1700" b="1" i="0">
                <a:solidFill>
                  <a:srgbClr val="15406B"/>
                </a:solidFill>
                <a:latin typeface="Calibri"/>
              </a:rPr>
              <a:t>■  </a:t>
            </a:r>
            <a:r>
              <a:rPr sz="1700" b="0" i="0">
                <a:solidFill>
                  <a:srgbClr val="22303C"/>
                </a:solidFill>
                <a:latin typeface="Calibri"/>
              </a:rPr>
              <a:t>Utrwalenie nawyku samodzielnej, codziennej terapii.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1700" b="1" i="0">
                <a:solidFill>
                  <a:srgbClr val="15406B"/>
                </a:solidFill>
                <a:latin typeface="Calibri"/>
              </a:rPr>
              <a:t>■  </a:t>
            </a:r>
            <a:r>
              <a:rPr sz="1700" b="0" i="0">
                <a:solidFill>
                  <a:srgbClr val="22303C"/>
                </a:solidFill>
                <a:latin typeface="Calibri"/>
              </a:rPr>
              <a:t>Poprawa jakości życia i postawy ciała.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1155680" cy="960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200" b="1" i="0">
                <a:solidFill>
                  <a:srgbClr val="1CA9A6"/>
                </a:solidFill>
                <a:latin typeface="Calibri"/>
              </a:rPr>
              <a:t>PLAN TERAPII</a:t>
            </a:r>
          </a:p>
          <a:p>
            <a:r>
              <a:rPr sz="2800" b="1" i="0">
                <a:solidFill>
                  <a:srgbClr val="FFFFFF"/>
                </a:solidFill>
                <a:latin typeface="Calibri"/>
              </a:rPr>
              <a:t>Techniki oczyszczania drzewa oskrzelowego (ACT)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Fizjoterapia w mukowiscydozie  •  Ernest Kurdziel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82296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908792" cy="4846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Drenaż ułożeniowy – wykorzystanie grawitacji, często z oklepywaniem i wibracjami.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ACBT – cykl aktywnego oddychania (kontrola oddechu, ćwiczenia rozprężające, huffing).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Drenaż autogeniczny (AD) – oddychanie na różnych objętościach płuc.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PEP – terapia dodatnim ciśnieniem wydechowym (maska / ustnik).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Oscylacyjny PEP – Flutter, Acapella, RC-Cornet (PEP + oscylacje).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HFCWO – wysokoczęstotliwościowe oscylacje ściany klatki (kamizelka).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1155680" cy="960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200" b="1" i="0">
                <a:solidFill>
                  <a:srgbClr val="1CA9A6"/>
                </a:solidFill>
                <a:latin typeface="Calibri"/>
              </a:rPr>
              <a:t>PLAN TERAPII</a:t>
            </a:r>
          </a:p>
          <a:p>
            <a:r>
              <a:rPr sz="2800" b="1" i="0">
                <a:solidFill>
                  <a:srgbClr val="FFFFFF"/>
                </a:solidFill>
                <a:latin typeface="Calibri"/>
              </a:rPr>
              <a:t>Terapia inhalacyjna – kolejność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Fizjoterapia w mukowiscydozie  •  Ernest Kurdziel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82296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867" y="2377440"/>
            <a:ext cx="26060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0867" y="2377440"/>
            <a:ext cx="2606040" cy="640080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0867" y="2377440"/>
            <a:ext cx="260604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Krok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027" y="3154680"/>
            <a:ext cx="2331720" cy="1463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5406B"/>
                </a:solidFill>
                <a:latin typeface="Calibri"/>
              </a:rPr>
              <a:t>Bronchodilatator</a:t>
            </a:r>
          </a:p>
          <a:p>
            <a:pPr algn="ctr">
              <a:spcBef>
                <a:spcPts val="800"/>
              </a:spcBef>
            </a:pPr>
            <a:r>
              <a:rPr sz="1300" b="0" i="0">
                <a:solidFill>
                  <a:srgbClr val="5B6B79"/>
                </a:solidFill>
                <a:latin typeface="Calibri"/>
              </a:rPr>
              <a:t>lek rozszerzający oskrzela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156051" y="3401568"/>
            <a:ext cx="210312" cy="329184"/>
          </a:xfrm>
          <a:prstGeom prst="rightArrow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5507" y="2377440"/>
            <a:ext cx="26060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75507" y="2377440"/>
            <a:ext cx="2606040" cy="640080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75507" y="2377440"/>
            <a:ext cx="260604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Krok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12667" y="3154680"/>
            <a:ext cx="2331720" cy="1463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5406B"/>
                </a:solidFill>
                <a:latin typeface="Calibri"/>
              </a:rPr>
              <a:t>Mukolityk</a:t>
            </a:r>
          </a:p>
          <a:p>
            <a:pPr algn="ctr">
              <a:spcBef>
                <a:spcPts val="800"/>
              </a:spcBef>
            </a:pPr>
            <a:r>
              <a:rPr sz="1300" b="0" i="0">
                <a:solidFill>
                  <a:srgbClr val="5B6B79"/>
                </a:solidFill>
                <a:latin typeface="Calibri"/>
              </a:rPr>
              <a:t>hipertoniczny NaCl / dornaza alfa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990691" y="3401568"/>
            <a:ext cx="210312" cy="329184"/>
          </a:xfrm>
          <a:prstGeom prst="rightArrow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0147" y="2377440"/>
            <a:ext cx="26060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0147" y="2377440"/>
            <a:ext cx="2606040" cy="640080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0147" y="2377440"/>
            <a:ext cx="260604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Krok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7307" y="3154680"/>
            <a:ext cx="2331720" cy="1463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5406B"/>
                </a:solidFill>
                <a:latin typeface="Calibri"/>
              </a:rPr>
              <a:t>Techniki ACT</a:t>
            </a:r>
          </a:p>
          <a:p>
            <a:pPr algn="ctr">
              <a:spcBef>
                <a:spcPts val="800"/>
              </a:spcBef>
            </a:pPr>
            <a:r>
              <a:rPr sz="1300" b="0" i="0">
                <a:solidFill>
                  <a:srgbClr val="5B6B79"/>
                </a:solidFill>
                <a:latin typeface="Calibri"/>
              </a:rPr>
              <a:t>oczyszczanie dróg oddechowych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825331" y="3401568"/>
            <a:ext cx="210312" cy="329184"/>
          </a:xfrm>
          <a:prstGeom prst="rightArrow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44787" y="2377440"/>
            <a:ext cx="26060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44787" y="2377440"/>
            <a:ext cx="2606040" cy="640080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44787" y="2377440"/>
            <a:ext cx="260604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Krok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1947" y="3154680"/>
            <a:ext cx="2331720" cy="1463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800" b="1" i="0">
                <a:solidFill>
                  <a:srgbClr val="15406B"/>
                </a:solidFill>
                <a:latin typeface="Calibri"/>
              </a:rPr>
              <a:t>Antybiotyk wziewny</a:t>
            </a:r>
          </a:p>
          <a:p>
            <a:pPr algn="ctr">
              <a:spcBef>
                <a:spcPts val="800"/>
              </a:spcBef>
            </a:pPr>
            <a:r>
              <a:rPr sz="1300" b="0" i="0">
                <a:solidFill>
                  <a:srgbClr val="5B6B79"/>
                </a:solidFill>
                <a:latin typeface="Calibri"/>
              </a:rPr>
              <a:t>po skutecznym oczyszczeniu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1155680" cy="960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200" b="1" i="0">
                <a:solidFill>
                  <a:srgbClr val="1CA9A6"/>
                </a:solidFill>
                <a:latin typeface="Calibri"/>
              </a:rPr>
              <a:t>PLAN TERAPII</a:t>
            </a:r>
          </a:p>
          <a:p>
            <a:r>
              <a:rPr sz="2800" b="1" i="0">
                <a:solidFill>
                  <a:srgbClr val="FFFFFF"/>
                </a:solidFill>
                <a:latin typeface="Calibri"/>
              </a:rPr>
              <a:t>Trening fizyczny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Fizjoterapia w mukowiscydozie  •  Ernest Kurdziel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82296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908792" cy="4846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Uzupełnienie (nie zamiennik!) technik oczyszczania oskrzeli.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Wytrzymałościowy (aerobowy): marsz, bieg, rower, pływanie – 3–5 ×/tydz., 20–40 min, 60–80% HRmax.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Oporowy (siłowy): 2–3 ×/tydz., główne grupy mięśniowe i mięśnie posturalne.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Trening mięśni oddechowych (IMT) – u wybranych pacjentów.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Ćwiczenia rozciągające i mobilizacja klatki piersiowej – korekcja postawy.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1155680" cy="960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200" b="1" i="0">
                <a:solidFill>
                  <a:srgbClr val="1CA9A6"/>
                </a:solidFill>
                <a:latin typeface="Calibri"/>
              </a:rPr>
              <a:t>PLAN TERAPII</a:t>
            </a:r>
          </a:p>
          <a:p>
            <a:r>
              <a:rPr sz="2800" b="1" i="0">
                <a:solidFill>
                  <a:srgbClr val="FFFFFF"/>
                </a:solidFill>
                <a:latin typeface="Calibri"/>
              </a:rPr>
              <a:t>Ćwiczenia oddechowe i edukacja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Fizjoterapia w mukowiscydozie  •  Ernest Kurdziel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82296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908792" cy="4846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Oddychanie przeponą oraz nauka efektywnego kaszlu i techniki huffing.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Ćwiczenia zwiększające ruchomość klatki piersiowej i pogłębiające wdech.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Edukacja pacjenta i rodziny: systematyczność, higiena sprzętu.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Rozpoznawanie objawów zaostrzenia i samokontrola.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1155680" cy="960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200" b="1" i="0">
                <a:solidFill>
                  <a:srgbClr val="1CA9A6"/>
                </a:solidFill>
                <a:latin typeface="Calibri"/>
              </a:rPr>
              <a:t>PLAN TERAPII</a:t>
            </a:r>
          </a:p>
          <a:p>
            <a:r>
              <a:rPr sz="2800" b="1" i="0">
                <a:solidFill>
                  <a:srgbClr val="FFFFFF"/>
                </a:solidFill>
                <a:latin typeface="Calibri"/>
              </a:rPr>
              <a:t>Przykładowy plan terapii (postać umiarkowana)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Fizjoterapia w mukowiscydozie  •  Ernest Kurdziel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82296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508760"/>
          <a:ext cx="10908792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3291840"/>
                <a:gridCol w="3044952"/>
              </a:tblGrid>
              <a:tr h="653142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Element terapii</a:t>
                      </a:r>
                    </a:p>
                  </a:txBody>
                  <a:tcPr marL="109728" marR="73152" marT="36576" marB="36576" anchor="ctr">
                    <a:solidFill>
                      <a:srgbClr val="15406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Częstotliwość / czas</a:t>
                      </a:r>
                    </a:p>
                  </a:txBody>
                  <a:tcPr marL="109728" marR="73152" marT="36576" marB="36576" anchor="ctr">
                    <a:solidFill>
                      <a:srgbClr val="15406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Uwagi</a:t>
                      </a:r>
                    </a:p>
                  </a:txBody>
                  <a:tcPr marL="109728" marR="73152" marT="36576" marB="36576" anchor="ctr">
                    <a:solidFill>
                      <a:srgbClr val="15406B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2303C"/>
                          </a:solidFill>
                          <a:latin typeface="Calibri"/>
                        </a:rPr>
                        <a:t>Inhalacja (bronchodilatator + NaCl)</a:t>
                      </a:r>
                    </a:p>
                  </a:txBody>
                  <a:tcPr marL="109728" marR="73152" marT="36576" marB="36576" anchor="ctr">
                    <a:solidFill>
                      <a:srgbClr val="EE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303C"/>
                          </a:solidFill>
                          <a:latin typeface="Calibri"/>
                        </a:rPr>
                        <a:t>2 × dziennie, przed ACT</a:t>
                      </a:r>
                    </a:p>
                  </a:txBody>
                  <a:tcPr marL="109728" marR="73152" marT="36576" marB="36576" anchor="ctr">
                    <a:solidFill>
                      <a:srgbClr val="EE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303C"/>
                          </a:solidFill>
                          <a:latin typeface="Calibri"/>
                        </a:rPr>
                        <a:t>Przygotowanie dróg oddechowych</a:t>
                      </a:r>
                    </a:p>
                  </a:txBody>
                  <a:tcPr marL="109728" marR="73152" marT="36576" marB="36576" anchor="ctr">
                    <a:solidFill>
                      <a:srgbClr val="EEF4F8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2303C"/>
                          </a:solidFill>
                          <a:latin typeface="Calibri"/>
                        </a:rPr>
                        <a:t>Techniki ACT (ACBT / oscylacyjny PEP)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303C"/>
                          </a:solidFill>
                          <a:latin typeface="Calibri"/>
                        </a:rPr>
                        <a:t>2 × dziennie, 15–20 min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303C"/>
                          </a:solidFill>
                          <a:latin typeface="Calibri"/>
                        </a:rPr>
                        <a:t>Rano i wieczorem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2303C"/>
                          </a:solidFill>
                          <a:latin typeface="Calibri"/>
                        </a:rPr>
                        <a:t>Trening aerobowy (rower / marsz)</a:t>
                      </a:r>
                    </a:p>
                  </a:txBody>
                  <a:tcPr marL="109728" marR="73152" marT="36576" marB="36576" anchor="ctr">
                    <a:solidFill>
                      <a:srgbClr val="EE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303C"/>
                          </a:solidFill>
                          <a:latin typeface="Calibri"/>
                        </a:rPr>
                        <a:t>3–5 ×/tydz., 20–40 min</a:t>
                      </a:r>
                    </a:p>
                  </a:txBody>
                  <a:tcPr marL="109728" marR="73152" marT="36576" marB="36576" anchor="ctr">
                    <a:solidFill>
                      <a:srgbClr val="EE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303C"/>
                          </a:solidFill>
                          <a:latin typeface="Calibri"/>
                        </a:rPr>
                        <a:t>Umiarkowany, kontrola SpO2</a:t>
                      </a:r>
                    </a:p>
                  </a:txBody>
                  <a:tcPr marL="109728" marR="73152" marT="36576" marB="36576" anchor="ctr">
                    <a:solidFill>
                      <a:srgbClr val="EEF4F8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2303C"/>
                          </a:solidFill>
                          <a:latin typeface="Calibri"/>
                        </a:rPr>
                        <a:t>Trening oporowy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303C"/>
                          </a:solidFill>
                          <a:latin typeface="Calibri"/>
                        </a:rPr>
                        <a:t>2–3 ×/tydz.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303C"/>
                          </a:solidFill>
                          <a:latin typeface="Calibri"/>
                        </a:rPr>
                        <a:t>Mięśnie posturalne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2303C"/>
                          </a:solidFill>
                          <a:latin typeface="Calibri"/>
                        </a:rPr>
                        <a:t>Ćwiczenia oddechowe + mobilizacja</a:t>
                      </a:r>
                    </a:p>
                  </a:txBody>
                  <a:tcPr marL="109728" marR="73152" marT="36576" marB="36576" anchor="ctr">
                    <a:solidFill>
                      <a:srgbClr val="EE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303C"/>
                          </a:solidFill>
                          <a:latin typeface="Calibri"/>
                        </a:rPr>
                        <a:t>codziennie, 10–15 min</a:t>
                      </a:r>
                    </a:p>
                  </a:txBody>
                  <a:tcPr marL="109728" marR="73152" marT="36576" marB="36576" anchor="ctr">
                    <a:solidFill>
                      <a:srgbClr val="EE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303C"/>
                          </a:solidFill>
                          <a:latin typeface="Calibri"/>
                        </a:rPr>
                        <a:t>Huffing, rozciąganie</a:t>
                      </a:r>
                    </a:p>
                  </a:txBody>
                  <a:tcPr marL="109728" marR="73152" marT="36576" marB="36576" anchor="ctr">
                    <a:solidFill>
                      <a:srgbClr val="EEF4F8"/>
                    </a:solidFill>
                  </a:tcPr>
                </a:tc>
              </a:tr>
              <a:tr h="653148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22303C"/>
                          </a:solidFill>
                          <a:latin typeface="Calibri"/>
                        </a:rPr>
                        <a:t>Antybiotyk wziewny (jeśli zlecony)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303C"/>
                          </a:solidFill>
                          <a:latin typeface="Calibri"/>
                        </a:rPr>
                        <a:t>wg lekarza, po ACT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2303C"/>
                          </a:solidFill>
                          <a:latin typeface="Calibri"/>
                        </a:rPr>
                        <a:t>Po oczyszczeniu dróg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1155680" cy="960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200" b="1" i="0">
                <a:solidFill>
                  <a:srgbClr val="1CA9A6"/>
                </a:solidFill>
                <a:latin typeface="Calibri"/>
              </a:rPr>
              <a:t>MONITOROWANIE</a:t>
            </a:r>
          </a:p>
          <a:p>
            <a:r>
              <a:rPr sz="2800" b="1" i="0">
                <a:solidFill>
                  <a:srgbClr val="FFFFFF"/>
                </a:solidFill>
                <a:latin typeface="Calibri"/>
              </a:rPr>
              <a:t>Kryteria oceny skuteczności terapii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Fizjoterapia w mukowiscydozie  •  Ernest Kurdziel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82296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908792" cy="4846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Parametry czynnościowe: FEV1, FVC, SpO2.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Ilość i charakter wydzieliny oraz nasilenie kaszlu.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Tolerancja wysiłku: 6MWT, VO2peak, skala Borga.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Częstość zaostrzeń i hospitalizacji.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Jakość życia (CFQ-R) i przestrzeganie zaleceń.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1155680" cy="960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200" b="1" i="0">
                <a:solidFill>
                  <a:srgbClr val="1CA9A6"/>
                </a:solidFill>
                <a:latin typeface="Calibri"/>
              </a:rPr>
              <a:t>ZAKOŃCZENIE</a:t>
            </a:r>
          </a:p>
          <a:p>
            <a:r>
              <a:rPr sz="2800" b="1" i="0">
                <a:solidFill>
                  <a:srgbClr val="FFFFFF"/>
                </a:solidFill>
                <a:latin typeface="Calibri"/>
              </a:rPr>
              <a:t>Podsumowanie i wnioski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Fizjoterapia w mukowiscydozie  •  Ernest Kurdziel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82296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908792" cy="4846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Mukowiscydoza – przewlekła, postępująca choroba; fizjoterapia oddechowa odgrywa kluczową rolę.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Dobór technik ACT musi być zindywidualizowany – to sprzyja przestrzeganiu zaleceń.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Trening fizyczny poprawia wydolność, siłę mięśniową i jakość życia.</a:t>
            </a:r>
          </a:p>
          <a:p>
            <a:pPr>
              <a:lnSpc>
                <a:spcPct val="108000"/>
              </a:lnSpc>
              <a:spcBef>
                <a:spcPts val="200"/>
              </a:spcBef>
              <a:spcAft>
                <a:spcPts val="800"/>
              </a:spcAft>
            </a:pPr>
            <a:r>
              <a:rPr sz="2000" b="1" i="0">
                <a:solidFill>
                  <a:srgbClr val="1CA9A6"/>
                </a:solidFill>
                <a:latin typeface="Calibri"/>
              </a:rPr>
              <a:t>■  </a:t>
            </a:r>
            <a:r>
              <a:rPr sz="2000" b="0" i="0">
                <a:solidFill>
                  <a:srgbClr val="22303C"/>
                </a:solidFill>
                <a:latin typeface="Calibri"/>
              </a:rPr>
              <a:t>Edukacja pacjenta i monitorowanie efektów warunkują trwałe korzyści zdrowotne.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73152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"/>
            <a:ext cx="11155680" cy="960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200" b="1" i="0">
                <a:solidFill>
                  <a:srgbClr val="1CA9A6"/>
                </a:solidFill>
                <a:latin typeface="Calibri"/>
              </a:rPr>
              <a:t>PIŚMIENNICTWO</a:t>
            </a:r>
          </a:p>
          <a:p>
            <a:r>
              <a:rPr sz="2800" b="1" i="0">
                <a:solidFill>
                  <a:srgbClr val="FFFFFF"/>
                </a:solidFill>
                <a:latin typeface="Calibri"/>
              </a:rPr>
              <a:t>Bibliografia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65392"/>
            <a:ext cx="96012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900" b="0" i="0">
                <a:solidFill>
                  <a:srgbClr val="FFFFFF"/>
                </a:solidFill>
                <a:latin typeface="Calibri"/>
              </a:rPr>
              <a:t>Fizjoterapia w mukowiscydozie  •  Ernest Kurdziel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82296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10908792" cy="4846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1300" b="1" i="0">
                <a:solidFill>
                  <a:srgbClr val="1CA9A6"/>
                </a:solidFill>
                <a:latin typeface="Calibri"/>
              </a:rPr>
              <a:t>[1]  </a:t>
            </a:r>
            <a:r>
              <a:rPr sz="1300" b="0" i="0">
                <a:solidFill>
                  <a:srgbClr val="22303C"/>
                </a:solidFill>
                <a:latin typeface="Calibri"/>
              </a:rPr>
              <a:t>Elborn J.S. Cystic fibrosis. The Lancet, 2016; 388(10059): 2519–2531.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1300" b="1" i="0">
                <a:solidFill>
                  <a:srgbClr val="1CA9A6"/>
                </a:solidFill>
                <a:latin typeface="Calibri"/>
              </a:rPr>
              <a:t>[2]  </a:t>
            </a:r>
            <a:r>
              <a:rPr sz="1300" b="0" i="0">
                <a:solidFill>
                  <a:srgbClr val="22303C"/>
                </a:solidFill>
                <a:latin typeface="Calibri"/>
              </a:rPr>
              <a:t>Mazurek H. (red.). Mukowiscydoza. Choroba wieloukladowa. Termedia, Poznań 2020.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1300" b="1" i="0">
                <a:solidFill>
                  <a:srgbClr val="1CA9A6"/>
                </a:solidFill>
                <a:latin typeface="Calibri"/>
              </a:rPr>
              <a:t>[3]  </a:t>
            </a:r>
            <a:r>
              <a:rPr sz="1300" b="0" i="0">
                <a:solidFill>
                  <a:srgbClr val="22303C"/>
                </a:solidFill>
                <a:latin typeface="Calibri"/>
              </a:rPr>
              <a:t>Castellani C. i wsp. ECFS best practice guidelines: 2018 revision. J Cyst Fibros, 2018; 17(2): 153–178.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1300" b="1" i="0">
                <a:solidFill>
                  <a:srgbClr val="1CA9A6"/>
                </a:solidFill>
                <a:latin typeface="Calibri"/>
              </a:rPr>
              <a:t>[4]  </a:t>
            </a:r>
            <a:r>
              <a:rPr sz="1300" b="0" i="0">
                <a:solidFill>
                  <a:srgbClr val="22303C"/>
                </a:solidFill>
                <a:latin typeface="Calibri"/>
              </a:rPr>
              <a:t>Flume P.A. i wsp. CF pulmonary guidelines: airway clearance therapies. Respir Care, 2009; 54(4): 522–537.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1300" b="1" i="0">
                <a:solidFill>
                  <a:srgbClr val="1CA9A6"/>
                </a:solidFill>
                <a:latin typeface="Calibri"/>
              </a:rPr>
              <a:t>[5]  </a:t>
            </a:r>
            <a:r>
              <a:rPr sz="1300" b="0" i="0">
                <a:solidFill>
                  <a:srgbClr val="22303C"/>
                </a:solidFill>
                <a:latin typeface="Calibri"/>
              </a:rPr>
              <a:t>Pryor J.A., Prasad S.A. Physiotherapy for Respiratory and Cardiac Problems. 4th ed., Elsevier, 2008.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1300" b="1" i="0">
                <a:solidFill>
                  <a:srgbClr val="1CA9A6"/>
                </a:solidFill>
                <a:latin typeface="Calibri"/>
              </a:rPr>
              <a:t>[6]  </a:t>
            </a:r>
            <a:r>
              <a:rPr sz="1300" b="0" i="0">
                <a:solidFill>
                  <a:srgbClr val="22303C"/>
                </a:solidFill>
                <a:latin typeface="Calibri"/>
              </a:rPr>
              <a:t>Smyth A.R. i wsp. ECFS Standards of Care: Best Practice guidelines. J Cyst Fibros, 2014; 13(S1): S23–S42.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1300" b="1" i="0">
                <a:solidFill>
                  <a:srgbClr val="1CA9A6"/>
                </a:solidFill>
                <a:latin typeface="Calibri"/>
              </a:rPr>
              <a:t>[7]  </a:t>
            </a:r>
            <a:r>
              <a:rPr sz="1300" b="0" i="0">
                <a:solidFill>
                  <a:srgbClr val="22303C"/>
                </a:solidFill>
                <a:latin typeface="Calibri"/>
              </a:rPr>
              <a:t>Radtke T. i wsp. Physical activity and exercise training in CF. Cochrane Database Syst Rev, 2022; CD002768.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1300" b="1" i="0">
                <a:solidFill>
                  <a:srgbClr val="1CA9A6"/>
                </a:solidFill>
                <a:latin typeface="Calibri"/>
              </a:rPr>
              <a:t>[8]  </a:t>
            </a:r>
            <a:r>
              <a:rPr sz="1300" b="0" i="0">
                <a:solidFill>
                  <a:srgbClr val="22303C"/>
                </a:solidFill>
                <a:latin typeface="Calibri"/>
              </a:rPr>
              <a:t>Mc Ilwaine M. i wsp. Personalising airway clearance in chronic lung disease. Eur Respir Rev, 2017; 26(143): 160086.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4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1CA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Dziękuję za uwagę</a:t>
            </a:r>
          </a:p>
          <a:p>
            <a:pPr algn="ctr">
              <a:spcBef>
                <a:spcPts val="1400"/>
              </a:spcBef>
            </a:pPr>
            <a:r>
              <a:rPr sz="1600" b="0" i="0">
                <a:solidFill>
                  <a:srgbClr val="EEF4F8"/>
                </a:solidFill>
                <a:latin typeface="Calibri"/>
              </a:rPr>
              <a:t>Ernest Kurdziel  •  album 72714  •  prowadzący: dr Weronika Cyganik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