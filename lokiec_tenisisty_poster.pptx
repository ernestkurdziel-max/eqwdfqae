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4176" cy="10689336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43560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Arial"/>
              </a:rPr>
              <a:t>ŁOKIEĆ TENISISTY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4356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D9EAF7"/>
                </a:solidFill>
                <a:latin typeface="Arial"/>
              </a:rPr>
              <a:t>przyczyny • objawy • metody leczenia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14400"/>
            <a:ext cx="1435608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50" b="0">
                <a:solidFill>
                  <a:srgbClr val="FFFFFF"/>
                </a:solidFill>
                <a:latin typeface="Arial"/>
              </a:rPr>
              <a:t>Autorzy: Ernest Kurdzie, Katarzyna Dyś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44168"/>
            <a:ext cx="14118336" cy="685800"/>
          </a:xfrm>
          <a:prstGeom prst="roundRect">
            <a:avLst/>
          </a:prstGeom>
          <a:solidFill>
            <a:srgbClr val="E8F4FF"/>
          </a:solidFill>
          <a:ln w="19050">
            <a:solidFill>
              <a:srgbClr val="6FA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44752"/>
            <a:ext cx="13624560" cy="4389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17365D"/>
                </a:solidFill>
                <a:latin typeface="Arial"/>
              </a:rPr>
              <a:t>Bardzo krótko: łokieć tenisisty to przeciążeniowa tendinopatia po bocznej stronie łokcia, najczęściej dotycząca przyczepu prostowników nadgarstka. Utrudnia chwytanie, podnoszenie, odkręcanie i powtarzalną pracę ręką.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4526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350008"/>
            <a:ext cx="4251960" cy="347472"/>
          </a:xfrm>
          <a:prstGeom prst="roundRect">
            <a:avLst/>
          </a:prstGeom>
          <a:solidFill>
            <a:srgbClr val="458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68296"/>
            <a:ext cx="4123944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PRZYCZYNY I CZYNNIKI RYZYKA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61488"/>
            <a:ext cx="4123944" cy="1143000"/>
          </a:xfrm>
          <a:prstGeom prst="rect">
            <a:avLst/>
          </a:prstGeom>
          <a:noFill/>
        </p:spPr>
        <p:txBody>
          <a:bodyPr wrap="square" lIns="109728" rIns="73152" tIns="27432" bIns="27432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370" b="0">
                <a:solidFill>
                  <a:srgbClr val="1F2933"/>
                </a:solidFill>
                <a:latin typeface="Arial"/>
              </a:defRPr>
            </a:pPr>
            <a:r>
              <a:t>powtarzalny wyprost nadgarstka i chwyt z obciążeniem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370" b="0">
                <a:solidFill>
                  <a:srgbClr val="1F2933"/>
                </a:solidFill>
                <a:latin typeface="Arial"/>
              </a:defRPr>
            </a:pPr>
            <a:r>
              <a:t>mikroprzeciążenia przyczepu mięśni prostowników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370" b="0">
                <a:solidFill>
                  <a:srgbClr val="1F2933"/>
                </a:solidFill>
                <a:latin typeface="Arial"/>
              </a:defRPr>
            </a:pPr>
            <a:r>
              <a:t>praca narzędziami, komputer, sport rakietowy, dźwiganie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370" b="0">
                <a:solidFill>
                  <a:srgbClr val="1F2933"/>
                </a:solidFill>
                <a:latin typeface="Arial"/>
              </a:defRPr>
            </a:pPr>
            <a:r>
              <a:t>zbyt szybki wzrost obciążenia, słaba ergonomia, mała regeneracja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51960"/>
            <a:ext cx="4526280" cy="1993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361688"/>
            <a:ext cx="4251960" cy="347472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379976"/>
            <a:ext cx="4123944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OBJAWY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773168"/>
            <a:ext cx="4123944" cy="1307592"/>
          </a:xfrm>
          <a:prstGeom prst="rect">
            <a:avLst/>
          </a:prstGeom>
          <a:noFill/>
        </p:spPr>
        <p:txBody>
          <a:bodyPr wrap="square" lIns="109728" rIns="73152" tIns="27432" bIns="27432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370" b="0">
                <a:solidFill>
                  <a:srgbClr val="1F2933"/>
                </a:solidFill>
                <a:latin typeface="Arial"/>
              </a:defRPr>
            </a:pPr>
            <a:r>
              <a:t>ból i tkliwość po zewnętrznej stronie łokcia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370" b="0">
                <a:solidFill>
                  <a:srgbClr val="1F2933"/>
                </a:solidFill>
                <a:latin typeface="Arial"/>
              </a:defRPr>
            </a:pPr>
            <a:r>
              <a:t>ból przy mocnym uścisku dłoni lub podnoszeniu przedmiotów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370" b="0">
                <a:solidFill>
                  <a:srgbClr val="1F2933"/>
                </a:solidFill>
                <a:latin typeface="Arial"/>
              </a:defRPr>
            </a:pPr>
            <a:r>
              <a:t>ból przy oporowanym wyproście nadgarstka/palca środkowego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370" b="0">
                <a:solidFill>
                  <a:srgbClr val="1F2933"/>
                </a:solidFill>
                <a:latin typeface="Arial"/>
              </a:defRPr>
            </a:pPr>
            <a:r>
              <a:t>spadek siły chwytu, napięcie przedramienia, czasem promieniowanie bólu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6428232"/>
            <a:ext cx="4526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6537960"/>
            <a:ext cx="4251960" cy="347472"/>
          </a:xfrm>
          <a:prstGeom prst="round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6556248"/>
            <a:ext cx="4123944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PROBLEM FUNKCJONALNY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949440"/>
            <a:ext cx="406908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60" b="0">
                <a:solidFill>
                  <a:srgbClr val="1F2933"/>
                </a:solidFill>
                <a:latin typeface="Arial"/>
              </a:rPr>
              <a:t>Schorzenie zwykle nie wynika z samej gry w tenisa. Najczęściej jest skutkiem przeciążenia tkanek podczas codziennych czynności: noszenia zakupów, pracy myszką, używania śrubokręta, odkręcania słoików lub długiej pracy manualnej.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2240280"/>
            <a:ext cx="452628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2350008"/>
            <a:ext cx="4251960" cy="347472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2368296"/>
            <a:ext cx="4123944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GDZIE POJAWIA SIĘ BÓL?</a:t>
            </a:r>
          </a:p>
        </p:txBody>
      </p:sp>
      <p:pic>
        <p:nvPicPr>
          <p:cNvPr id="24" name="Picture 23" descr="lokiec_schemat_wlas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761488"/>
            <a:ext cx="4114800" cy="23042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77840" y="5010912"/>
            <a:ext cx="3977639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19" b="0">
                <a:solidFill>
                  <a:srgbClr val="55606E"/>
                </a:solidFill>
                <a:latin typeface="Arial"/>
              </a:rPr>
              <a:t>Rycina własna - schemat poglądowy.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440680"/>
            <a:ext cx="4526280" cy="2999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40680" y="5550408"/>
            <a:ext cx="4251960" cy="347472"/>
          </a:xfrm>
          <a:prstGeom prst="roundRect">
            <a:avLst/>
          </a:prstGeom>
          <a:solidFill>
            <a:srgbClr val="458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4688" y="5568696"/>
            <a:ext cx="4123944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KRÓTKI OPIS METODY TERAPEUTYCZNEJ</a:t>
            </a:r>
          </a:p>
        </p:txBody>
      </p:sp>
      <p:pic>
        <p:nvPicPr>
          <p:cNvPr id="29" name="Picture 28" descr="terapia_schemat_wlas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5961888"/>
            <a:ext cx="4114800" cy="23682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96128" y="8174736"/>
            <a:ext cx="3950208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19" b="0">
                <a:solidFill>
                  <a:srgbClr val="55606E"/>
                </a:solidFill>
                <a:latin typeface="Arial"/>
              </a:rPr>
              <a:t>Rycina własna - przykładowa progresja terapii ruchem.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8622792"/>
            <a:ext cx="4526280" cy="1051560"/>
          </a:xfrm>
          <a:prstGeom prst="roundRect">
            <a:avLst/>
          </a:prstGeom>
          <a:solidFill>
            <a:srgbClr val="FFFAEB"/>
          </a:solidFill>
          <a:ln w="19050">
            <a:solidFill>
              <a:srgbClr val="F1C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8732520"/>
            <a:ext cx="4069080" cy="67665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7365D"/>
                </a:solidFill>
                <a:latin typeface="Arial"/>
              </a:rPr>
              <a:t>Zasada terapii: najpierw zmniejszyć ból i przeciążenie, potem stopniowo wzmacniać prostowniki nadgarstka oraz wrócić do czynności bez prowokowania objawów.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240280"/>
            <a:ext cx="4517136" cy="2770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241280" y="2350008"/>
            <a:ext cx="4242816" cy="347472"/>
          </a:xfrm>
          <a:prstGeom prst="round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05288" y="2368296"/>
            <a:ext cx="411480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METODY LECZENIA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5288" y="2761488"/>
            <a:ext cx="4114800" cy="1993392"/>
          </a:xfrm>
          <a:prstGeom prst="rect">
            <a:avLst/>
          </a:prstGeom>
          <a:noFill/>
        </p:spPr>
        <p:txBody>
          <a:bodyPr wrap="square" lIns="109728" rIns="73152" tIns="27432" bIns="27432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290" b="0">
                <a:solidFill>
                  <a:srgbClr val="1F2933"/>
                </a:solidFill>
                <a:latin typeface="Arial"/>
              </a:defRPr>
            </a:pPr>
            <a:r>
              <a:t>edukacja i czasowe ograniczenie czynności nasilających ból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290" b="0">
                <a:solidFill>
                  <a:srgbClr val="1F2933"/>
                </a:solidFill>
                <a:latin typeface="Arial"/>
              </a:defRPr>
            </a:pPr>
            <a:r>
              <a:t>ćwiczenia: izometryczne, ekscentryczne i wzmacniające przedramię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290" b="0">
                <a:solidFill>
                  <a:srgbClr val="1F2933"/>
                </a:solidFill>
                <a:latin typeface="Arial"/>
              </a:defRPr>
            </a:pPr>
            <a:r>
              <a:t>rozciąganie prostowników nadgarstka, terapia tkanek miękkich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290" b="0">
                <a:solidFill>
                  <a:srgbClr val="1F2933"/>
                </a:solidFill>
                <a:latin typeface="Arial"/>
              </a:defRPr>
            </a:pPr>
            <a:r>
              <a:t>taping lub opaska odciążająca jako wsparcie krótkoterminowe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290" b="0">
                <a:solidFill>
                  <a:srgbClr val="1F2933"/>
                </a:solidFill>
                <a:latin typeface="Arial"/>
              </a:defRPr>
            </a:pPr>
            <a:r>
              <a:t>w razie potrzeby: farmakoterapia przeciwbólowa, fizykoterapia, konsultacja lekarska; operacja rzadko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5193792"/>
            <a:ext cx="4517136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41280" y="5303520"/>
            <a:ext cx="4242816" cy="347472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05288" y="5321807"/>
            <a:ext cx="411480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OCENA I DIAGNOSTYKA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05288" y="5715000"/>
            <a:ext cx="4114800" cy="987552"/>
          </a:xfrm>
          <a:prstGeom prst="rect">
            <a:avLst/>
          </a:prstGeom>
          <a:noFill/>
        </p:spPr>
        <p:txBody>
          <a:bodyPr wrap="square" lIns="109728" rIns="73152" tIns="27432" bIns="27432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280" b="0">
                <a:solidFill>
                  <a:srgbClr val="1F2933"/>
                </a:solidFill>
                <a:latin typeface="Arial"/>
              </a:defRPr>
            </a:pPr>
            <a:r>
              <a:t>wywiad: kiedy boli i jakie ruchy nasilają objawy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280" b="0">
                <a:solidFill>
                  <a:srgbClr val="1F2933"/>
                </a:solidFill>
                <a:latin typeface="Arial"/>
              </a:defRPr>
            </a:pPr>
            <a:r>
              <a:t>palpacja nadkłykcia bocznego, test Cozena/Maudsleya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280" b="0">
                <a:solidFill>
                  <a:srgbClr val="1F2933"/>
                </a:solidFill>
                <a:latin typeface="Arial"/>
              </a:defRPr>
            </a:pPr>
            <a:r>
              <a:t>ocena siły chwytu i różnicowanie z bólem z odcinka szyjnego lub nerwu promieniowego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04120" y="7150608"/>
            <a:ext cx="4517136" cy="1344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241280" y="7260336"/>
            <a:ext cx="4242816" cy="347472"/>
          </a:xfrm>
          <a:prstGeom prst="roundRect">
            <a:avLst/>
          </a:prstGeom>
          <a:solidFill>
            <a:srgbClr val="458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5288" y="7278624"/>
            <a:ext cx="411480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PROFILAKTYKA NAWROTÓW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5288" y="7671816"/>
            <a:ext cx="4114800" cy="713232"/>
          </a:xfrm>
          <a:prstGeom prst="rect">
            <a:avLst/>
          </a:prstGeom>
          <a:noFill/>
        </p:spPr>
        <p:txBody>
          <a:bodyPr wrap="square" lIns="109728" rIns="73152" tIns="27432" bIns="27432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270" b="0">
                <a:solidFill>
                  <a:srgbClr val="1F2933"/>
                </a:solidFill>
                <a:latin typeface="Arial"/>
              </a:defRPr>
            </a:pPr>
            <a:r>
              <a:t>przerwy w pracy, neutralne ustawienie nadgarstka, ergonomia stanowiska</a:t>
            </a:r>
          </a:p>
          <a:p>
            <a:pPr>
              <a:buChar char="•"/>
              <a:lnSpc>
                <a:spcPct val="100000"/>
              </a:lnSpc>
              <a:spcAft>
                <a:spcPts val="400"/>
              </a:spcAft>
              <a:defRPr sz="1270" b="0">
                <a:solidFill>
                  <a:srgbClr val="1F2933"/>
                </a:solidFill>
                <a:latin typeface="Arial"/>
              </a:defRPr>
            </a:pPr>
            <a:r>
              <a:t>stopniowe zwiększanie obciążenia i regularne wzmacnianie przedramienia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04120" y="8668512"/>
            <a:ext cx="4517136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41280" y="8778240"/>
            <a:ext cx="4242816" cy="347472"/>
          </a:xfrm>
          <a:prstGeom prst="roundRect">
            <a:avLst/>
          </a:prstGeom>
          <a:solidFill>
            <a:srgbClr val="55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05288" y="8796528"/>
            <a:ext cx="411480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LITERATURA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0" y="9134856"/>
            <a:ext cx="4169663" cy="384048"/>
          </a:xfrm>
          <a:prstGeom prst="rect">
            <a:avLst/>
          </a:prstGeom>
          <a:noFill/>
        </p:spPr>
        <p:txBody>
          <a:bodyPr wrap="square" lIns="109728" rIns="7315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80" b="0">
                <a:solidFill>
                  <a:srgbClr val="55606E"/>
                </a:solidFill>
                <a:latin typeface="Arial"/>
              </a:rPr>
              <a:t>Coombes BK, Bisset L, Vicenzino B. J Orthop Sports Phys Ther. 2015;45(11):938-949.  •  Sims SEG i wsp. Hand (N Y). 2014;9(4):419-446.  •  AAOS OrthoInfo: Tennis Elbow (Lateral Epicondylitis), orthoinfo.aaos.org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10012680"/>
            <a:ext cx="141183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5606E"/>
                </a:solidFill>
                <a:latin typeface="Arial"/>
              </a:rPr>
              <a:t>Projekt/poster edukacyjny z fizjoterapii. Treści mają charakter informacyjny i nie zastępują indywidualnej konsultacji medycznej.</a:t>
            </a:r>
          </a:p>
        </p:txBody>
      </p:sp>
      <p:sp>
        <p:nvSpPr>
          <p:cNvPr id="50" name="Oval 49"/>
          <p:cNvSpPr/>
          <p:nvPr/>
        </p:nvSpPr>
        <p:spPr>
          <a:xfrm>
            <a:off x="228600" y="1261872"/>
            <a:ext cx="146304" cy="146304"/>
          </a:xfrm>
          <a:prstGeom prst="ellipse">
            <a:avLst/>
          </a:prstGeom>
          <a:solidFill>
            <a:srgbClr val="458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4584680" y="1243584"/>
            <a:ext cx="182880" cy="18288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4592" y="9829800"/>
            <a:ext cx="201168" cy="201168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4703551" y="9857232"/>
            <a:ext cx="137160" cy="137160"/>
          </a:xfrm>
          <a:prstGeom prst="ellipse">
            <a:avLst/>
          </a:prstGeom>
          <a:solidFill>
            <a:srgbClr val="458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