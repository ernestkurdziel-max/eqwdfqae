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03120"/>
            <a:ext cx="7040880" cy="297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395728"/>
            <a:ext cx="1463040" cy="10972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6583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0E6B7A"/>
                </a:solidFill>
                <a:latin typeface="Calibri"/>
              </a:rPr>
              <a:t>Mózgowe porażenie dziecięce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4B5C61"/>
                </a:solidFill>
                <a:latin typeface="Calibri"/>
              </a:rPr>
              <a:t>Metody specjalne fizjoterapii u pacjenta pediatrycznego</a:t>
            </a:r>
          </a:p>
          <a:p>
            <a:pPr>
              <a:spcBef>
                <a:spcPts val="1000"/>
              </a:spcBef>
            </a:pPr>
            <a:r>
              <a:rPr sz="1300" b="0" i="1">
                <a:solidFill>
                  <a:srgbClr val="4B5C61"/>
                </a:solidFill>
                <a:latin typeface="Calibri"/>
              </a:rPr>
              <a:t>Objawy i problemy funkcjonalne oraz przegląd wybranych metod: NDT-Bobath · PNF · metoda Peto · Ruch Rozwijający W. Sherborne · integracja sensoryczna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9944"/>
            <a:ext cx="10972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Przedmiot: Metody specjalne fizjoterapii   |   Praca projektowa — przegląd literatury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WPROWADZENIE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Cel i zakres pracy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6309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Przedstawienie mózgowego porażenia dziecięcego (MPD) jako najczęstszej przyczyny niepełnosprawności ruchowej wieku rozwojowego.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Omówienie objawów oraz problemów funkcjonalnych dziecka z MPD.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Przegląd literatury (książki i artykuły naukowe) dotyczącej metod usprawniania stosowanych w tej jednostce chorobowej.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Charakterystyka wybranych metod specjalnych fizjoterapii: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4FB3C4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3A40"/>
                </a:solidFill>
                <a:latin typeface="Calibri"/>
              </a:rPr>
              <a:t>NDT-Bobath, PNF, metoda Peto (nauczanie kierowane),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4FB3C4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3A40"/>
                </a:solidFill>
                <a:latin typeface="Calibri"/>
              </a:rPr>
              <a:t>Ruch Rozwijający Weroniki Sherborne, integracja sensoryczna (SI).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Podkreślenie znaczenia wczesnej, kompleksowej i zespołowej rehabilitacji.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8624" y="1883664"/>
            <a:ext cx="4370831" cy="3319272"/>
          </a:xfrm>
          <a:prstGeom prst="roundRect">
            <a:avLst>
              <a:gd name="adj" fmla="val 4500"/>
            </a:avLst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am.png"/>
          <p:cNvPicPr>
            <a:picLocks noChangeAspect="1"/>
          </p:cNvPicPr>
          <p:nvPr/>
        </p:nvPicPr>
        <p:blipFill>
          <a:blip r:embed="rId2"/>
          <a:srcRect l="5556" r="5556"/>
          <a:stretch>
            <a:fillRect/>
          </a:stretch>
        </p:blipFill>
        <p:spPr>
          <a:xfrm>
            <a:off x="7360920" y="1965960"/>
            <a:ext cx="4206240" cy="31546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60920" y="5349240"/>
            <a:ext cx="4206240" cy="777240"/>
          </a:xfrm>
          <a:prstGeom prst="roundRect">
            <a:avLst>
              <a:gd name="adj" fmla="val 10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100" b="0" i="1">
                <a:solidFill>
                  <a:srgbClr val="0E6B7A"/>
                </a:solidFill>
                <a:latin typeface="Calibri"/>
              </a:rPr>
              <a:t>MPD (mózgowe / dziecięce porażenie mózgowe, ang. cerebral palsy) — jednostka, w której stosuje się wszystkie omawiane metody.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CHARAKTERYSTYKA CHOROBY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Czym jest mózgowe porażenie dziecięce?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6309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Grupa trwałych zaburzeń rozwoju ruchu i postawy, powodujących ograniczenie aktywności.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Przyczyną jest niepostępujące uszkodzenie lub zaburzenie rozwoju niedojrzałego mózgu (okres płodowy, okołoporodowy lub wczesnodziecięcy).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Uszkodzenie ma charakter statyczny, lecz jego obraz kliniczny zmienia się wraz z dojrzewaniem dziecka.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Zaburzeniom ruchowym często towarzyszą zaburzenia: czucia, percepcji, poznawcze, komunikacji, zachowania oraz padaczka.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To zespół objawów (nie jedna choroba) o różnorodnym obrazie i nasileniu.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8624" y="2020824"/>
            <a:ext cx="4370831" cy="3319272"/>
          </a:xfrm>
          <a:prstGeom prst="roundRect">
            <a:avLst>
              <a:gd name="adj" fmla="val 4500"/>
            </a:avLst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rain.png"/>
          <p:cNvPicPr>
            <a:picLocks noChangeAspect="1"/>
          </p:cNvPicPr>
          <p:nvPr/>
        </p:nvPicPr>
        <p:blipFill>
          <a:blip r:embed="rId2"/>
          <a:srcRect l="5556" r="5556"/>
          <a:stretch>
            <a:fillRect/>
          </a:stretch>
        </p:blipFill>
        <p:spPr>
          <a:xfrm>
            <a:off x="7360920" y="2103120"/>
            <a:ext cx="42062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CHARAKTERYSTYKA CHOROBY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Etiologia — przyczyny i czynniki ryzyka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14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10512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Czynniki przedporodowe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487168"/>
            <a:ext cx="3200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13A40"/>
                </a:solidFill>
                <a:latin typeface="Calibri"/>
              </a:rPr>
              <a:t>Infekcje wewnątrzmaciczne (TORCH)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13A40"/>
                </a:solidFill>
                <a:latin typeface="Calibri"/>
              </a:rPr>
              <a:t>Niedotlenienie i niewydolność łożyska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13A40"/>
                </a:solidFill>
                <a:latin typeface="Calibri"/>
              </a:rPr>
              <a:t>Wady rozwojowe OUN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13A40"/>
                </a:solidFill>
                <a:latin typeface="Calibri"/>
              </a:rPr>
              <a:t>Wcześniactwo, ciąża mnoga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13A40"/>
                </a:solidFill>
                <a:latin typeface="Calibri"/>
              </a:rPr>
              <a:t>Czynniki genetyczne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73736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16552" y="1737360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14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810512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Czynniki okołoporodowe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2487168"/>
            <a:ext cx="3200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13A40"/>
                </a:solidFill>
                <a:latin typeface="Calibri"/>
              </a:rPr>
              <a:t>Zamartwica i niedotlenienie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13A40"/>
                </a:solidFill>
                <a:latin typeface="Calibri"/>
              </a:rPr>
              <a:t>Uraz okołoporodowy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13A40"/>
                </a:solidFill>
                <a:latin typeface="Calibri"/>
              </a:rPr>
              <a:t>Niska masa urodzeniowa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13A40"/>
                </a:solidFill>
                <a:latin typeface="Calibri"/>
              </a:rPr>
              <a:t>Krwawienia dokomorowe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13A40"/>
                </a:solidFill>
                <a:latin typeface="Calibri"/>
              </a:rPr>
              <a:t>Ciężka żółtaczka (kernicterus)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4" y="173736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93024" y="1737360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14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1810512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Czynniki poporodowe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487168"/>
            <a:ext cx="3200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13A40"/>
                </a:solidFill>
                <a:latin typeface="Calibri"/>
              </a:rPr>
              <a:t>Zapalenie opon mózgowo-rdzeniowych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13A40"/>
                </a:solidFill>
                <a:latin typeface="Calibri"/>
              </a:rPr>
              <a:t>Urazy czaszkowo-mózgowe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13A40"/>
                </a:solidFill>
                <a:latin typeface="Calibri"/>
              </a:rPr>
              <a:t>Niedotlenienie (np. utonięcie)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13A40"/>
                </a:solidFill>
                <a:latin typeface="Calibri"/>
              </a:rPr>
              <a:t>Udar, zaburzenia metaboliczne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CHARAKTERYSTYKA CHOROBY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Epidemiologia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920240"/>
            <a:ext cx="324612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E6B7A"/>
                </a:solidFill>
                <a:latin typeface="Calibri"/>
              </a:rPr>
              <a:t>2–3</a:t>
            </a:r>
          </a:p>
          <a:p>
            <a:pPr algn="ctr"/>
            <a:r>
              <a:rPr sz="1300" b="0" i="0">
                <a:solidFill>
                  <a:srgbClr val="4B5C61"/>
                </a:solidFill>
                <a:latin typeface="Calibri"/>
              </a:rPr>
              <a:t>przypadki na 1000
żywych urodzeń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920240"/>
            <a:ext cx="324612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E6B7A"/>
                </a:solidFill>
                <a:latin typeface="Calibri"/>
              </a:rPr>
              <a:t>~1</a:t>
            </a:r>
          </a:p>
          <a:p>
            <a:pPr algn="ctr"/>
            <a:r>
              <a:rPr sz="1300" b="0" i="0">
                <a:solidFill>
                  <a:srgbClr val="4B5C61"/>
                </a:solidFill>
                <a:latin typeface="Calibri"/>
              </a:rPr>
              <a:t>najczęstsza przyczyna
niepełnosprawności ruchowej u dzieci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78308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920240"/>
            <a:ext cx="324612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E6B7A"/>
                </a:solidFill>
                <a:latin typeface="Calibri"/>
              </a:rPr>
              <a:t>40–60%</a:t>
            </a:r>
          </a:p>
          <a:p>
            <a:pPr algn="ctr"/>
            <a:r>
              <a:rPr sz="1300" b="0" i="0">
                <a:solidFill>
                  <a:srgbClr val="4B5C61"/>
                </a:solidFill>
                <a:latin typeface="Calibri"/>
              </a:rPr>
              <a:t>dzieci z MPD ma
niepełnosprawność intelektualną*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Częstość występowania MPD utrzymuje się na stałym poziomie mimo postępu opieki perinatalnej — dzięki niej przeżywają dzieci coraz bardziej niedojrzałe i obciążone.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Ryzyko rośnie znacząco u wcześniaków i noworodków z bardzo małą masą urodzeniową.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Postacie i nasilenie objawów są bardzo zróżnicowane — od dyskretnych zaburzeń chodu po ciężką, wielonarządową niepełnosprawność.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4B5C61"/>
                </a:solidFill>
                <a:latin typeface="Calibri"/>
              </a:rPr>
              <a:t>* Dane orientacyjne; częstość zaburzeń towarzyszących zależy od postaci i ciężkości MPD.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CHARAKTERYSTYKA CHOROBY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Klasyfikacja postaci klinicznych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3108960" cy="65836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49039" y="1783080"/>
            <a:ext cx="5029200" cy="65836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2880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Postać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783080"/>
            <a:ext cx="4754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Charakterystyka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41448"/>
            <a:ext cx="3108960" cy="658368"/>
          </a:xfrm>
          <a:prstGeom prst="rect">
            <a:avLst/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2441448"/>
            <a:ext cx="5029200" cy="658368"/>
          </a:xfrm>
          <a:prstGeom prst="rect">
            <a:avLst/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8"/>
            <a:ext cx="2880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0E6B7A"/>
                </a:solidFill>
                <a:latin typeface="Calibri"/>
              </a:rPr>
              <a:t>Spastyczna (najczęstsza)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441448"/>
            <a:ext cx="4754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213A40"/>
                </a:solidFill>
                <a:latin typeface="Calibri"/>
              </a:rPr>
              <a:t>Wzmożone napięcie mięśni; diplegia, hemiplegia, tetraplegia (kwadriplegia)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9815"/>
            <a:ext cx="3108960" cy="658368"/>
          </a:xfrm>
          <a:prstGeom prst="rect">
            <a:avLst/>
          </a:prstGeom>
          <a:solidFill>
            <a:srgbClr val="CF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49039" y="3099815"/>
            <a:ext cx="5029200" cy="658368"/>
          </a:xfrm>
          <a:prstGeom prst="rect">
            <a:avLst/>
          </a:prstGeom>
          <a:solidFill>
            <a:srgbClr val="CF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99815"/>
            <a:ext cx="2880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0E6B7A"/>
                </a:solidFill>
                <a:latin typeface="Calibri"/>
              </a:rPr>
              <a:t>Dyskinetyczna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099815"/>
            <a:ext cx="4754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213A40"/>
                </a:solidFill>
                <a:latin typeface="Calibri"/>
              </a:rPr>
              <a:t>Ruchy mimowolne, zmienne napięcie — atetoza, dystonia, pląsawica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58184"/>
            <a:ext cx="3108960" cy="658368"/>
          </a:xfrm>
          <a:prstGeom prst="rect">
            <a:avLst/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39" y="3758184"/>
            <a:ext cx="5029200" cy="658368"/>
          </a:xfrm>
          <a:prstGeom prst="rect">
            <a:avLst/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58184"/>
            <a:ext cx="2880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0E6B7A"/>
                </a:solidFill>
                <a:latin typeface="Calibri"/>
              </a:rPr>
              <a:t>Ataktyczna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758184"/>
            <a:ext cx="4754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213A40"/>
                </a:solidFill>
                <a:latin typeface="Calibri"/>
              </a:rPr>
              <a:t>Zaburzenia równowagi i koordynacji, drżenie zamiarowe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16552"/>
            <a:ext cx="3108960" cy="658368"/>
          </a:xfrm>
          <a:prstGeom prst="rect">
            <a:avLst/>
          </a:prstGeom>
          <a:solidFill>
            <a:srgbClr val="CF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4416552"/>
            <a:ext cx="5029200" cy="658368"/>
          </a:xfrm>
          <a:prstGeom prst="rect">
            <a:avLst/>
          </a:prstGeom>
          <a:solidFill>
            <a:srgbClr val="CF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16552"/>
            <a:ext cx="2880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0E6B7A"/>
                </a:solidFill>
                <a:latin typeface="Calibri"/>
              </a:rPr>
              <a:t>Mieszana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4416552"/>
            <a:ext cx="4754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213A40"/>
                </a:solidFill>
                <a:latin typeface="Calibri"/>
              </a:rPr>
              <a:t>Współwystępowanie cech kilku postaci jednocześnie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83080"/>
            <a:ext cx="2560320" cy="3291839"/>
          </a:xfrm>
          <a:prstGeom prst="roundRect">
            <a:avLst>
              <a:gd name="adj" fmla="val 5000"/>
            </a:avLst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1965960"/>
            <a:ext cx="2194560" cy="292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GMFCS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4F4F2"/>
                </a:solidFill>
                <a:latin typeface="Calibri"/>
              </a:rPr>
              <a:t>Skala funkcji motoryki dużej (5 poziomów) opisuje samodzielność w lokomocji.</a:t>
            </a:r>
          </a:p>
          <a:p>
            <a:pPr>
              <a:spcBef>
                <a:spcPts val="800"/>
              </a:spcBef>
            </a:pPr>
            <a:r>
              <a:rPr sz="1200" b="0" i="1">
                <a:solidFill>
                  <a:srgbClr val="E4F4F2"/>
                </a:solidFill>
                <a:latin typeface="Calibri"/>
              </a:rPr>
              <a:t>I – chodzi bez ograniczeń
V – zależny, wózek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257800"/>
            <a:ext cx="8138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213A40"/>
                </a:solidFill>
                <a:latin typeface="Calibri"/>
              </a:rPr>
              <a:t>Do oceny funkcji stosuje się także MACS (kończyny górne) oraz CFCS (komunikacja).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OBJAWY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Objawy ruchowe (podstawowe)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6309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Nieprawidłowe napięcie mięśniowe — spastyczność, wiotkość lub napięcie zmienne.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Przetrwałe odruchy pierwotne i osłabione reakcje prostowania oraz równowagi.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Opóźnienie rozwoju ruchowego — opóźnione osiąganie kamieni milowych.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Patologiczne, stereotypowe wzorce ruchowe i postawy.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Zaburzenia kontroli postawy, równowagi i koordynacji.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Osłabienie siły mięśniowej i szybka męczliwość.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Zaburzenia selektywnej kontroli ruchu (trudność w izolowanych ruchach).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8624" y="2020824"/>
            <a:ext cx="4370831" cy="3319272"/>
          </a:xfrm>
          <a:prstGeom prst="roundRect">
            <a:avLst>
              <a:gd name="adj" fmla="val 4500"/>
            </a:avLst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ymptoms.png"/>
          <p:cNvPicPr>
            <a:picLocks noChangeAspect="1"/>
          </p:cNvPicPr>
          <p:nvPr/>
        </p:nvPicPr>
        <p:blipFill>
          <a:blip r:embed="rId2"/>
          <a:srcRect l="5556" r="5556"/>
          <a:stretch>
            <a:fillRect/>
          </a:stretch>
        </p:blipFill>
        <p:spPr>
          <a:xfrm>
            <a:off x="7360920" y="2103120"/>
            <a:ext cx="42062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OBJAWY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Zaburzenia współistniejące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3949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Padaczka (nawet u ok. 30–50% dzieci).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Niepełnosprawność intelektualna o różnym nasileniu.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Zaburzenia wzroku (zez, niedowidzenie) i słuchu.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Zaburzenia mowy i komunikacji (dyzartria).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Zaburzenia karmienia, połykania, refluks, ślinotok.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5349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Zaburzenia czucia i integracji sensorycznej.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Zaburzenia emocjonalne i zachowania.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Przewlekły ból (np. mięśniowo-szkieletowy).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Zaburzenia oddychania i częste infekcje dróg oddechowych.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Osteoporoza, zaburzenia odżywiania i wzrastania.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70916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sz="1300" b="0" i="1">
                <a:solidFill>
                  <a:srgbClr val="0E6B7A"/>
                </a:solidFill>
                <a:latin typeface="Calibri"/>
              </a:rPr>
              <a:t>Wielość zaburzeń sprawia, że MPD wymaga opieki interdyscyplinarnej, a fizjoterapia jest tylko jednym z jej elementów.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PROBLEMY FUNKCJONALNE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Konsekwencje w codziennym funkcjonowaniu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6309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213A40"/>
                </a:solidFill>
                <a:latin typeface="Calibri"/>
              </a:rPr>
              <a:t>Lokomocja: trudności lub brak samodzielnego chodu, potrzeba zaopatrzenia ortopedycznego (ortezy, balkonik, wózek).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213A40"/>
                </a:solidFill>
                <a:latin typeface="Calibri"/>
              </a:rPr>
              <a:t>Samoobsługa: ograniczenia w ubieraniu, jedzeniu, higienie.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213A40"/>
                </a:solidFill>
                <a:latin typeface="Calibri"/>
              </a:rPr>
              <a:t>Manipulacja: utrudniony chwyt i precyzyjne ruchy rąk.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213A40"/>
                </a:solidFill>
                <a:latin typeface="Calibri"/>
              </a:rPr>
              <a:t>Komunikacja i nauka: trudności w mowie, pisaniu, edukacji szkolnej.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213A40"/>
                </a:solidFill>
                <a:latin typeface="Calibri"/>
              </a:rPr>
              <a:t>Uczestnictwo: ograniczenie zabawy, kontaktów rówieśniczych i aktywności społecznej.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213A40"/>
                </a:solidFill>
                <a:latin typeface="Calibri"/>
              </a:rPr>
              <a:t>Powikłania wtórne: przykurcze, zwichnięcie stawu biodrowego, skolioza, deformacje stóp.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8624" y="2020824"/>
            <a:ext cx="4370831" cy="3319272"/>
          </a:xfrm>
          <a:prstGeom prst="roundRect">
            <a:avLst>
              <a:gd name="adj" fmla="val 4500"/>
            </a:avLst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am.png"/>
          <p:cNvPicPr>
            <a:picLocks noChangeAspect="1"/>
          </p:cNvPicPr>
          <p:nvPr/>
        </p:nvPicPr>
        <p:blipFill>
          <a:blip r:embed="rId2"/>
          <a:srcRect l="5556" r="5556"/>
          <a:stretch>
            <a:fillRect/>
          </a:stretch>
        </p:blipFill>
        <p:spPr>
          <a:xfrm>
            <a:off x="7360920" y="2103120"/>
            <a:ext cx="42062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POSTĘPOWANIE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Diagnostyka i ocena funkcjonalna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3949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Wywiad — przebieg ciąży, porodu i rozwoju dziecka.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Badanie neurologiczne i ocena napięcia mięśniowego oraz odruchów.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Ocena rozwoju psychoruchowego i wzorców ruchowych.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Neuroobrazowanie — MRI/USG przezciemiączkowe mózgowia.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Konsultacje: okulistyczna, laryngologiczna, logopedyczna, psychologiczna.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E6B7A"/>
                </a:solidFill>
                <a:latin typeface="Calibri"/>
              </a:rPr>
              <a:t>Wybrane skale oceny funkcjonalnej: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31720"/>
            <a:ext cx="5349240" cy="749808"/>
          </a:xfrm>
          <a:prstGeom prst="roundRect">
            <a:avLst>
              <a:gd name="adj" fmla="val 14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5029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0E6B7A"/>
                </a:solidFill>
                <a:latin typeface="Calibri"/>
              </a:rPr>
              <a:t>GMFCS — </a:t>
            </a:r>
            <a:r>
              <a:rPr sz="1400" b="0" i="0">
                <a:solidFill>
                  <a:srgbClr val="213A40"/>
                </a:solidFill>
                <a:latin typeface="Calibri"/>
              </a:rPr>
              <a:t>poziom funkcji motoryki dużej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27832"/>
            <a:ext cx="5349240" cy="749808"/>
          </a:xfrm>
          <a:prstGeom prst="roundRect">
            <a:avLst>
              <a:gd name="adj" fmla="val 14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227832"/>
            <a:ext cx="5029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0E6B7A"/>
                </a:solidFill>
                <a:latin typeface="Calibri"/>
              </a:rPr>
              <a:t>GMFM — </a:t>
            </a:r>
            <a:r>
              <a:rPr sz="1400" b="0" i="0">
                <a:solidFill>
                  <a:srgbClr val="213A40"/>
                </a:solidFill>
                <a:latin typeface="Calibri"/>
              </a:rPr>
              <a:t>pomiar funkcji motorycznych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123944"/>
            <a:ext cx="5349240" cy="749808"/>
          </a:xfrm>
          <a:prstGeom prst="roundRect">
            <a:avLst>
              <a:gd name="adj" fmla="val 14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23944"/>
            <a:ext cx="5029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0E6B7A"/>
                </a:solidFill>
                <a:latin typeface="Calibri"/>
              </a:rPr>
              <a:t>MACS — </a:t>
            </a:r>
            <a:r>
              <a:rPr sz="1400" b="0" i="0">
                <a:solidFill>
                  <a:srgbClr val="213A40"/>
                </a:solidFill>
                <a:latin typeface="Calibri"/>
              </a:rPr>
              <a:t>funkcja manualna kończyn górnych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020056"/>
            <a:ext cx="5349240" cy="749808"/>
          </a:xfrm>
          <a:prstGeom prst="roundRect">
            <a:avLst>
              <a:gd name="adj" fmla="val 14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020056"/>
            <a:ext cx="5029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0E6B7A"/>
                </a:solidFill>
                <a:latin typeface="Calibri"/>
              </a:rPr>
              <a:t>Skala Ashworth — </a:t>
            </a:r>
            <a:r>
              <a:rPr sz="1400" b="0" i="0">
                <a:solidFill>
                  <a:srgbClr val="213A40"/>
                </a:solidFill>
                <a:latin typeface="Calibri"/>
              </a:rPr>
              <a:t>ocena napięcia / spastyczności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FIZJOTERAPIA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Znaczenie i zasady rehabilitacji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6309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Wczesna interwencja — wykorzystanie neuroplastyczności rozwijającego się mózgu.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Kompleksowość i ciągłość — terapia dostosowana do wieku i potrzeb dziecka.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Podejście funkcjonalne — cele osadzone w codziennych czynnościach i zabawie.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Zapobieganie powikłaniom wtórnym (przykurczom, deformacjom).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Praca zespołu interdyscyplinarnego z aktywnym udziałem rodziny.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213A40"/>
                </a:solidFill>
                <a:latin typeface="Calibri"/>
              </a:rPr>
              <a:t>Łączenie różnych metod — dobór indywidualny, a nie jedna „recepta”.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8624" y="2020824"/>
            <a:ext cx="4370831" cy="3319272"/>
          </a:xfrm>
          <a:prstGeom prst="roundRect">
            <a:avLst>
              <a:gd name="adj" fmla="val 4500"/>
            </a:avLst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am.png"/>
          <p:cNvPicPr>
            <a:picLocks noChangeAspect="1"/>
          </p:cNvPicPr>
          <p:nvPr/>
        </p:nvPicPr>
        <p:blipFill>
          <a:blip r:embed="rId2"/>
          <a:srcRect l="5556" r="5556"/>
          <a:stretch>
            <a:fillRect/>
          </a:stretch>
        </p:blipFill>
        <p:spPr>
          <a:xfrm>
            <a:off x="7360920" y="2103120"/>
            <a:ext cx="42062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0"/>
            <a:ext cx="292608" cy="1463040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606040"/>
            <a:ext cx="59436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F07B63"/>
                </a:solidFill>
                <a:latin typeface="Calibri"/>
              </a:rPr>
              <a:t>CZĘŚĆ II</a:t>
            </a:r>
          </a:p>
          <a:p>
            <a:pPr>
              <a:spcBef>
                <a:spcPts val="600"/>
              </a:spcBef>
            </a:pPr>
            <a:r>
              <a:rPr sz="3400" b="1" i="0">
                <a:solidFill>
                  <a:srgbClr val="0E6B7A"/>
                </a:solidFill>
                <a:latin typeface="Calibri"/>
              </a:rPr>
              <a:t>Wybrane metody specjalne
fizjoterapii w MPD</a:t>
            </a:r>
          </a:p>
          <a:p>
            <a:pPr>
              <a:spcBef>
                <a:spcPts val="1000"/>
              </a:spcBef>
            </a:pPr>
            <a:r>
              <a:rPr sz="1500" b="0" i="1">
                <a:solidFill>
                  <a:srgbClr val="4B5C61"/>
                </a:solidFill>
                <a:latin typeface="Calibri"/>
              </a:rPr>
              <a:t>NDT-Bobath · PNF · metoda Peto · Ruch Rozwijający W. Sherborne · integracja sensoryczna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METODA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NDT-Bobath (koncepcja neurorozwojowa)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6355080" cy="868680"/>
          </a:xfrm>
          <a:prstGeom prst="roundRect">
            <a:avLst>
              <a:gd name="adj" fmla="val 8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72768"/>
            <a:ext cx="5989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1">
                <a:solidFill>
                  <a:srgbClr val="0E6B7A"/>
                </a:solidFill>
                <a:latin typeface="Calibri"/>
              </a:rPr>
              <a:t>Twórcy: Berta i Karel Bobath. Podstawa: neurofizjologiczna koncepcja rozwoju.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63550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Hamowanie nieprawidłowych wzorców ruchu i postawy.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Normalizacja napięcia mięśniowego (obniżanie lub podwyższanie).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Torowanie i utrwalanie prawidłowych wzorców ruchowych.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Prowadzenie ruchu z tzw. punktów kluczowych kontroli.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Włączanie prawidłowych wzorców w codzienne czynności — także w pielęgnację prowadzoną przez rodziców (handling).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Terapia całościowa, dostosowana indywidualnie do dziecka.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8624" y="2066544"/>
            <a:ext cx="4370831" cy="3319272"/>
          </a:xfrm>
          <a:prstGeom prst="roundRect">
            <a:avLst>
              <a:gd name="adj" fmla="val 4500"/>
            </a:avLst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dt_bobath.png"/>
          <p:cNvPicPr>
            <a:picLocks noChangeAspect="1"/>
          </p:cNvPicPr>
          <p:nvPr/>
        </p:nvPicPr>
        <p:blipFill>
          <a:blip r:embed="rId2"/>
          <a:srcRect l="5556" r="5556"/>
          <a:stretch>
            <a:fillRect/>
          </a:stretch>
        </p:blipFill>
        <p:spPr>
          <a:xfrm>
            <a:off x="7360920" y="2148840"/>
            <a:ext cx="4206240" cy="31546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60920" y="5440680"/>
            <a:ext cx="4206240" cy="713232"/>
          </a:xfrm>
          <a:prstGeom prst="roundRect">
            <a:avLst>
              <a:gd name="adj" fmla="val 12000"/>
            </a:avLst>
          </a:prstGeom>
          <a:solidFill>
            <a:srgbClr val="CF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/>
          <a:lstStyle/>
          <a:p>
            <a:pPr algn="ctr"/>
            <a:r>
              <a:rPr sz="1100" b="0" i="1">
                <a:solidFill>
                  <a:srgbClr val="0E6B7A"/>
                </a:solidFill>
                <a:latin typeface="Calibri"/>
              </a:rPr>
              <a:t>Najczęściej stosowana metoda u niemowląt i dzieci z MPD.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METODA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PNF — torowanie nerwowo-mięśniowe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6355080" cy="868680"/>
          </a:xfrm>
          <a:prstGeom prst="roundRect">
            <a:avLst>
              <a:gd name="adj" fmla="val 8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72768"/>
            <a:ext cx="5989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1">
                <a:solidFill>
                  <a:srgbClr val="0E6B7A"/>
                </a:solidFill>
                <a:latin typeface="Calibri"/>
              </a:rPr>
              <a:t>Proprioceptive Neuromuscular Facilitation — wykorzystanie proprioceptorów.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63550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Ruch w naturalnych, trójpłaszczyznowych wzorcach (diagonalnych, spiralnych).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Torowanie ruchu przez bodźce: dotyk, opór, rozciąganie, trakcję/aproksymację.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Praca na częściach ciała silniejszych, by torować słabsze (irradiacja).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Podejście funkcjonalne, pozytywne — bazuje na możliwościach pacjenta.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Wykorzystywana m.in. w treningu chodu, kontroli tułowia i stabilizacji.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Cele ustalane w porozumieniu z pacjentem i rodziną.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8624" y="2066544"/>
            <a:ext cx="4370831" cy="3319272"/>
          </a:xfrm>
          <a:prstGeom prst="roundRect">
            <a:avLst>
              <a:gd name="adj" fmla="val 4500"/>
            </a:avLst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nf.png"/>
          <p:cNvPicPr>
            <a:picLocks noChangeAspect="1"/>
          </p:cNvPicPr>
          <p:nvPr/>
        </p:nvPicPr>
        <p:blipFill>
          <a:blip r:embed="rId2"/>
          <a:srcRect l="5556" r="5556"/>
          <a:stretch>
            <a:fillRect/>
          </a:stretch>
        </p:blipFill>
        <p:spPr>
          <a:xfrm>
            <a:off x="7360920" y="2148840"/>
            <a:ext cx="4206240" cy="31546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60920" y="5440680"/>
            <a:ext cx="4206240" cy="713232"/>
          </a:xfrm>
          <a:prstGeom prst="roundRect">
            <a:avLst>
              <a:gd name="adj" fmla="val 12000"/>
            </a:avLst>
          </a:prstGeom>
          <a:solidFill>
            <a:srgbClr val="CF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/>
          <a:lstStyle/>
          <a:p>
            <a:pPr algn="ctr"/>
            <a:r>
              <a:rPr sz="1100" b="0" i="1">
                <a:solidFill>
                  <a:srgbClr val="0E6B7A"/>
                </a:solidFill>
                <a:latin typeface="Calibri"/>
              </a:rPr>
              <a:t>Bezbolesna, motywująca; oparta na mocnych stronach dziecka.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METODA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Metoda Peto — nauczanie kierowane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6355080" cy="868680"/>
          </a:xfrm>
          <a:prstGeom prst="roundRect">
            <a:avLst>
              <a:gd name="adj" fmla="val 8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72768"/>
            <a:ext cx="5989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1">
                <a:solidFill>
                  <a:srgbClr val="0E6B7A"/>
                </a:solidFill>
                <a:latin typeface="Calibri"/>
              </a:rPr>
              <a:t>Twórca: András Petö. System łączący rehabilitację z edukacją (konduktywny).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63550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Zajęcia grupowe prowadzone przez wykwalifikowanego terapeutę („dyrygenta”).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Rytmiczna intencja — słowne zapowiadanie i rytmizowanie wykonywanych ruchów.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Specjalne meble ze szczeblami (drabinki, plintusy) ułatwiające chwyt i pozycje.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Stały, uporządkowany plan dnia i powtarzalne zadania.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Cel: maksymalna samodzielność w czynnościach dnia codziennego.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Rozwija wolę działania, motywację i samokontrolę dziecka.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8624" y="2066544"/>
            <a:ext cx="4370831" cy="3319272"/>
          </a:xfrm>
          <a:prstGeom prst="roundRect">
            <a:avLst>
              <a:gd name="adj" fmla="val 4500"/>
            </a:avLst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eto.png"/>
          <p:cNvPicPr>
            <a:picLocks noChangeAspect="1"/>
          </p:cNvPicPr>
          <p:nvPr/>
        </p:nvPicPr>
        <p:blipFill>
          <a:blip r:embed="rId2"/>
          <a:srcRect l="5556" r="5556"/>
          <a:stretch>
            <a:fillRect/>
          </a:stretch>
        </p:blipFill>
        <p:spPr>
          <a:xfrm>
            <a:off x="7360920" y="2148840"/>
            <a:ext cx="4206240" cy="31546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60920" y="5440680"/>
            <a:ext cx="4206240" cy="713232"/>
          </a:xfrm>
          <a:prstGeom prst="roundRect">
            <a:avLst>
              <a:gd name="adj" fmla="val 12000"/>
            </a:avLst>
          </a:prstGeom>
          <a:solidFill>
            <a:srgbClr val="CF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/>
          <a:lstStyle/>
          <a:p>
            <a:pPr algn="ctr"/>
            <a:r>
              <a:rPr sz="1100" b="0" i="1">
                <a:solidFill>
                  <a:srgbClr val="0E6B7A"/>
                </a:solidFill>
                <a:latin typeface="Calibri"/>
              </a:rPr>
              <a:t>Dla dzieci w wieku przedszkolnym i szkolnym.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METODA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Ruch Rozwijający Weroniki Sherborne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6355080" cy="868680"/>
          </a:xfrm>
          <a:prstGeom prst="roundRect">
            <a:avLst>
              <a:gd name="adj" fmla="val 8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72768"/>
            <a:ext cx="5989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1">
                <a:solidFill>
                  <a:srgbClr val="0E6B7A"/>
                </a:solidFill>
                <a:latin typeface="Calibri"/>
              </a:rPr>
              <a:t>Metoda wspomagająca rozwój psychoruchowy oparta na ruchu, dotyku i relacji.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63550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Rozwijanie świadomości własnego ciała i przestrzeni.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Budowanie poczucia bezpieczeństwa, zaufania i relacji z drugą osobą.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Ćwiczenia: „z”, „przeciwko” i „razem” z partnerem (rodzicem, terapeutą).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Naturalne formy ruchu wywodzące się z dziecięcej zabawy (baraszkowania).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Poprawa integracji sensomotorycznej i kontaktów społecznych.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Metoda uzupełniająca — wspiera terapię prowadzoną innymi metodami.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8624" y="2066544"/>
            <a:ext cx="4370831" cy="3319272"/>
          </a:xfrm>
          <a:prstGeom prst="roundRect">
            <a:avLst>
              <a:gd name="adj" fmla="val 4500"/>
            </a:avLst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erborne.png"/>
          <p:cNvPicPr>
            <a:picLocks noChangeAspect="1"/>
          </p:cNvPicPr>
          <p:nvPr/>
        </p:nvPicPr>
        <p:blipFill>
          <a:blip r:embed="rId2"/>
          <a:srcRect l="5556" r="5556"/>
          <a:stretch>
            <a:fillRect/>
          </a:stretch>
        </p:blipFill>
        <p:spPr>
          <a:xfrm>
            <a:off x="7360920" y="2148840"/>
            <a:ext cx="4206240" cy="31546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60920" y="5440680"/>
            <a:ext cx="4206240" cy="713232"/>
          </a:xfrm>
          <a:prstGeom prst="roundRect">
            <a:avLst>
              <a:gd name="adj" fmla="val 12000"/>
            </a:avLst>
          </a:prstGeom>
          <a:solidFill>
            <a:srgbClr val="CF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/>
          <a:lstStyle/>
          <a:p>
            <a:pPr algn="ctr"/>
            <a:r>
              <a:rPr sz="1100" b="0" i="1">
                <a:solidFill>
                  <a:srgbClr val="0E6B7A"/>
                </a:solidFill>
                <a:latin typeface="Calibri"/>
              </a:rPr>
              <a:t>Prowadzona indywidualnie lub w małych grupach.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METODA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Integracja sensoryczna (SI)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6355080" cy="868680"/>
          </a:xfrm>
          <a:prstGeom prst="roundRect">
            <a:avLst>
              <a:gd name="adj" fmla="val 8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72768"/>
            <a:ext cx="5989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1">
                <a:solidFill>
                  <a:srgbClr val="0E6B7A"/>
                </a:solidFill>
                <a:latin typeface="Calibri"/>
              </a:rPr>
              <a:t>Twórczyni: A. Jean Ayres. Poprawa przetwarzania bodźców zmysłowych w OUN.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63550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Stymulacja układów: przedsionkowego, proprioceptywnego i dotykowego.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Dostarczanie kontrolowanej „diety sensorycznej” podczas ukierunkowanej zabawy.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Poprawa kontroli postawy, równowagi, planowania ruchu (praksji).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Specjalistyczny sprzęt: podwieszane huśtawki, platformy, deski równoważne.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Wymaga diagnozy i prowadzenia przez certyfikowanego terapeutę SI.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213A40"/>
                </a:solidFill>
                <a:latin typeface="Calibri"/>
              </a:rPr>
              <a:t>Metoda uzupełniająca kompleksową rehabilitację dziecka z MPD.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8624" y="2066544"/>
            <a:ext cx="4370831" cy="3319272"/>
          </a:xfrm>
          <a:prstGeom prst="roundRect">
            <a:avLst>
              <a:gd name="adj" fmla="val 4500"/>
            </a:avLst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nsory.png"/>
          <p:cNvPicPr>
            <a:picLocks noChangeAspect="1"/>
          </p:cNvPicPr>
          <p:nvPr/>
        </p:nvPicPr>
        <p:blipFill>
          <a:blip r:embed="rId2"/>
          <a:srcRect l="5556" r="5556"/>
          <a:stretch>
            <a:fillRect/>
          </a:stretch>
        </p:blipFill>
        <p:spPr>
          <a:xfrm>
            <a:off x="7360920" y="2148840"/>
            <a:ext cx="4206240" cy="31546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60920" y="5440680"/>
            <a:ext cx="4206240" cy="713232"/>
          </a:xfrm>
          <a:prstGeom prst="roundRect">
            <a:avLst>
              <a:gd name="adj" fmla="val 12000"/>
            </a:avLst>
          </a:prstGeom>
          <a:solidFill>
            <a:srgbClr val="CF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/>
          <a:lstStyle/>
          <a:p>
            <a:pPr algn="ctr"/>
            <a:r>
              <a:rPr sz="1100" b="0" i="1">
                <a:solidFill>
                  <a:srgbClr val="0E6B7A"/>
                </a:solidFill>
                <a:latin typeface="Calibri"/>
              </a:rPr>
              <a:t>Wspiera lepsze reagowanie dziecka na otoczenie.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PODSUMOWANIE METOD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Zestawienie omawianych metod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3291840" cy="65836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1783080"/>
            <a:ext cx="8138160" cy="65836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Metoda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6511" y="1783080"/>
            <a:ext cx="7818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Główny cel / charakter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41448"/>
            <a:ext cx="3291840" cy="658368"/>
          </a:xfrm>
          <a:prstGeom prst="rect">
            <a:avLst/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1920" y="2441448"/>
            <a:ext cx="8138160" cy="658368"/>
          </a:xfrm>
          <a:prstGeom prst="rect">
            <a:avLst/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8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0E6B7A"/>
                </a:solidFill>
                <a:latin typeface="Calibri"/>
              </a:rPr>
              <a:t>NDT-Bobath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1" y="2441448"/>
            <a:ext cx="7818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213A40"/>
                </a:solidFill>
                <a:latin typeface="Calibri"/>
              </a:rPr>
              <a:t>Normalizacja napięcia i wzorców ruchowych; podejście neurorozwojowe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9815"/>
            <a:ext cx="3291840" cy="658368"/>
          </a:xfrm>
          <a:prstGeom prst="rect">
            <a:avLst/>
          </a:prstGeom>
          <a:solidFill>
            <a:srgbClr val="CF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1920" y="3099815"/>
            <a:ext cx="8138160" cy="658368"/>
          </a:xfrm>
          <a:prstGeom prst="rect">
            <a:avLst/>
          </a:prstGeom>
          <a:solidFill>
            <a:srgbClr val="CF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99815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0E6B7A"/>
                </a:solidFill>
                <a:latin typeface="Calibri"/>
              </a:rPr>
              <a:t>PNF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6511" y="3099815"/>
            <a:ext cx="7818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213A40"/>
                </a:solidFill>
                <a:latin typeface="Calibri"/>
              </a:rPr>
              <a:t>Torowanie ruchu we wzorcach; praca na mocnych stronach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58184"/>
            <a:ext cx="3291840" cy="658368"/>
          </a:xfrm>
          <a:prstGeom prst="rect">
            <a:avLst/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31920" y="3758184"/>
            <a:ext cx="8138160" cy="658368"/>
          </a:xfrm>
          <a:prstGeom prst="rect">
            <a:avLst/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58184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0E6B7A"/>
                </a:solidFill>
                <a:latin typeface="Calibri"/>
              </a:rPr>
              <a:t>Metoda Peto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1" y="3758184"/>
            <a:ext cx="7818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213A40"/>
                </a:solidFill>
                <a:latin typeface="Calibri"/>
              </a:rPr>
              <a:t>Usamodzielnienie; połączenie terapii z edukacją (grupowo)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16552"/>
            <a:ext cx="3291840" cy="658368"/>
          </a:xfrm>
          <a:prstGeom prst="rect">
            <a:avLst/>
          </a:prstGeom>
          <a:solidFill>
            <a:srgbClr val="CF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20" y="4416552"/>
            <a:ext cx="8138160" cy="658368"/>
          </a:xfrm>
          <a:prstGeom prst="rect">
            <a:avLst/>
          </a:prstGeom>
          <a:solidFill>
            <a:srgbClr val="CF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16552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0E6B7A"/>
                </a:solidFill>
                <a:latin typeface="Calibri"/>
              </a:rPr>
              <a:t>W. Sherborne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1" y="4416552"/>
            <a:ext cx="7818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213A40"/>
                </a:solidFill>
                <a:latin typeface="Calibri"/>
              </a:rPr>
              <a:t>Świadomość ciała, relacja i więź poprzez ruch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74920"/>
            <a:ext cx="3291840" cy="658368"/>
          </a:xfrm>
          <a:prstGeom prst="rect">
            <a:avLst/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31920" y="5074920"/>
            <a:ext cx="8138160" cy="658368"/>
          </a:xfrm>
          <a:prstGeom prst="rect">
            <a:avLst/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74920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0E6B7A"/>
                </a:solidFill>
                <a:latin typeface="Calibri"/>
              </a:rPr>
              <a:t>Integracja sensor. (SI)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96511" y="5074920"/>
            <a:ext cx="7818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213A40"/>
                </a:solidFill>
                <a:latin typeface="Calibri"/>
              </a:rPr>
              <a:t>Poprawa przetwarzania bodźców zmysłowych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8247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213A40"/>
                </a:solidFill>
                <a:latin typeface="Calibri"/>
              </a:rPr>
              <a:t>Metody wzajemnie się uzupełniają — o wyborze decydują wiek, postać i nasilenie MPD oraz indywidualne cele terapii.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PODSUMOWANIE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Wnioski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MPD to najczęstsza przyczyna niepełnosprawności ruchowej wieku rozwojowego o bardzo zróżnicowanym obrazie klinicznym.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Wczesne rozpoznanie i szybkie wdrożenie rehabilitacji poprawiają rokowanie funkcjonalne dziecka.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Nie istnieje jedna uniwersalna metoda — skuteczna terapia łączy różne podejścia, dobrane indywidualnie.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NDT-Bobath i PNF stanowią podstawę usprawniania neurorozwojowego, a metoda Peto, Ruch Rozwijający Sherborne i SI cennie je uzupełniają.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Kluczowe znaczenie mają: kompleksowość, ciągłość, praca zespołowa oraz aktywne zaangażowanie rodziny.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07B63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13A40"/>
                </a:solidFill>
                <a:latin typeface="Calibri"/>
              </a:rPr>
              <a:t>Cel nadrzędny: maksymalna samodzielność, uczestnictwo i jakość życia dziecka.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BIBLIOGRAFIA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Książki i podręczniki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108356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E6B7A"/>
                </a:solidFill>
                <a:latin typeface="Calibri"/>
              </a:rPr>
              <a:t>Pozycje książkowe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F07B63"/>
                </a:solidFill>
                <a:latin typeface="Calibri"/>
              </a:rPr>
              <a:t>1.  </a:t>
            </a:r>
            <a:r>
              <a:rPr sz="1450" b="0" i="0">
                <a:solidFill>
                  <a:srgbClr val="213A40"/>
                </a:solidFill>
                <a:latin typeface="Calibri"/>
              </a:rPr>
              <a:t>Michałowicz R. (red.): Mózgowe porażenie dziecięce. Wydawnictwo Lekarskie PZWL, Warszawa 2001.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F07B63"/>
                </a:solidFill>
                <a:latin typeface="Calibri"/>
              </a:rPr>
              <a:t>2.  </a:t>
            </a:r>
            <a:r>
              <a:rPr sz="1450" b="0" i="0">
                <a:solidFill>
                  <a:srgbClr val="213A40"/>
                </a:solidFill>
                <a:latin typeface="Calibri"/>
              </a:rPr>
              <a:t>Levitt S.: Rehabilitacja w porażeniu mózgowym i zaburzeniach ruchu. Wydawnictwo Lekarskie PZWL, Warszawa 2007.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F07B63"/>
                </a:solidFill>
                <a:latin typeface="Calibri"/>
              </a:rPr>
              <a:t>3.  </a:t>
            </a:r>
            <a:r>
              <a:rPr sz="1450" b="0" i="0">
                <a:solidFill>
                  <a:srgbClr val="213A40"/>
                </a:solidFill>
                <a:latin typeface="Calibri"/>
              </a:rPr>
              <a:t>Matyja M., Domagalska M.: Podstawy usprawniania neurorozwojowego według Berty i Karela Bobathów. Wyd. AWF, Katowice 2005.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F07B63"/>
                </a:solidFill>
                <a:latin typeface="Calibri"/>
              </a:rPr>
              <a:t>4.  </a:t>
            </a:r>
            <a:r>
              <a:rPr sz="1450" b="0" i="0">
                <a:solidFill>
                  <a:srgbClr val="213A40"/>
                </a:solidFill>
                <a:latin typeface="Calibri"/>
              </a:rPr>
              <a:t>Borkowska M., Szwiling Z.: Metoda NDT-Bobath. Poradnik dla rodziców. Wydawnictwo Lekarskie PZWL, Warszawa 2011.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F07B63"/>
                </a:solidFill>
                <a:latin typeface="Calibri"/>
              </a:rPr>
              <a:t>5.  </a:t>
            </a:r>
            <a:r>
              <a:rPr sz="1450" b="0" i="0">
                <a:solidFill>
                  <a:srgbClr val="213A40"/>
                </a:solidFill>
                <a:latin typeface="Calibri"/>
              </a:rPr>
              <a:t>Sherborne W.: Ruch rozwijający dla dzieci. Wydawnictwo Naukowe PWN, Warszawa 2012.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F07B63"/>
                </a:solidFill>
                <a:latin typeface="Calibri"/>
              </a:rPr>
              <a:t>6.  </a:t>
            </a:r>
            <a:r>
              <a:rPr sz="1450" b="0" i="0">
                <a:solidFill>
                  <a:srgbClr val="213A40"/>
                </a:solidFill>
                <a:latin typeface="Calibri"/>
              </a:rPr>
              <a:t>Adler S.S., Beckers D., Buck M.: PNF w praktyce. Ilustrowany przewodnik. DB Publishing, 2014.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F07B63"/>
                </a:solidFill>
                <a:latin typeface="Calibri"/>
              </a:rPr>
              <a:t>7.  </a:t>
            </a:r>
            <a:r>
              <a:rPr sz="1450" b="0" i="0">
                <a:solidFill>
                  <a:srgbClr val="213A40"/>
                </a:solidFill>
                <a:latin typeface="Calibri"/>
              </a:rPr>
              <a:t>Ayres A.J.: Dziecko a integracja sensoryczna. Wydawnictwo Harmonia, Gdańsk 2015.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82296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0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E4F4F2"/>
                </a:solidFill>
                <a:latin typeface="Calibri"/>
              </a:rPr>
              <a:t>BIBLIOGRAFIA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Artykuły naukowe i źródła internetowe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E4F4F2"/>
                </a:solidFill>
                <a:latin typeface="Calibri"/>
              </a:rPr>
              <a:t>Mózgowe porażenie dziecięce · Metody specjalne fizjoterapii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7453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4F4F2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108356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E6B7A"/>
                </a:solidFill>
                <a:latin typeface="Calibri"/>
              </a:rPr>
              <a:t>Artykuły naukowe (dostępne m.in. w bazach PubMed / Google Scholar)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F07B63"/>
                </a:solidFill>
                <a:latin typeface="Calibri"/>
              </a:rPr>
              <a:t>8.  </a:t>
            </a:r>
            <a:r>
              <a:rPr sz="1450" b="0" i="0">
                <a:solidFill>
                  <a:srgbClr val="213A40"/>
                </a:solidFill>
                <a:latin typeface="Calibri"/>
              </a:rPr>
              <a:t>Kułak W., Sobaniec W.: Mózgowe porażenie dziecięce — standardy postępowania. Standardy Medyczne 2004; 1(1): 96–99.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F07B63"/>
                </a:solidFill>
                <a:latin typeface="Calibri"/>
              </a:rPr>
              <a:t>9.  </a:t>
            </a:r>
            <a:r>
              <a:rPr sz="1450" b="0" i="0">
                <a:solidFill>
                  <a:srgbClr val="213A40"/>
                </a:solidFill>
                <a:latin typeface="Calibri"/>
              </a:rPr>
              <a:t>Bagnowska K., Falkowski M.: Wybrane metody usprawniania dzieci z mózgowym porażeniem dziecięcym. Nowa Pediatria 2013; 3: 130–135.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F07B63"/>
                </a:solidFill>
                <a:latin typeface="Calibri"/>
              </a:rPr>
              <a:t>10.  </a:t>
            </a:r>
            <a:r>
              <a:rPr sz="1450" b="0" i="0">
                <a:solidFill>
                  <a:srgbClr val="213A40"/>
                </a:solidFill>
                <a:latin typeface="Calibri"/>
              </a:rPr>
              <a:t>Kwolek A., Majka M., Pabis M.: Rehabilitacja dzieci z porażeniem mózgowym — problemy, aktualne kierunki. Ortopedia Traumatologia Rehabilitacja 2001; 3(4): 499–507.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394960"/>
            <a:ext cx="10835640" cy="777240"/>
          </a:xfrm>
          <a:prstGeom prst="roundRect">
            <a:avLst>
              <a:gd name="adj" fmla="val 10000"/>
            </a:avLst>
          </a:prstGeom>
          <a:solidFill>
            <a:srgbClr val="E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/>
            <a:r>
              <a:rPr sz="1150" b="0" i="1">
                <a:solidFill>
                  <a:srgbClr val="0E6B7A"/>
                </a:solidFill>
                <a:latin typeface="Calibri"/>
              </a:rPr>
              <a:t>Uwaga: przed cytowaniem w pracy zaleca się zweryfikowanie pełnych danych bibliograficznych (rok, tom, strony) w katalogu biblioteki oraz w bazach naukowych.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331720"/>
            <a:ext cx="9418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0E6B7A"/>
                </a:solidFill>
                <a:latin typeface="Calibri"/>
              </a:rPr>
              <a:t>Dziękuję za uwagę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9476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4B5C61"/>
                </a:solidFill>
                <a:latin typeface="Calibri"/>
              </a:rPr>
              <a:t>Wczesna, kompleksowa i zespołowa rehabilitacja daje dziecku z MPD szansę na większą samodzielność i lepszą jakość życia.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