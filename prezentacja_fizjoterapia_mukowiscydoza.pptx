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4F6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206240"/>
            <a:ext cx="12191695" cy="109728"/>
          </a:xfrm>
          <a:prstGeom prst="rect">
            <a:avLst/>
          </a:prstGeom>
          <a:solidFill>
            <a:srgbClr val="148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2194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Calibri"/>
              </a:rPr>
              <a:t>Zasady planowania i programowania fizjoterapii
pacjentów z chorobami układu oddechowego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389120"/>
            <a:ext cx="99669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0">
                <a:solidFill>
                  <a:srgbClr val="CFEAF2"/>
                </a:solidFill>
                <a:latin typeface="Calibri"/>
              </a:rPr>
              <a:t>Mukowiscydoza (zwłóknienie torbielowate)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6035040"/>
            <a:ext cx="99669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B8D8E2"/>
                </a:solidFill>
                <a:latin typeface="Calibri"/>
              </a:rPr>
              <a:t>Opracowanie o charakterze przeglądowo-edukacyjnym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4F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64592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BFE3EE"/>
                </a:solidFill>
                <a:latin typeface="Calibri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Plan prezentacji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 b="1">
                <a:solidFill>
                  <a:srgbClr val="0B4F6C"/>
                </a:solidFill>
              </a:rPr>
              <a:t>▪  Charakterystyka mukowiscydozy</a:t>
            </a:r>
          </a:p>
          <a:p>
            <a:pPr>
              <a:spcAft>
                <a:spcPts val="800"/>
              </a:spcAft>
            </a:pPr>
            <a:r>
              <a:rPr sz="1900" b="1">
                <a:solidFill>
                  <a:srgbClr val="0B4F6C"/>
                </a:solidFill>
              </a:rPr>
              <a:t>▪  Rola i cele fizjoterapii</a:t>
            </a:r>
          </a:p>
          <a:p>
            <a:pPr>
              <a:spcAft>
                <a:spcPts val="800"/>
              </a:spcAft>
            </a:pPr>
            <a:r>
              <a:rPr sz="1900" b="1">
                <a:solidFill>
                  <a:srgbClr val="0B4F6C"/>
                </a:solidFill>
              </a:rPr>
              <a:t>▪  Ocena (diagnostyka) fizjoterapeutyczna</a:t>
            </a:r>
          </a:p>
          <a:p>
            <a:pPr>
              <a:spcAft>
                <a:spcPts val="800"/>
              </a:spcAft>
            </a:pPr>
            <a:r>
              <a:rPr sz="1900" b="1">
                <a:solidFill>
                  <a:srgbClr val="0B4F6C"/>
                </a:solidFill>
              </a:rPr>
              <a:t>▪  Zasady planowania fizjoterapii</a:t>
            </a:r>
          </a:p>
          <a:p>
            <a:pPr>
              <a:spcAft>
                <a:spcPts val="800"/>
              </a:spcAft>
            </a:pPr>
            <a:r>
              <a:rPr sz="1900" b="1">
                <a:solidFill>
                  <a:srgbClr val="0B4F6C"/>
                </a:solidFill>
              </a:rPr>
              <a:t>▪  Programowanie – metody i techniki</a:t>
            </a:r>
          </a:p>
          <a:p>
            <a:pPr>
              <a:spcAft>
                <a:spcPts val="800"/>
              </a:spcAft>
            </a:pPr>
            <a:r>
              <a:rPr sz="1900" b="1">
                <a:solidFill>
                  <a:srgbClr val="0B4F6C"/>
                </a:solidFill>
              </a:rPr>
              <a:t>▪  Dostosowanie do wieku i stanu klinicznego</a:t>
            </a:r>
          </a:p>
          <a:p>
            <a:pPr>
              <a:spcAft>
                <a:spcPts val="800"/>
              </a:spcAft>
            </a:pPr>
            <a:r>
              <a:rPr sz="1900" b="1">
                <a:solidFill>
                  <a:srgbClr val="0B4F6C"/>
                </a:solidFill>
              </a:rPr>
              <a:t>▪  Monitorowanie, bezpieczeństwo i kontrola zakażeń</a:t>
            </a:r>
          </a:p>
          <a:p>
            <a:pPr>
              <a:spcAft>
                <a:spcPts val="800"/>
              </a:spcAft>
            </a:pPr>
            <a:r>
              <a:rPr sz="1900" b="1">
                <a:solidFill>
                  <a:srgbClr val="0B4F6C"/>
                </a:solidFill>
              </a:rPr>
              <a:t>▪  Podsumowanie i wnioski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4F6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94560"/>
            <a:ext cx="22860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0" b="1">
                <a:solidFill>
                  <a:srgbClr val="148FB5"/>
                </a:solidFill>
                <a:latin typeface="Calibri"/>
              </a:rP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26080" y="2468880"/>
            <a:ext cx="841248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Charakterystyka mukowiscydozy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4F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64592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BFE3EE"/>
                </a:solidFill>
                <a:latin typeface="Calibri"/>
              </a:rPr>
              <a:t>DEFINICJA I ETIOLOGIA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Czym jest mukowiscydoza?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 b="1">
                <a:solidFill>
                  <a:srgbClr val="0B4F6C"/>
                </a:solidFill>
              </a:rPr>
              <a:t>▪  Najczęstsza letalna choroba genetyczna rasy białej</a:t>
            </a:r>
          </a:p>
          <a:p>
            <a:pPr>
              <a:spcAft>
                <a:spcPts val="800"/>
              </a:spcAft>
            </a:pPr>
            <a:r>
              <a:rPr sz="1900" b="1">
                <a:solidFill>
                  <a:srgbClr val="0B4F6C"/>
                </a:solidFill>
              </a:rPr>
              <a:t>▪  Dziedziczenie autosomalne recesywne</a:t>
            </a:r>
          </a:p>
          <a:p>
            <a:pPr>
              <a:spcAft>
                <a:spcPts val="800"/>
              </a:spcAft>
            </a:pPr>
            <a:r>
              <a:rPr sz="1900" b="1">
                <a:solidFill>
                  <a:srgbClr val="0B4F6C"/>
                </a:solidFill>
              </a:rPr>
              <a:t>▪  Przyczyna: mutacja genu CFTR (chromosom 7); najczęstsza – F508del</a:t>
            </a:r>
          </a:p>
          <a:p>
            <a:pPr lvl="1">
              <a:spcAft>
                <a:spcPts val="800"/>
              </a:spcAft>
            </a:pPr>
            <a:r>
              <a:rPr sz="1600">
                <a:solidFill>
                  <a:srgbClr val="222B33"/>
                </a:solidFill>
              </a:rPr>
              <a:t>–  CFTR koduje kanał chlorkowy w błonach komórek nabłonka</a:t>
            </a:r>
          </a:p>
          <a:p>
            <a:pPr>
              <a:spcAft>
                <a:spcPts val="800"/>
              </a:spcAft>
            </a:pPr>
            <a:r>
              <a:rPr sz="1900" b="1">
                <a:solidFill>
                  <a:srgbClr val="0B4F6C"/>
                </a:solidFill>
              </a:rPr>
              <a:t>▪  Skutek: zaburzony transport jonów Cl⁻ i Na⁺ → gęsta, lepka wydzielina</a:t>
            </a:r>
          </a:p>
          <a:p>
            <a:pPr>
              <a:spcAft>
                <a:spcPts val="800"/>
              </a:spcAft>
            </a:pPr>
            <a:r>
              <a:rPr sz="1900" b="1">
                <a:solidFill>
                  <a:srgbClr val="0B4F6C"/>
                </a:solidFill>
              </a:rPr>
              <a:t>▪  Choroba wielonarządowa – dominują objawy oddechowe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4F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64592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BFE3EE"/>
                </a:solidFill>
                <a:latin typeface="Calibri"/>
              </a:rPr>
              <a:t>MECHANIZM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Patofizjologia – „błędne koło”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 b="1">
                <a:solidFill>
                  <a:srgbClr val="0B4F6C"/>
                </a:solidFill>
              </a:rPr>
              <a:t>▪  Odwodnienie warstwy płynu okołorzęskowego</a:t>
            </a:r>
          </a:p>
          <a:p>
            <a:pPr>
              <a:spcAft>
                <a:spcPts val="800"/>
              </a:spcAft>
            </a:pPr>
            <a:r>
              <a:rPr sz="1900" b="1">
                <a:solidFill>
                  <a:srgbClr val="0B4F6C"/>
                </a:solidFill>
              </a:rPr>
              <a:t>▪  Upośledzenie klirensu śluzowo-rzęskowego</a:t>
            </a:r>
          </a:p>
          <a:p>
            <a:pPr>
              <a:spcAft>
                <a:spcPts val="800"/>
              </a:spcAft>
            </a:pPr>
            <a:r>
              <a:rPr sz="1900" b="1">
                <a:solidFill>
                  <a:srgbClr val="0B4F6C"/>
                </a:solidFill>
              </a:rPr>
              <a:t>▪  Zaleganie wydzieliny → kolonizacja bakteryjna</a:t>
            </a:r>
          </a:p>
          <a:p>
            <a:pPr lvl="1">
              <a:spcAft>
                <a:spcPts val="800"/>
              </a:spcAft>
            </a:pPr>
            <a:r>
              <a:rPr sz="1600">
                <a:solidFill>
                  <a:srgbClr val="222B33"/>
                </a:solidFill>
              </a:rPr>
              <a:t>–  m.in. Pseudomonas aeruginosa, Staphylococcus aureus</a:t>
            </a:r>
          </a:p>
          <a:p>
            <a:pPr>
              <a:spcAft>
                <a:spcPts val="800"/>
              </a:spcAft>
            </a:pPr>
            <a:r>
              <a:rPr sz="1900" b="1">
                <a:solidFill>
                  <a:srgbClr val="0B4F6C"/>
                </a:solidFill>
              </a:rPr>
              <a:t>▪  Przewlekłe zakażenie → stan zapalny → uszkodzenie oskrzeli</a:t>
            </a:r>
          </a:p>
          <a:p>
            <a:pPr>
              <a:spcAft>
                <a:spcPts val="800"/>
              </a:spcAft>
            </a:pPr>
            <a:r>
              <a:rPr sz="1900" b="1">
                <a:solidFill>
                  <a:srgbClr val="0B4F6C"/>
                </a:solidFill>
              </a:rPr>
              <a:t>▪  Efekt: rozstrzenie oskrzeli, obturacja, niewydolność oddechowa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4F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64592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BFE3EE"/>
                </a:solidFill>
                <a:latin typeface="Calibri"/>
              </a:rPr>
              <a:t>OBRAZ KLINICZNY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Objawy i diagnostyka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 b="1">
                <a:solidFill>
                  <a:srgbClr val="0B4F6C"/>
                </a:solidFill>
              </a:rPr>
              <a:t>▪  Objawy oddechowe: przewlekły kaszel, ropna wydzielina, duszność</a:t>
            </a:r>
          </a:p>
          <a:p>
            <a:pPr lvl="1">
              <a:spcAft>
                <a:spcPts val="800"/>
              </a:spcAft>
            </a:pPr>
            <a:r>
              <a:rPr sz="1600">
                <a:solidFill>
                  <a:srgbClr val="222B33"/>
                </a:solidFill>
              </a:rPr>
              <a:t>–  nawracające zakażenia, obturacja, spadek tolerancji wysiłku</a:t>
            </a:r>
          </a:p>
          <a:p>
            <a:pPr>
              <a:spcAft>
                <a:spcPts val="800"/>
              </a:spcAft>
            </a:pPr>
            <a:r>
              <a:rPr sz="1900" b="1">
                <a:solidFill>
                  <a:srgbClr val="0B4F6C"/>
                </a:solidFill>
              </a:rPr>
              <a:t>▪  Objawy pozapłucne: niewydolność trzustki, niedożywienie, CFRD, osteoporoza</a:t>
            </a:r>
          </a:p>
          <a:p>
            <a:pPr>
              <a:spcAft>
                <a:spcPts val="800"/>
              </a:spcAft>
            </a:pPr>
            <a:r>
              <a:rPr sz="1900" b="1">
                <a:solidFill>
                  <a:srgbClr val="0B4F6C"/>
                </a:solidFill>
              </a:rPr>
              <a:t>▪  Diagnostyka:</a:t>
            </a:r>
          </a:p>
          <a:p>
            <a:pPr lvl="1">
              <a:spcAft>
                <a:spcPts val="800"/>
              </a:spcAft>
            </a:pPr>
            <a:r>
              <a:rPr sz="1600">
                <a:solidFill>
                  <a:srgbClr val="222B33"/>
                </a:solidFill>
              </a:rPr>
              <a:t>–  przesiew noworodkowy (IRT)</a:t>
            </a:r>
          </a:p>
          <a:p>
            <a:pPr lvl="1">
              <a:spcAft>
                <a:spcPts val="800"/>
              </a:spcAft>
            </a:pPr>
            <a:r>
              <a:rPr sz="1600">
                <a:solidFill>
                  <a:srgbClr val="222B33"/>
                </a:solidFill>
              </a:rPr>
              <a:t>–  test potowy (chlorki ≥ 60 mmol/l)</a:t>
            </a:r>
          </a:p>
          <a:p>
            <a:pPr lvl="1">
              <a:spcAft>
                <a:spcPts val="800"/>
              </a:spcAft>
            </a:pPr>
            <a:r>
              <a:rPr sz="1600">
                <a:solidFill>
                  <a:srgbClr val="222B33"/>
                </a:solidFill>
              </a:rPr>
              <a:t>–  badania genetyczne (mutacje CFTR)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4F6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94560"/>
            <a:ext cx="22860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0" b="1">
                <a:solidFill>
                  <a:srgbClr val="148FB5"/>
                </a:solidFill>
                <a:latin typeface="Calibri"/>
              </a:rP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26080" y="2468880"/>
            <a:ext cx="841248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Rola i cele fizjoterapii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4F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64592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BFE3EE"/>
                </a:solidFill>
                <a:latin typeface="Calibri"/>
              </a:rPr>
              <a:t>POJĘCIA KLUCZOWE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Planowanie a programowanie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 b="1">
                <a:solidFill>
                  <a:srgbClr val="0B4F6C"/>
                </a:solidFill>
              </a:rPr>
              <a:t>▪  PLANOWANIE – poziom strategiczny</a:t>
            </a:r>
          </a:p>
          <a:p>
            <a:pPr lvl="1">
              <a:spcAft>
                <a:spcPts val="800"/>
              </a:spcAft>
            </a:pPr>
            <a:r>
              <a:rPr sz="1600">
                <a:solidFill>
                  <a:srgbClr val="222B33"/>
                </a:solidFill>
              </a:rPr>
              <a:t>–  cele, kierunki i ramy terapii (po co? dokąd? w jakim czasie?)</a:t>
            </a:r>
          </a:p>
          <a:p>
            <a:pPr>
              <a:spcAft>
                <a:spcPts val="800"/>
              </a:spcAft>
            </a:pPr>
            <a:r>
              <a:rPr sz="1900" b="1">
                <a:solidFill>
                  <a:srgbClr val="0B4F6C"/>
                </a:solidFill>
              </a:rPr>
              <a:t>▪  PROGRAMOWANIE – poziom operacyjny</a:t>
            </a:r>
          </a:p>
          <a:p>
            <a:pPr lvl="1">
              <a:spcAft>
                <a:spcPts val="800"/>
              </a:spcAft>
            </a:pPr>
            <a:r>
              <a:rPr sz="1600">
                <a:solidFill>
                  <a:srgbClr val="222B33"/>
                </a:solidFill>
              </a:rPr>
              <a:t>–  dobór metod, technik i parametrów obciążenia (co? jak? jak często?)</a:t>
            </a:r>
          </a:p>
          <a:p>
            <a:pPr>
              <a:spcAft>
                <a:spcPts val="800"/>
              </a:spcAft>
            </a:pPr>
            <a:r>
              <a:rPr sz="1900" b="1">
                <a:solidFill>
                  <a:srgbClr val="0B4F6C"/>
                </a:solidFill>
              </a:rPr>
              <a:t>▪  Oba etapy sprzężone zwrotnie – wyniki modyfikują plan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4F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64592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BFE3EE"/>
                </a:solidFill>
                <a:latin typeface="Calibri"/>
              </a:rPr>
              <a:t>CELE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Cele fizjoterapii w mukowiscydozie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 b="1">
                <a:solidFill>
                  <a:srgbClr val="0B4F6C"/>
                </a:solidFill>
              </a:rPr>
              <a:t>▪  Utrzymanie drożności dróg oddechowych (usuwanie wydzieliny)</a:t>
            </a:r>
          </a:p>
          <a:p>
            <a:pPr>
              <a:spcAft>
                <a:spcPts val="800"/>
              </a:spcAft>
            </a:pPr>
            <a:r>
              <a:rPr sz="1900" b="1">
                <a:solidFill>
                  <a:srgbClr val="0B4F6C"/>
                </a:solidFill>
              </a:rPr>
              <a:t>▪  Poprawa wentylacji i wymiany gazowej</a:t>
            </a:r>
          </a:p>
          <a:p>
            <a:pPr>
              <a:spcAft>
                <a:spcPts val="800"/>
              </a:spcAft>
            </a:pPr>
            <a:r>
              <a:rPr sz="1900" b="1">
                <a:solidFill>
                  <a:srgbClr val="0B4F6C"/>
                </a:solidFill>
              </a:rPr>
              <a:t>▪  Zapobieganie zakażeniom i powikłaniom</a:t>
            </a:r>
          </a:p>
          <a:p>
            <a:pPr>
              <a:spcAft>
                <a:spcPts val="800"/>
              </a:spcAft>
            </a:pPr>
            <a:r>
              <a:rPr sz="1900" b="1">
                <a:solidFill>
                  <a:srgbClr val="0B4F6C"/>
                </a:solidFill>
              </a:rPr>
              <a:t>▪  Utrzymanie/poprawa wydolności fizycznej i tolerancji wysiłku</a:t>
            </a:r>
          </a:p>
          <a:p>
            <a:pPr>
              <a:spcAft>
                <a:spcPts val="800"/>
              </a:spcAft>
            </a:pPr>
            <a:r>
              <a:rPr sz="1900" b="1">
                <a:solidFill>
                  <a:srgbClr val="0B4F6C"/>
                </a:solidFill>
              </a:rPr>
              <a:t>▪  Prawidłowa postawa i ruchomość klatki piersiowej</a:t>
            </a:r>
          </a:p>
          <a:p>
            <a:pPr>
              <a:spcAft>
                <a:spcPts val="800"/>
              </a:spcAft>
            </a:pPr>
            <a:r>
              <a:rPr sz="1900" b="1">
                <a:solidFill>
                  <a:srgbClr val="0B4F6C"/>
                </a:solidFill>
              </a:rPr>
              <a:t>▪  Edukacja i samodzielność terapeutyczna pacjenta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4F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64592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BFE3EE"/>
                </a:solidFill>
                <a:latin typeface="Calibri"/>
              </a:rPr>
              <a:t>ZASADY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Ogólne zasady postępowania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 b="1">
                <a:solidFill>
                  <a:srgbClr val="0B4F6C"/>
                </a:solidFill>
              </a:rPr>
              <a:t>▪  Indywidualizacja</a:t>
            </a:r>
          </a:p>
          <a:p>
            <a:pPr>
              <a:spcAft>
                <a:spcPts val="800"/>
              </a:spcAft>
            </a:pPr>
            <a:r>
              <a:rPr sz="1900" b="1">
                <a:solidFill>
                  <a:srgbClr val="0B4F6C"/>
                </a:solidFill>
              </a:rPr>
              <a:t>▪  Systematyczność i ciągłość (terapia dożywotnia)</a:t>
            </a:r>
          </a:p>
          <a:p>
            <a:pPr>
              <a:spcAft>
                <a:spcPts val="800"/>
              </a:spcAft>
            </a:pPr>
            <a:r>
              <a:rPr sz="1900" b="1">
                <a:solidFill>
                  <a:srgbClr val="0B4F6C"/>
                </a:solidFill>
              </a:rPr>
              <a:t>▪  Stopniowanie obciążeń (progresja)</a:t>
            </a:r>
          </a:p>
          <a:p>
            <a:pPr>
              <a:spcAft>
                <a:spcPts val="800"/>
              </a:spcAft>
            </a:pPr>
            <a:r>
              <a:rPr sz="1900" b="1">
                <a:solidFill>
                  <a:srgbClr val="0B4F6C"/>
                </a:solidFill>
              </a:rPr>
              <a:t>▪  Wczesne rozpoczęcie – od momentu rozpoznania</a:t>
            </a:r>
          </a:p>
          <a:p>
            <a:pPr>
              <a:spcAft>
                <a:spcPts val="800"/>
              </a:spcAft>
            </a:pPr>
            <a:r>
              <a:rPr sz="1900" b="1">
                <a:solidFill>
                  <a:srgbClr val="0B4F6C"/>
                </a:solidFill>
              </a:rPr>
              <a:t>▪  Kompleksowość (zespół wielospecjalistyczny)</a:t>
            </a:r>
          </a:p>
          <a:p>
            <a:pPr>
              <a:spcAft>
                <a:spcPts val="800"/>
              </a:spcAft>
            </a:pPr>
            <a:r>
              <a:rPr sz="1900" b="1">
                <a:solidFill>
                  <a:srgbClr val="0B4F6C"/>
                </a:solidFill>
              </a:rPr>
              <a:t>▪  Aktywny udział pacjenta</a:t>
            </a:r>
          </a:p>
          <a:p>
            <a:pPr>
              <a:spcAft>
                <a:spcPts val="800"/>
              </a:spcAft>
            </a:pPr>
            <a:r>
              <a:rPr sz="1900" b="1">
                <a:solidFill>
                  <a:srgbClr val="0B4F6C"/>
                </a:solidFill>
              </a:rPr>
              <a:t>▪  Ocena efektów i bezpieczeństwo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4F6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94560"/>
            <a:ext cx="22860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0" b="1">
                <a:solidFill>
                  <a:srgbClr val="148FB5"/>
                </a:solidFill>
                <a:latin typeface="Calibri"/>
              </a:rP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26080" y="2468880"/>
            <a:ext cx="841248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Ocena fizjoterapeutyczna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4F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64592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BFE3EE"/>
                </a:solidFill>
                <a:latin typeface="Calibri"/>
              </a:rPr>
              <a:t>OCENA WYJŚCIOWA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Diagnostyka funkcjonalna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 b="1">
                <a:solidFill>
                  <a:srgbClr val="0B4F6C"/>
                </a:solidFill>
              </a:rPr>
              <a:t>▪  Wywiad: przebieg choroby, wydzielina, duszność, aktywność, odżywienie</a:t>
            </a:r>
          </a:p>
          <a:p>
            <a:pPr>
              <a:spcAft>
                <a:spcPts val="800"/>
              </a:spcAft>
            </a:pPr>
            <a:r>
              <a:rPr sz="1900" b="1">
                <a:solidFill>
                  <a:srgbClr val="0B4F6C"/>
                </a:solidFill>
              </a:rPr>
              <a:t>▪  Badanie przedmiotowe: oglądanie, palpacja, osłuchiwanie, postawa</a:t>
            </a:r>
          </a:p>
          <a:p>
            <a:pPr>
              <a:spcAft>
                <a:spcPts val="800"/>
              </a:spcAft>
            </a:pPr>
            <a:r>
              <a:rPr sz="1900" b="1">
                <a:solidFill>
                  <a:srgbClr val="0B4F6C"/>
                </a:solidFill>
              </a:rPr>
              <a:t>▪  Badania czynnościowe płuc:</a:t>
            </a:r>
          </a:p>
          <a:p>
            <a:pPr lvl="1">
              <a:spcAft>
                <a:spcPts val="800"/>
              </a:spcAft>
            </a:pPr>
            <a:r>
              <a:rPr sz="1600">
                <a:solidFill>
                  <a:srgbClr val="222B33"/>
                </a:solidFill>
              </a:rPr>
              <a:t>–  spirometria (FEV1, FVC, FEV1/FVC), pletyzmografia, pulsoksymetria</a:t>
            </a:r>
          </a:p>
          <a:p>
            <a:pPr>
              <a:spcAft>
                <a:spcPts val="800"/>
              </a:spcAft>
            </a:pPr>
            <a:r>
              <a:rPr sz="1900" b="1">
                <a:solidFill>
                  <a:srgbClr val="0B4F6C"/>
                </a:solidFill>
              </a:rPr>
              <a:t>▪  Ocena wydolności: test 6-minutowego marszu (6MWT), CPET (VO₂peak)</a:t>
            </a:r>
          </a:p>
          <a:p>
            <a:pPr>
              <a:spcAft>
                <a:spcPts val="800"/>
              </a:spcAft>
            </a:pPr>
            <a:r>
              <a:rPr sz="1900" b="1">
                <a:solidFill>
                  <a:srgbClr val="0B4F6C"/>
                </a:solidFill>
              </a:rPr>
              <a:t>▪  Skale: duszności (Borg, mMRC), jakości życia (CFQ-R)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4F6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94560"/>
            <a:ext cx="22860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0" b="1">
                <a:solidFill>
                  <a:srgbClr val="148FB5"/>
                </a:solidFill>
                <a:latin typeface="Calibri"/>
              </a:rP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26080" y="2468880"/>
            <a:ext cx="841248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Zasady planowania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4F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64592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BFE3EE"/>
                </a:solidFill>
                <a:latin typeface="Calibri"/>
              </a:rPr>
              <a:t>STRATEGIA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Etapy planowania i cele SMART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 b="1">
                <a:solidFill>
                  <a:srgbClr val="0B4F6C"/>
                </a:solidFill>
              </a:rPr>
              <a:t>▪  Etapy: analiza danych → diagnoza → cele → strategia → ramy → kryteria oceny</a:t>
            </a:r>
          </a:p>
          <a:p>
            <a:pPr>
              <a:spcAft>
                <a:spcPts val="800"/>
              </a:spcAft>
            </a:pPr>
            <a:r>
              <a:rPr sz="1900" b="1">
                <a:solidFill>
                  <a:srgbClr val="0B4F6C"/>
                </a:solidFill>
              </a:rPr>
              <a:t>▪  Cele wg reguły SMART:</a:t>
            </a:r>
          </a:p>
          <a:p>
            <a:pPr lvl="1">
              <a:spcAft>
                <a:spcPts val="800"/>
              </a:spcAft>
            </a:pPr>
            <a:r>
              <a:rPr sz="1600">
                <a:solidFill>
                  <a:srgbClr val="222B33"/>
                </a:solidFill>
              </a:rPr>
              <a:t>–  Konkretne, Mierzalne, Osiągalne, Istotne, Określone w czasie</a:t>
            </a:r>
          </a:p>
          <a:p>
            <a:pPr>
              <a:spcAft>
                <a:spcPts val="800"/>
              </a:spcAft>
            </a:pPr>
            <a:r>
              <a:rPr sz="1900" b="1">
                <a:solidFill>
                  <a:srgbClr val="0B4F6C"/>
                </a:solidFill>
              </a:rPr>
              <a:t>▪  Przykłady celów:</a:t>
            </a:r>
          </a:p>
          <a:p>
            <a:pPr lvl="1">
              <a:spcAft>
                <a:spcPts val="800"/>
              </a:spcAft>
            </a:pPr>
            <a:r>
              <a:rPr sz="1600">
                <a:solidFill>
                  <a:srgbClr val="222B33"/>
                </a:solidFill>
              </a:rPr>
              <a:t>–  krótkoterminowy: opanowanie techniki ACBT (2 tyg.)</a:t>
            </a:r>
          </a:p>
          <a:p>
            <a:pPr lvl="1">
              <a:spcAft>
                <a:spcPts val="800"/>
              </a:spcAft>
            </a:pPr>
            <a:r>
              <a:rPr sz="1600">
                <a:solidFill>
                  <a:srgbClr val="222B33"/>
                </a:solidFill>
              </a:rPr>
              <a:t>–  średnioterminowy: wzrost dystansu 6MWT (8–12 tyg.)</a:t>
            </a:r>
          </a:p>
          <a:p>
            <a:pPr lvl="1">
              <a:spcAft>
                <a:spcPts val="800"/>
              </a:spcAft>
            </a:pPr>
            <a:r>
              <a:rPr sz="1600">
                <a:solidFill>
                  <a:srgbClr val="222B33"/>
                </a:solidFill>
              </a:rPr>
              <a:t>–  długoterminowy: stabilizacja FEV1 i aktywności fizycznej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4F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64592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BFE3EE"/>
                </a:solidFill>
                <a:latin typeface="Calibri"/>
              </a:rPr>
              <a:t>DOPASOWANIE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Indywidualizacja i priorytety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 b="1">
                <a:solidFill>
                  <a:srgbClr val="0B4F6C"/>
                </a:solidFill>
              </a:rPr>
              <a:t>▪  Dostosowanie do wieku i fazy choroby</a:t>
            </a:r>
          </a:p>
          <a:p>
            <a:pPr>
              <a:spcAft>
                <a:spcPts val="800"/>
              </a:spcAft>
            </a:pPr>
            <a:r>
              <a:rPr sz="1900" b="1">
                <a:solidFill>
                  <a:srgbClr val="0B4F6C"/>
                </a:solidFill>
              </a:rPr>
              <a:t>▪  Uwzględnienie chorób współistniejących (CFRD, osteoporoza)</a:t>
            </a:r>
          </a:p>
          <a:p>
            <a:pPr>
              <a:spcAft>
                <a:spcPts val="800"/>
              </a:spcAft>
            </a:pPr>
            <a:r>
              <a:rPr sz="1900" b="1">
                <a:solidFill>
                  <a:srgbClr val="0B4F6C"/>
                </a:solidFill>
              </a:rPr>
              <a:t>▪  Preferencje i styl życia → przestrzeganie zaleceń (compliance)</a:t>
            </a:r>
          </a:p>
          <a:p>
            <a:pPr>
              <a:spcAft>
                <a:spcPts val="800"/>
              </a:spcAft>
            </a:pPr>
            <a:r>
              <a:rPr sz="1900" b="1">
                <a:solidFill>
                  <a:srgbClr val="0B4F6C"/>
                </a:solidFill>
              </a:rPr>
              <a:t>▪  Hierarchizacja priorytetów:</a:t>
            </a:r>
          </a:p>
          <a:p>
            <a:pPr lvl="1">
              <a:spcAft>
                <a:spcPts val="800"/>
              </a:spcAft>
            </a:pPr>
            <a:r>
              <a:rPr sz="1600">
                <a:solidFill>
                  <a:srgbClr val="222B33"/>
                </a:solidFill>
              </a:rPr>
              <a:t>–  zaostrzenie → intensywne oczyszczanie oskrzeli</a:t>
            </a:r>
          </a:p>
          <a:p>
            <a:pPr lvl="1">
              <a:spcAft>
                <a:spcPts val="800"/>
              </a:spcAft>
            </a:pPr>
            <a:r>
              <a:rPr sz="1600">
                <a:solidFill>
                  <a:srgbClr val="222B33"/>
                </a:solidFill>
              </a:rPr>
              <a:t>–  okres stabilny → wydolność, trening, profilaktyka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4F6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94560"/>
            <a:ext cx="22860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0" b="1">
                <a:solidFill>
                  <a:srgbClr val="148FB5"/>
                </a:solidFill>
                <a:latin typeface="Calibri"/>
              </a:rPr>
              <a:t>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26080" y="2468880"/>
            <a:ext cx="841248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Programowanie – metody i techniki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4F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64592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BFE3EE"/>
                </a:solidFill>
                <a:latin typeface="Calibri"/>
              </a:rPr>
              <a:t>FILAR TERAPII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Techniki oczyszczania oskrzeli (ACT)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 b="1">
                <a:solidFill>
                  <a:srgbClr val="0B4F6C"/>
                </a:solidFill>
              </a:rPr>
              <a:t>▪  Cykl aktywnego oddychania (ACBT) – kontrola, rozprężanie, huffing</a:t>
            </a:r>
          </a:p>
          <a:p>
            <a:pPr>
              <a:spcAft>
                <a:spcPts val="800"/>
              </a:spcAft>
            </a:pPr>
            <a:r>
              <a:rPr sz="1900" b="1">
                <a:solidFill>
                  <a:srgbClr val="0B4F6C"/>
                </a:solidFill>
              </a:rPr>
              <a:t>▪  Drenaż autogeniczny (AD)</a:t>
            </a:r>
          </a:p>
          <a:p>
            <a:pPr>
              <a:spcAft>
                <a:spcPts val="800"/>
              </a:spcAft>
            </a:pPr>
            <a:r>
              <a:rPr sz="1900" b="1">
                <a:solidFill>
                  <a:srgbClr val="0B4F6C"/>
                </a:solidFill>
              </a:rPr>
              <a:t>▪  Urządzenia PEP (dodatnie ciśnienie wydechowe)</a:t>
            </a:r>
          </a:p>
          <a:p>
            <a:pPr>
              <a:spcAft>
                <a:spcPts val="800"/>
              </a:spcAft>
            </a:pPr>
            <a:r>
              <a:rPr sz="1900" b="1">
                <a:solidFill>
                  <a:srgbClr val="0B4F6C"/>
                </a:solidFill>
              </a:rPr>
              <a:t>▪  Oscylacyjne PEP – Flutter, Acapella, RC-Cornet</a:t>
            </a:r>
          </a:p>
          <a:p>
            <a:pPr>
              <a:spcAft>
                <a:spcPts val="800"/>
              </a:spcAft>
            </a:pPr>
            <a:r>
              <a:rPr sz="1900" b="1">
                <a:solidFill>
                  <a:srgbClr val="0B4F6C"/>
                </a:solidFill>
              </a:rPr>
              <a:t>▪  Drenaż ułożeniowy, oklepywanie, wibracje (ostrożnie)</a:t>
            </a:r>
          </a:p>
          <a:p>
            <a:pPr>
              <a:spcAft>
                <a:spcPts val="800"/>
              </a:spcAft>
            </a:pPr>
            <a:r>
              <a:rPr sz="1900" b="1">
                <a:solidFill>
                  <a:srgbClr val="0B4F6C"/>
                </a:solidFill>
              </a:rPr>
              <a:t>▪  HFCWO – kamizelka oscylacyjna</a:t>
            </a:r>
          </a:p>
          <a:p>
            <a:pPr lvl="1">
              <a:spcAft>
                <a:spcPts val="800"/>
              </a:spcAft>
            </a:pPr>
            <a:r>
              <a:rPr sz="1600">
                <a:solidFill>
                  <a:srgbClr val="222B33"/>
                </a:solidFill>
              </a:rPr>
              <a:t>–  1–3× dziennie, sesje ok. 15–30 min; brak jednej „najlepszej” techniki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4F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64592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BFE3EE"/>
                </a:solidFill>
                <a:latin typeface="Calibri"/>
              </a:rPr>
              <a:t>WYDOLNOŚĆ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Trening fizyczny – schemat FITT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 b="1">
                <a:solidFill>
                  <a:srgbClr val="0B4F6C"/>
                </a:solidFill>
              </a:rPr>
              <a:t>▪  Wyższa wydolność tlenowa → lepsze rokowanie</a:t>
            </a:r>
          </a:p>
          <a:p>
            <a:pPr>
              <a:spcAft>
                <a:spcPts val="800"/>
              </a:spcAft>
            </a:pPr>
            <a:r>
              <a:rPr sz="1900" b="1">
                <a:solidFill>
                  <a:srgbClr val="0B4F6C"/>
                </a:solidFill>
              </a:rPr>
              <a:t>▪  Rodzaje: wytrzymałościowy (aerobowy), oporowy, gibkościowy</a:t>
            </a:r>
          </a:p>
          <a:p>
            <a:pPr>
              <a:spcAft>
                <a:spcPts val="800"/>
              </a:spcAft>
            </a:pPr>
            <a:r>
              <a:rPr sz="1900" b="1">
                <a:solidFill>
                  <a:srgbClr val="0B4F6C"/>
                </a:solidFill>
              </a:rPr>
              <a:t>▪  F – częstotliwość: aktywność w większości dni, trening 3–5×/tydz.</a:t>
            </a:r>
          </a:p>
          <a:p>
            <a:pPr>
              <a:spcAft>
                <a:spcPts val="800"/>
              </a:spcAft>
            </a:pPr>
            <a:r>
              <a:rPr sz="1900" b="1">
                <a:solidFill>
                  <a:srgbClr val="0B4F6C"/>
                </a:solidFill>
              </a:rPr>
              <a:t>▪  I – intensywność: indywidualnie (tętno, SpO₂, skala Borga)</a:t>
            </a:r>
          </a:p>
          <a:p>
            <a:pPr>
              <a:spcAft>
                <a:spcPts val="800"/>
              </a:spcAft>
            </a:pPr>
            <a:r>
              <a:rPr sz="1900" b="1">
                <a:solidFill>
                  <a:srgbClr val="0B4F6C"/>
                </a:solidFill>
              </a:rPr>
              <a:t>▪  T – czas: ok. 20–40 min</a:t>
            </a:r>
          </a:p>
          <a:p>
            <a:pPr>
              <a:spcAft>
                <a:spcPts val="800"/>
              </a:spcAft>
            </a:pPr>
            <a:r>
              <a:rPr sz="1900" b="1">
                <a:solidFill>
                  <a:srgbClr val="0B4F6C"/>
                </a:solidFill>
              </a:rPr>
              <a:t>▪  T – rodzaj: połączenie treningu aerobowego i oporowego</a:t>
            </a:r>
          </a:p>
          <a:p>
            <a:pPr lvl="1">
              <a:spcAft>
                <a:spcPts val="800"/>
              </a:spcAft>
            </a:pPr>
            <a:r>
              <a:rPr sz="1600">
                <a:solidFill>
                  <a:srgbClr val="222B33"/>
                </a:solidFill>
              </a:rPr>
              <a:t>–  monitoring SpO₂/tętna, nawodnienie i suplementacja soli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4F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64592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BFE3EE"/>
                </a:solidFill>
                <a:latin typeface="Calibri"/>
              </a:rPr>
              <a:t>WSPARCIE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Terapia wziewna i edukacja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 b="1">
                <a:solidFill>
                  <a:srgbClr val="0B4F6C"/>
                </a:solidFill>
              </a:rPr>
              <a:t>▪  Inhalacje wspierają oczyszczanie oskrzeli</a:t>
            </a:r>
          </a:p>
          <a:p>
            <a:pPr>
              <a:spcAft>
                <a:spcPts val="800"/>
              </a:spcAft>
            </a:pPr>
            <a:r>
              <a:rPr sz="1900" b="1">
                <a:solidFill>
                  <a:srgbClr val="0B4F6C"/>
                </a:solidFill>
              </a:rPr>
              <a:t>▪  Właściwa sekwencja:</a:t>
            </a:r>
          </a:p>
          <a:p>
            <a:pPr lvl="1">
              <a:spcAft>
                <a:spcPts val="800"/>
              </a:spcAft>
            </a:pPr>
            <a:r>
              <a:rPr sz="1600">
                <a:solidFill>
                  <a:srgbClr val="222B33"/>
                </a:solidFill>
              </a:rPr>
              <a:t>–  lek rozszerzający oskrzela → mukolityk/sól hipertoniczna →</a:t>
            </a:r>
          </a:p>
          <a:p>
            <a:pPr lvl="1">
              <a:spcAft>
                <a:spcPts val="800"/>
              </a:spcAft>
            </a:pPr>
            <a:r>
              <a:rPr sz="1600">
                <a:solidFill>
                  <a:srgbClr val="222B33"/>
                </a:solidFill>
              </a:rPr>
              <a:t>–  techniki oczyszczania → antybiotyk wziewny (jeśli zlecony)</a:t>
            </a:r>
          </a:p>
          <a:p>
            <a:pPr>
              <a:spcAft>
                <a:spcPts val="800"/>
              </a:spcAft>
            </a:pPr>
            <a:r>
              <a:rPr sz="1900" b="1">
                <a:solidFill>
                  <a:srgbClr val="0B4F6C"/>
                </a:solidFill>
              </a:rPr>
              <a:t>▪  Edukacja pacjenta i rodziny: technika, obsługa sprzętu, higiena</a:t>
            </a:r>
          </a:p>
          <a:p>
            <a:pPr>
              <a:spcAft>
                <a:spcPts val="800"/>
              </a:spcAft>
            </a:pPr>
            <a:r>
              <a:rPr sz="1900" b="1">
                <a:solidFill>
                  <a:srgbClr val="0B4F6C"/>
                </a:solidFill>
              </a:rPr>
              <a:t>▪  Budowanie motywacji i nawyku codziennej terapii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4F6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94560"/>
            <a:ext cx="22860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0" b="1">
                <a:solidFill>
                  <a:srgbClr val="148FB5"/>
                </a:solidFill>
                <a:latin typeface="Calibri"/>
              </a:rPr>
              <a:t>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26080" y="2468880"/>
            <a:ext cx="841248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Wiek i stan kliniczny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4F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64592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BFE3EE"/>
                </a:solidFill>
                <a:latin typeface="Calibri"/>
              </a:rPr>
              <a:t>PERSONALIZACJA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Dostosowanie programu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 b="1">
                <a:solidFill>
                  <a:srgbClr val="0B4F6C"/>
                </a:solidFill>
              </a:rPr>
              <a:t>▪  Niemowlęta/małe dzieci: techniki bierne, zabawa, edukacja rodziców</a:t>
            </a:r>
          </a:p>
          <a:p>
            <a:pPr>
              <a:spcAft>
                <a:spcPts val="800"/>
              </a:spcAft>
            </a:pPr>
            <a:r>
              <a:rPr sz="1900" b="1">
                <a:solidFill>
                  <a:srgbClr val="0B4F6C"/>
                </a:solidFill>
              </a:rPr>
              <a:t>▪  Dzieci starsze/młodzież: ACBT, AD, PEP/OPEP, sport, samodzielność</a:t>
            </a:r>
          </a:p>
          <a:p>
            <a:pPr>
              <a:spcAft>
                <a:spcPts val="800"/>
              </a:spcAft>
            </a:pPr>
            <a:r>
              <a:rPr sz="1900" b="1">
                <a:solidFill>
                  <a:srgbClr val="0B4F6C"/>
                </a:solidFill>
              </a:rPr>
              <a:t>▪  Dorośli: samodzielna terapia, wydolność, zarządzanie chorobą</a:t>
            </a:r>
          </a:p>
          <a:p>
            <a:pPr>
              <a:spcAft>
                <a:spcPts val="800"/>
              </a:spcAft>
            </a:pPr>
            <a:r>
              <a:rPr sz="1900" b="1">
                <a:solidFill>
                  <a:srgbClr val="0B4F6C"/>
                </a:solidFill>
              </a:rPr>
              <a:t>▪  Okres stabilny: utrzymanie funkcji płuc i wydolności</a:t>
            </a:r>
          </a:p>
          <a:p>
            <a:pPr>
              <a:spcAft>
                <a:spcPts val="800"/>
              </a:spcAft>
            </a:pPr>
            <a:r>
              <a:rPr sz="1900" b="1">
                <a:solidFill>
                  <a:srgbClr val="0B4F6C"/>
                </a:solidFill>
              </a:rPr>
              <a:t>▪  Zaostrzenie: intensyfikacja oczyszczania, łagodny trening</a:t>
            </a:r>
          </a:p>
          <a:p>
            <a:pPr>
              <a:spcAft>
                <a:spcPts val="800"/>
              </a:spcAft>
            </a:pPr>
            <a:r>
              <a:rPr sz="1900" b="1">
                <a:solidFill>
                  <a:srgbClr val="0B4F6C"/>
                </a:solidFill>
              </a:rPr>
              <a:t>▪  Choroba zaawansowana: tlenoterapia, NIV, prehabilitacja, opieka paliatywna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4F6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94560"/>
            <a:ext cx="22860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0" b="1">
                <a:solidFill>
                  <a:srgbClr val="148FB5"/>
                </a:solidFill>
                <a:latin typeface="Calibri"/>
              </a:rPr>
              <a:t>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26080" y="2468880"/>
            <a:ext cx="841248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Monitorowanie i bezpieczeństwo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4F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64592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BFE3EE"/>
                </a:solidFill>
                <a:latin typeface="Calibri"/>
              </a:rPr>
              <a:t>WERYFIKACJA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Monitorowanie efektów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 b="1">
                <a:solidFill>
                  <a:srgbClr val="0B4F6C"/>
                </a:solidFill>
              </a:rPr>
              <a:t>▪  Spirometria (FEV1, FVC) – progresja choroby</a:t>
            </a:r>
          </a:p>
          <a:p>
            <a:pPr>
              <a:spcAft>
                <a:spcPts val="800"/>
              </a:spcAft>
            </a:pPr>
            <a:r>
              <a:rPr sz="1900" b="1">
                <a:solidFill>
                  <a:srgbClr val="0B4F6C"/>
                </a:solidFill>
              </a:rPr>
              <a:t>▪  Testy wydolnościowe (6MWT, CPET)</a:t>
            </a:r>
          </a:p>
          <a:p>
            <a:pPr>
              <a:spcAft>
                <a:spcPts val="800"/>
              </a:spcAft>
            </a:pPr>
            <a:r>
              <a:rPr sz="1900" b="1">
                <a:solidFill>
                  <a:srgbClr val="0B4F6C"/>
                </a:solidFill>
              </a:rPr>
              <a:t>▪  Ocena objawów: kaszel, wydzielina, duszność, SpO₂</a:t>
            </a:r>
          </a:p>
          <a:p>
            <a:pPr>
              <a:spcAft>
                <a:spcPts val="800"/>
              </a:spcAft>
            </a:pPr>
            <a:r>
              <a:rPr sz="1900" b="1">
                <a:solidFill>
                  <a:srgbClr val="0B4F6C"/>
                </a:solidFill>
              </a:rPr>
              <a:t>▪  Kwestionariusze jakości życia (CFQ-R)</a:t>
            </a:r>
          </a:p>
          <a:p>
            <a:pPr>
              <a:spcAft>
                <a:spcPts val="800"/>
              </a:spcAft>
            </a:pPr>
            <a:r>
              <a:rPr sz="1900" b="1">
                <a:solidFill>
                  <a:srgbClr val="0B4F6C"/>
                </a:solidFill>
              </a:rPr>
              <a:t>▪  Ocena przestrzegania zaleceń i stanu odżywienia</a:t>
            </a:r>
          </a:p>
          <a:p>
            <a:pPr lvl="1">
              <a:spcAft>
                <a:spcPts val="800"/>
              </a:spcAft>
            </a:pPr>
            <a:r>
              <a:rPr sz="1600">
                <a:solidFill>
                  <a:srgbClr val="222B33"/>
                </a:solidFill>
              </a:rPr>
              <a:t>–  wyniki → modyfikacja technik, obciążeń i celów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4F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64592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BFE3EE"/>
                </a:solidFill>
                <a:latin typeface="Calibri"/>
              </a:rPr>
              <a:t>RYZYKO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Bezpieczeństwo i kontrola zakażeń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 b="1">
                <a:solidFill>
                  <a:srgbClr val="0B4F6C"/>
                </a:solidFill>
              </a:rPr>
              <a:t>▪  Ostrożność / przeciwwskazania:</a:t>
            </a:r>
          </a:p>
          <a:p>
            <a:pPr lvl="1">
              <a:spcAft>
                <a:spcPts val="800"/>
              </a:spcAft>
            </a:pPr>
            <a:r>
              <a:rPr sz="1600">
                <a:solidFill>
                  <a:srgbClr val="222B33"/>
                </a:solidFill>
              </a:rPr>
              <a:t>–  krwioplucie, odma opłucnowa, refluks, hipoksemia, osteoporoza</a:t>
            </a:r>
          </a:p>
          <a:p>
            <a:pPr>
              <a:spcAft>
                <a:spcPts val="800"/>
              </a:spcAft>
            </a:pPr>
            <a:r>
              <a:rPr sz="1900" b="1">
                <a:solidFill>
                  <a:srgbClr val="0B4F6C"/>
                </a:solidFill>
              </a:rPr>
              <a:t>▪  Kontrola zakażeń krzyżowych (P. aeruginosa, B. cepacia):</a:t>
            </a:r>
          </a:p>
          <a:p>
            <a:pPr lvl="1">
              <a:spcAft>
                <a:spcPts val="800"/>
              </a:spcAft>
            </a:pPr>
            <a:r>
              <a:rPr sz="1600">
                <a:solidFill>
                  <a:srgbClr val="222B33"/>
                </a:solidFill>
              </a:rPr>
              <a:t>–  segregacja pacjentów, higiena rąk</a:t>
            </a:r>
          </a:p>
          <a:p>
            <a:pPr lvl="1">
              <a:spcAft>
                <a:spcPts val="800"/>
              </a:spcAft>
            </a:pPr>
            <a:r>
              <a:rPr sz="1600">
                <a:solidFill>
                  <a:srgbClr val="222B33"/>
                </a:solidFill>
              </a:rPr>
              <a:t>–  dezynfekcja i indywidualizacja sprzętu</a:t>
            </a:r>
          </a:p>
          <a:p>
            <a:pPr lvl="1">
              <a:spcAft>
                <a:spcPts val="800"/>
              </a:spcAft>
            </a:pPr>
            <a:r>
              <a:rPr sz="1600">
                <a:solidFill>
                  <a:srgbClr val="222B33"/>
                </a:solidFill>
              </a:rPr>
              <a:t>–  terapia indywidualna, telerehabilitacja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4F6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94560"/>
            <a:ext cx="22860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0" b="1">
                <a:solidFill>
                  <a:srgbClr val="148FB5"/>
                </a:solidFill>
                <a:latin typeface="Calibri"/>
              </a:rPr>
              <a:t>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926080" y="2468880"/>
            <a:ext cx="841248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Podsumowanie i wnioski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4F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64592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BFE3EE"/>
                </a:solidFill>
                <a:latin typeface="Calibri"/>
              </a:rPr>
              <a:t>KLUCZOWE PRZESŁANIA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84048"/>
            <a:ext cx="1097280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Wnioski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7899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 b="1">
                <a:solidFill>
                  <a:srgbClr val="0B4F6C"/>
                </a:solidFill>
              </a:rPr>
              <a:t>▪  Fizjoterapia to nieodłączny, dożywotni element leczenia mukowiscydozy</a:t>
            </a:r>
          </a:p>
          <a:p>
            <a:pPr>
              <a:spcAft>
                <a:spcPts val="800"/>
              </a:spcAft>
            </a:pPr>
            <a:r>
              <a:rPr sz="1900" b="1">
                <a:solidFill>
                  <a:srgbClr val="0B4F6C"/>
                </a:solidFill>
              </a:rPr>
              <a:t>▪  Proces: ocena → planowanie → programowanie → realizacja → monitorowanie</a:t>
            </a:r>
          </a:p>
          <a:p>
            <a:pPr>
              <a:spcAft>
                <a:spcPts val="800"/>
              </a:spcAft>
            </a:pPr>
            <a:r>
              <a:rPr sz="1900" b="1">
                <a:solidFill>
                  <a:srgbClr val="0B4F6C"/>
                </a:solidFill>
              </a:rPr>
              <a:t>▪  Fundament: techniki oczyszczania oskrzeli + regularny trening fizyczny</a:t>
            </a:r>
          </a:p>
          <a:p>
            <a:pPr>
              <a:spcAft>
                <a:spcPts val="800"/>
              </a:spcAft>
            </a:pPr>
            <a:r>
              <a:rPr sz="1900" b="1">
                <a:solidFill>
                  <a:srgbClr val="0B4F6C"/>
                </a:solidFill>
              </a:rPr>
              <a:t>▪  Kluczowe: indywidualizacja, systematyczność, wczesne rozpoczęcie</a:t>
            </a:r>
          </a:p>
          <a:p>
            <a:pPr>
              <a:spcAft>
                <a:spcPts val="800"/>
              </a:spcAft>
            </a:pPr>
            <a:r>
              <a:rPr sz="1900" b="1">
                <a:solidFill>
                  <a:srgbClr val="0B4F6C"/>
                </a:solidFill>
              </a:rPr>
              <a:t>▪  Program elastycznie dostosowany do wieku i fazy choroby</a:t>
            </a:r>
          </a:p>
          <a:p>
            <a:pPr>
              <a:spcAft>
                <a:spcPts val="800"/>
              </a:spcAft>
            </a:pPr>
            <a:r>
              <a:rPr sz="1900" b="1">
                <a:solidFill>
                  <a:srgbClr val="0B4F6C"/>
                </a:solidFill>
              </a:rPr>
              <a:t>▪  Efekt: spowolnienie progresji choroby płuc i poprawa jakości życia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4F6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651760"/>
            <a:ext cx="1033272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Calibri"/>
              </a:rPr>
              <a:t>Dziękuję za uwagę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10332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0">
                <a:solidFill>
                  <a:srgbClr val="CFEAF2"/>
                </a:solidFill>
                <a:latin typeface="Calibri"/>
              </a:rPr>
              <a:t>Pytania i dyskusja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